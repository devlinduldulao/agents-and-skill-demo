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37514" autoAdjust="0"/>
  </p:normalViewPr>
  <p:slideViewPr>
    <p:cSldViewPr snapToGrid="0" snapToObjects="1">
      <p:cViewPr varScale="1">
        <p:scale>
          <a:sx n="35" d="100"/>
          <a:sy n="35" d="100"/>
        </p:scale>
        <p:origin x="2482"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5940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Thank you for coming. Today we learn the Agent to Agent protocol. People also say A2A. It is not a product you buy from one vendor. It is a shared set of rules so one AI agent can work with another AI agent.
Look at the five boxes at the bottom. That is the whole story of a call. Find the other agent. Log in. Send the job. Let it work. Take the result. We will come back to this path many times.
Why does this matter now? Many teams already have an agent. The next problem is not one more model. The next problem is: how does my agent ask your agent for help when I cannot see your code, your tools, or your data? A2A is the answer we will study.
I will speak in simple words. If a word on the slide is new, I will explain it when we get there. Please save questions for the end of each part, or write them down.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map of the hour. First I will say what A2A is, and I will also say what it is not, because people mix it with tools and with chat products.
Second, the problem. I will use a trip example. A user asks one assistant to plan a trip. That job needs other agents that the assistant does not own.
Third, benefits and when to use it. A2A is not for every job. If you only need your own database, you do not need A2A.
Fourth, the pieces: Agent Card, task, message, result. Then the five step path.
Fifth, MCP. MCP is for tools inside your company. A2A is for agents you do not run.
Sixth, login and permission. This part matters because the other agent often belongs to another company.
Seventh, what you can do this week. A card, a trusted list, one sample call.
If we run short on time, we will not skip the path slide or the login slide.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Please say the name with me: Agent to Agent. A2A.
It is an open standard. Google published it in 2025. Many companies joined. The work now sits with the Linux Foundation, so it is not only a Google tool.
Look at the four boxes. One, find. You read a small public file called an Agent Card. That file says who the agent is, what it can do, where to send work, and how to log in.
Two, talk. The talk uses normal web technology. HTTP. JSON-RPC. Live updates if the job is long. Your team already knows these. A2A does not invent a new private cable.
Three, do the job. The unit of work is a task. A task has an id and a status. It can finish in one second or run for hours.
Four, stay private. The other agent is a black box. You get the result. You do not get their prompts, their tool list, or their customer database.
What A2A is not: it is not ChatGPT. It is not a model. It is not MCP. MCP is how a model uses tools. A2A is how one agent talks to another agent.
You can build the agent with LangGraph, CrewAI, Google ADK, or your own code. A2A does not care, as long as both sides follow the same rules.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problem. The yellow box is your assistant. The user asked it to plan a trip. The assistant is good at talk, but it does not own flights, hotels, currency, or local tickets.
Those four specialists live in other companies. They use other software. They have other rules. Today, with no shared standard, your team would build four private connections. Next year a fifth vendor appears, and you build again.
Three extra problems hide here.
First, people wrap an agent as a simple tool. A tool returns a number and stops. A real agent may need to ask: which dates? what budget? A tool cannot do that well.
Second, custom links often skip login, or they put a password inside the message body. That is how leaks start.
Third, there is no common job ticket. When something fails, your log and their log do not share an id. Nobody can find the same call.
A2A exists to give those four boxes one shared path up to the assistant.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benefits. I will give one sentence for each.
Work across teams. Your flight agent and their hotel agent do not need the same programming language.
Less glue code. Without A2A, every new partner is a new project. With A2A, the partner publishes a card and you already know how to call it.
Long jobs are normal. Booking a trip is not one click. A2A can stream status: still searching, need your passport number, done.
Many kinds of content. Not only chat text. A form. A PDF. A table.
Inner work stays home. This is a business benefit and a safety benefit. You do not hand over your secret process.
Same safety steps. Your security team learns one pattern. They do not review a new private API every month.
If a leader in the room asks for one line: A2A lets us work with agents we do not own, without opening our system.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Green is yes. Peach is no. Please remember both.
Use A2A when the other agent does not live in your process. That includes another team in your company if they refuse to share their runtime. It also includes a vendor.
Do not use A2A when you only need Postgres, a file folder, or a calculator you already run. That is MCP. MCP is closer, simpler, and should stay inside your network.
Good places: an order that needs pricing, legal, and shipping. A trip. Two hospitals that must pass one record. Or an inside specialist that must stay locked, for example a tax engine that may not leave a secure room.
You can use MCP and A2A together. MCP under your agent. A2A between agents.
A common mistake: wrapping a foreign agent as a local MCP tool. That hides login and pulls too much context across the company line. Do not do that.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should stay in your head after the talk.
Yellow is data. It never crosses by default.
Green is MCP. That is how an agent uses tools next to its own data. Each company has its own MCP layer. There is no arrow between the green boxes.
Purple is A2A. That is the only layer that crosses the company line. Your agent sends a job. Their agent sends a result.
If someone says we already have MCP so we do not need A2A, show this slide. MCP does not solve the crossing. A2A does not replace MCP. They stack.
The crossing is also why login belongs in A2A. You are leaving your wall.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pieces on the top row. Please learn these names.
Agent Card. A JSON file, often at slash dot well-known slash agent-card.json. It is a name tag and a shop sign. It lists skills and the login method. Do not put passwords in this file.
Task. One unit of work. It has an id both companies can write in their logs. That id is how you debug later.
Message. One turn. Role is user or agent. Inside a message you can put text, a file, or structured data.
Result. The docs also say artifact. I will say result. It is the thing you wanted: a booked plan, a report, a table.
Bottom row: life of a task. Submitted means they accepted the job. Working means they are busy. Needs input is important. That is how the other agent asks a question instead of guessing. Done means you can take the result. Failed means stop and read the error. There is also canceled, if someone stops the job.
A very short answer can be only a message, with no task. A long job should always be a task so you can follow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path. I will walk it slowly.
Step one, find. Your agent loads the Agent Card from a known web path, or from a private list your company keeps.
Step two, log in. The card says how. Maybe OpenID. Maybe a bearer token. Maybe an API key. You get that proof from a login server, not from the card file. You send the proof in the HTTP header, not inside the job text.
Step three, check rights. A valid login is not a free pass. Their server asks: may this caller start this skill? Read a price is not the same as pay a bill. If the answer is no, you get 401 or 403. Stop. Do not send the job.
Step four, send work. You send a message. If the work is long, they create a task and you follow the task id.
Step five, get the result. Status becomes done. You take the output. You do not take their inner steps.
You can wait in three ways. One reply if the job is fast. Live updates if you keep a connection open. A later notice to a web address you give them, if you cannot stay connected.
Three roles. The user sets the goal. Your agent is the client. Their agent is the server. Tomorrow the roles can flip. Then you must check their token the same way.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is you. Peach is them. Purple in the middle is A2A.
This is the hard case, and it is the case A2A was built for. You cannot review their source. You cannot join their user directory. You should not copy their tools into your agent.
So the protocol must do three things that a random private API often forgets.
One, a standard way to prove who is calling.
Two, a standard way for the owner to say this caller may start this skill, but not that skill.
Three, a narrow path. Only the job and the result cross. Prompts, tool lists, and raw customer stores stay home.
If your partner cannot meet those three, do not connect. A2A does not replace your login system. It tells both agents how to use the login system you already have.
Think of it as a shop door both companies agree on, not as a hole in the wall.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the safety path. I will say it in four short lines.
Read the card. The card lists the method: OpenID, OAuth, bearer token, or API key.
Get a token from the login server named on the card. Out of band. Never store that secret in the card itself.
Put the token in the HTTP header. The job message should not carry the password. If the server says 401 or 403, stop.
Check the skill. This is permission. Finding the card is like seeing a shop sign. It is not the same as opening the cash box. Least privilege: allow read, block pay, unless the token says pay is allowed.
Bottom row. Green is what may cross. Pink is what must stay. Treat messages and results as private data. Share as little as you need.
Your company should also keep a private list of approved partner cards. Do not call every agent on the public internet just because you found a card.
Use HTTPS. Check certificates. This is normal web safety. A2A uses it on purpose so enterprise teams do not learn a new lock.</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actions you can take without boiling the ocean.
One. Publish a card. Put a real login method on it. A sample card that allows anyone is fine on a laptop. It is not fine in production.
Two. Make a private list of partners. Security and legal should help choose names. That list is your allow list.
Three. Keep Okta, Azure AD, Auth0, or whatever you use. A2A only says how to present the token.
Four. Run an official sample in Python or JavaScript. Fetch the card with a simple GET. Send one message. Then turn on live updates so you feel a long job.
Five. First skill should be read only. A quote. A search. Not a payment. Add write skills after the path is proven.
Six. Read the docs. agent2agent.info. Also read the enterprise ready page for HTTPS, headers, 401 and 403, and job ids in logs.
If you do only two things after this talk, do the card and the first sample call.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leave you with four sentences.
A2A is a shared language for agents, not a new model and not a tool protocol.
Use it when the other agent lives outside your process.
The path is find, log in, check rights, send the job, take the result.
You will not see how the other company built their agent. That is why the job and the result cross, and the inner system does not.
The site is agent2agent.info. I am happy to take questions. If you have a real partner in mind, we can sketch their card and first skill on paper before we leave.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2920" y="5074920"/>
            <a:ext cx="2176272" cy="685800"/>
          </a:xfrm>
          <a:prstGeom prst="roundRect">
            <a:avLst>
              <a:gd name="adj" fmla="val 10667"/>
            </a:avLst>
          </a:prstGeom>
          <a:solidFill>
            <a:srgbClr val="C5DDF0"/>
          </a:solidFill>
          <a:ln/>
        </p:spPr>
        <p:txBody>
          <a:bodyPr/>
          <a:lstStyle/>
          <a:p>
            <a:endParaRPr lang="en-GB"/>
          </a:p>
        </p:txBody>
      </p:sp>
      <p:sp>
        <p:nvSpPr>
          <p:cNvPr id="3" name="Text 1"/>
          <p:cNvSpPr/>
          <p:nvPr/>
        </p:nvSpPr>
        <p:spPr>
          <a:xfrm>
            <a:off x="502920" y="5074920"/>
            <a:ext cx="2176272" cy="685800"/>
          </a:xfrm>
          <a:prstGeom prst="rect">
            <a:avLst/>
          </a:prstGeom>
          <a:noFill/>
          <a:ln/>
        </p:spPr>
        <p:txBody>
          <a:bodyPr wrap="square" lIns="0" tIns="0" rIns="0" bIns="0" rtlCol="0" anchor="ctr"/>
          <a:lstStyle/>
          <a:p>
            <a:pPr marL="0" indent="0" algn="ctr">
              <a:buNone/>
            </a:pPr>
            <a:r>
              <a:rPr lang="en-US" sz="1800" dirty="0">
                <a:solidFill>
                  <a:srgbClr val="2C2C2C"/>
                </a:solidFill>
                <a:latin typeface="Calibri" pitchFamily="34" charset="0"/>
                <a:ea typeface="Calibri" pitchFamily="34" charset="-122"/>
                <a:cs typeface="Calibri" pitchFamily="34" charset="-120"/>
              </a:rPr>
              <a:t>Find</a:t>
            </a:r>
            <a:endParaRPr lang="en-US" sz="1800" dirty="0"/>
          </a:p>
        </p:txBody>
      </p:sp>
      <p:sp>
        <p:nvSpPr>
          <p:cNvPr id="4" name="Shape 2"/>
          <p:cNvSpPr/>
          <p:nvPr/>
        </p:nvSpPr>
        <p:spPr>
          <a:xfrm>
            <a:off x="2807208" y="5074920"/>
            <a:ext cx="2176272" cy="685800"/>
          </a:xfrm>
          <a:prstGeom prst="roundRect">
            <a:avLst>
              <a:gd name="adj" fmla="val 10667"/>
            </a:avLst>
          </a:prstGeom>
          <a:solidFill>
            <a:srgbClr val="C9E6D0"/>
          </a:solidFill>
          <a:ln/>
        </p:spPr>
        <p:txBody>
          <a:bodyPr/>
          <a:lstStyle/>
          <a:p>
            <a:endParaRPr lang="en-GB"/>
          </a:p>
        </p:txBody>
      </p:sp>
      <p:sp>
        <p:nvSpPr>
          <p:cNvPr id="5" name="Text 3"/>
          <p:cNvSpPr/>
          <p:nvPr/>
        </p:nvSpPr>
        <p:spPr>
          <a:xfrm>
            <a:off x="2807208" y="5074920"/>
            <a:ext cx="2176272" cy="685800"/>
          </a:xfrm>
          <a:prstGeom prst="rect">
            <a:avLst/>
          </a:prstGeom>
          <a:noFill/>
          <a:ln/>
        </p:spPr>
        <p:txBody>
          <a:bodyPr wrap="square" lIns="0" tIns="0" rIns="0" bIns="0" rtlCol="0" anchor="ctr"/>
          <a:lstStyle/>
          <a:p>
            <a:pPr marL="0" indent="0" algn="ctr">
              <a:buNone/>
            </a:pPr>
            <a:r>
              <a:rPr lang="en-US" sz="1800" dirty="0">
                <a:solidFill>
                  <a:srgbClr val="2C2C2C"/>
                </a:solidFill>
                <a:latin typeface="Calibri" pitchFamily="34" charset="0"/>
                <a:ea typeface="Calibri" pitchFamily="34" charset="-122"/>
                <a:cs typeface="Calibri" pitchFamily="34" charset="-120"/>
              </a:rPr>
              <a:t>Log in</a:t>
            </a:r>
            <a:endParaRPr lang="en-US" sz="1800" dirty="0"/>
          </a:p>
        </p:txBody>
      </p:sp>
      <p:sp>
        <p:nvSpPr>
          <p:cNvPr id="6" name="Shape 4"/>
          <p:cNvSpPr/>
          <p:nvPr/>
        </p:nvSpPr>
        <p:spPr>
          <a:xfrm>
            <a:off x="5111496" y="5074920"/>
            <a:ext cx="2176272" cy="685800"/>
          </a:xfrm>
          <a:prstGeom prst="roundRect">
            <a:avLst>
              <a:gd name="adj" fmla="val 10667"/>
            </a:avLst>
          </a:prstGeom>
          <a:solidFill>
            <a:srgbClr val="F6D6C6"/>
          </a:solidFill>
          <a:ln/>
        </p:spPr>
        <p:txBody>
          <a:bodyPr/>
          <a:lstStyle/>
          <a:p>
            <a:endParaRPr lang="en-GB"/>
          </a:p>
        </p:txBody>
      </p:sp>
      <p:sp>
        <p:nvSpPr>
          <p:cNvPr id="7" name="Text 5"/>
          <p:cNvSpPr/>
          <p:nvPr/>
        </p:nvSpPr>
        <p:spPr>
          <a:xfrm>
            <a:off x="5111496" y="5074920"/>
            <a:ext cx="2176272" cy="685800"/>
          </a:xfrm>
          <a:prstGeom prst="rect">
            <a:avLst/>
          </a:prstGeom>
          <a:noFill/>
          <a:ln/>
        </p:spPr>
        <p:txBody>
          <a:bodyPr wrap="square" lIns="0" tIns="0" rIns="0" bIns="0" rtlCol="0" anchor="ctr"/>
          <a:lstStyle/>
          <a:p>
            <a:pPr marL="0" indent="0" algn="ctr">
              <a:buNone/>
            </a:pPr>
            <a:r>
              <a:rPr lang="en-US" sz="1800" dirty="0">
                <a:solidFill>
                  <a:srgbClr val="2C2C2C"/>
                </a:solidFill>
                <a:latin typeface="Calibri" pitchFamily="34" charset="0"/>
                <a:ea typeface="Calibri" pitchFamily="34" charset="-122"/>
                <a:cs typeface="Calibri" pitchFamily="34" charset="-120"/>
              </a:rPr>
              <a:t>Send job</a:t>
            </a:r>
            <a:endParaRPr lang="en-US" sz="1800" dirty="0"/>
          </a:p>
        </p:txBody>
      </p:sp>
      <p:sp>
        <p:nvSpPr>
          <p:cNvPr id="8" name="Shape 6"/>
          <p:cNvSpPr/>
          <p:nvPr/>
        </p:nvSpPr>
        <p:spPr>
          <a:xfrm>
            <a:off x="7415784" y="5074920"/>
            <a:ext cx="2176272" cy="685800"/>
          </a:xfrm>
          <a:prstGeom prst="roundRect">
            <a:avLst>
              <a:gd name="adj" fmla="val 10667"/>
            </a:avLst>
          </a:prstGeom>
          <a:solidFill>
            <a:srgbClr val="DDD0EE"/>
          </a:solidFill>
          <a:ln/>
        </p:spPr>
        <p:txBody>
          <a:bodyPr/>
          <a:lstStyle/>
          <a:p>
            <a:endParaRPr lang="en-GB"/>
          </a:p>
        </p:txBody>
      </p:sp>
      <p:sp>
        <p:nvSpPr>
          <p:cNvPr id="9" name="Text 7"/>
          <p:cNvSpPr/>
          <p:nvPr/>
        </p:nvSpPr>
        <p:spPr>
          <a:xfrm>
            <a:off x="7415784" y="5074920"/>
            <a:ext cx="2176272" cy="685800"/>
          </a:xfrm>
          <a:prstGeom prst="rect">
            <a:avLst/>
          </a:prstGeom>
          <a:noFill/>
          <a:ln/>
        </p:spPr>
        <p:txBody>
          <a:bodyPr wrap="square" lIns="0" tIns="0" rIns="0" bIns="0" rtlCol="0" anchor="ctr"/>
          <a:lstStyle/>
          <a:p>
            <a:pPr marL="0" indent="0" algn="ctr">
              <a:buNone/>
            </a:pPr>
            <a:r>
              <a:rPr lang="en-US" sz="1800" dirty="0">
                <a:solidFill>
                  <a:srgbClr val="2C2C2C"/>
                </a:solidFill>
                <a:latin typeface="Calibri" pitchFamily="34" charset="0"/>
                <a:ea typeface="Calibri" pitchFamily="34" charset="-122"/>
                <a:cs typeface="Calibri" pitchFamily="34" charset="-120"/>
              </a:rPr>
              <a:t>Work</a:t>
            </a:r>
            <a:endParaRPr lang="en-US" sz="1800" dirty="0"/>
          </a:p>
        </p:txBody>
      </p:sp>
      <p:sp>
        <p:nvSpPr>
          <p:cNvPr id="10" name="Shape 8"/>
          <p:cNvSpPr/>
          <p:nvPr/>
        </p:nvSpPr>
        <p:spPr>
          <a:xfrm>
            <a:off x="9720072" y="5074920"/>
            <a:ext cx="2176272" cy="685800"/>
          </a:xfrm>
          <a:prstGeom prst="roundRect">
            <a:avLst>
              <a:gd name="adj" fmla="val 10667"/>
            </a:avLst>
          </a:prstGeom>
          <a:solidFill>
            <a:srgbClr val="F3E6B8"/>
          </a:solidFill>
          <a:ln/>
        </p:spPr>
        <p:txBody>
          <a:bodyPr/>
          <a:lstStyle/>
          <a:p>
            <a:endParaRPr lang="en-GB"/>
          </a:p>
        </p:txBody>
      </p:sp>
      <p:sp>
        <p:nvSpPr>
          <p:cNvPr id="11" name="Text 9"/>
          <p:cNvSpPr/>
          <p:nvPr/>
        </p:nvSpPr>
        <p:spPr>
          <a:xfrm>
            <a:off x="9720072" y="5074920"/>
            <a:ext cx="2176272" cy="685800"/>
          </a:xfrm>
          <a:prstGeom prst="rect">
            <a:avLst/>
          </a:prstGeom>
          <a:noFill/>
          <a:ln/>
        </p:spPr>
        <p:txBody>
          <a:bodyPr wrap="square" lIns="0" tIns="0" rIns="0" bIns="0" rtlCol="0" anchor="ctr"/>
          <a:lstStyle/>
          <a:p>
            <a:pPr marL="0" indent="0" algn="ctr">
              <a:buNone/>
            </a:pPr>
            <a:r>
              <a:rPr lang="en-US" sz="1800" dirty="0">
                <a:solidFill>
                  <a:srgbClr val="2C2C2C"/>
                </a:solidFill>
                <a:latin typeface="Calibri" pitchFamily="34" charset="0"/>
                <a:ea typeface="Calibri" pitchFamily="34" charset="-122"/>
                <a:cs typeface="Calibri" pitchFamily="34" charset="-120"/>
              </a:rPr>
              <a:t>Result</a:t>
            </a:r>
            <a:endParaRPr lang="en-US" sz="1800" dirty="0"/>
          </a:p>
        </p:txBody>
      </p:sp>
      <p:sp>
        <p:nvSpPr>
          <p:cNvPr id="12" name="Text 10"/>
          <p:cNvSpPr/>
          <p:nvPr/>
        </p:nvSpPr>
        <p:spPr>
          <a:xfrm>
            <a:off x="548640" y="1691640"/>
            <a:ext cx="11064240" cy="777240"/>
          </a:xfrm>
          <a:prstGeom prst="rect">
            <a:avLst/>
          </a:prstGeom>
          <a:noFill/>
          <a:ln/>
        </p:spPr>
        <p:txBody>
          <a:bodyPr wrap="square" lIns="0" tIns="0" rIns="0" bIns="0" rtlCol="0" anchor="ctr"/>
          <a:lstStyle/>
          <a:p>
            <a:pPr marL="0" indent="0">
              <a:buNone/>
            </a:pPr>
            <a:r>
              <a:rPr lang="en-US" sz="4200" dirty="0">
                <a:solidFill>
                  <a:srgbClr val="2C2C2C"/>
                </a:solidFill>
                <a:latin typeface="Calibri" pitchFamily="34" charset="0"/>
                <a:ea typeface="Calibri" pitchFamily="34" charset="-122"/>
                <a:cs typeface="Calibri" pitchFamily="34" charset="-120"/>
              </a:rPr>
              <a:t>Agent to Agent Protocol</a:t>
            </a:r>
            <a:endParaRPr lang="en-US" sz="4200" dirty="0"/>
          </a:p>
        </p:txBody>
      </p:sp>
      <p:sp>
        <p:nvSpPr>
          <p:cNvPr id="13" name="Text 11"/>
          <p:cNvSpPr/>
          <p:nvPr/>
        </p:nvSpPr>
        <p:spPr>
          <a:xfrm>
            <a:off x="548640" y="2606040"/>
            <a:ext cx="11064240" cy="1234440"/>
          </a:xfrm>
          <a:prstGeom prst="rect">
            <a:avLst/>
          </a:prstGeom>
          <a:noFill/>
          <a:ln/>
        </p:spPr>
        <p:txBody>
          <a:bodyPr wrap="square" lIns="0" tIns="0" rIns="0" bIns="0" rtlCol="0" anchor="ctr"/>
          <a:lstStyle/>
          <a:p>
            <a:pPr marL="0" indent="0">
              <a:buNone/>
            </a:pPr>
            <a:r>
              <a:rPr lang="en-US" sz="2200" dirty="0">
                <a:solidFill>
                  <a:srgbClr val="4A4A4A"/>
                </a:solidFill>
                <a:latin typeface="Calibri" pitchFamily="34" charset="0"/>
                <a:ea typeface="Calibri" pitchFamily="34" charset="-122"/>
                <a:cs typeface="Calibri" pitchFamily="34" charset="-120"/>
              </a:rPr>
              <a:t>A shared way for AI agents to find each other, send a job, and share the result. Even when different companies built them.</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502920"/>
          </a:xfrm>
          <a:prstGeom prst="rect">
            <a:avLst/>
          </a:prstGeom>
          <a:noFill/>
          <a:ln/>
        </p:spPr>
        <p:txBody>
          <a:bodyPr wrap="square" lIns="0" tIns="0" rIns="0" bIns="0" rtlCol="0" anchor="ctr"/>
          <a:lstStyle/>
          <a:p>
            <a:pPr marL="0" indent="0">
              <a:buNone/>
            </a:pPr>
            <a:r>
              <a:rPr lang="en-US" sz="3400" dirty="0">
                <a:solidFill>
                  <a:srgbClr val="2C2C2C"/>
                </a:solidFill>
                <a:latin typeface="Calibri" pitchFamily="34" charset="0"/>
                <a:ea typeface="Calibri" pitchFamily="34" charset="-122"/>
                <a:cs typeface="Calibri" pitchFamily="34" charset="-120"/>
              </a:rPr>
              <a:t>What we will talk about</a:t>
            </a:r>
            <a:endParaRPr lang="en-US" sz="3400" dirty="0"/>
          </a:p>
        </p:txBody>
      </p:sp>
      <p:sp>
        <p:nvSpPr>
          <p:cNvPr id="3" name="Text 1"/>
          <p:cNvSpPr/>
          <p:nvPr/>
        </p:nvSpPr>
        <p:spPr>
          <a:xfrm>
            <a:off x="548640" y="1005840"/>
            <a:ext cx="11064240" cy="621792"/>
          </a:xfrm>
          <a:prstGeom prst="rect">
            <a:avLst/>
          </a:prstGeom>
          <a:noFill/>
          <a:ln/>
        </p:spPr>
        <p:txBody>
          <a:bodyPr wrap="square" lIns="0" tIns="0" rIns="0" bIns="0" rtlCol="0" anchor="ctr"/>
          <a:lstStyle/>
          <a:p>
            <a:pPr marL="0" indent="0">
              <a:buNone/>
            </a:pPr>
            <a:r>
              <a:rPr lang="en-US" sz="2400" dirty="0">
                <a:solidFill>
                  <a:srgbClr val="2C2C2C"/>
                </a:solidFill>
                <a:latin typeface="Calibri" pitchFamily="34" charset="0"/>
                <a:ea typeface="Calibri" pitchFamily="34" charset="-122"/>
                <a:cs typeface="Calibri" pitchFamily="34" charset="-120"/>
              </a:rPr>
              <a:t>1.  What A2A is, and what it is not</a:t>
            </a:r>
            <a:endParaRPr lang="en-US" sz="2400" dirty="0"/>
          </a:p>
        </p:txBody>
      </p:sp>
      <p:sp>
        <p:nvSpPr>
          <p:cNvPr id="4" name="Text 2"/>
          <p:cNvSpPr/>
          <p:nvPr/>
        </p:nvSpPr>
        <p:spPr>
          <a:xfrm>
            <a:off x="548640" y="1719072"/>
            <a:ext cx="11064240" cy="621792"/>
          </a:xfrm>
          <a:prstGeom prst="rect">
            <a:avLst/>
          </a:prstGeom>
          <a:noFill/>
          <a:ln/>
        </p:spPr>
        <p:txBody>
          <a:bodyPr wrap="square" lIns="0" tIns="0" rIns="0" bIns="0" rtlCol="0" anchor="ctr"/>
          <a:lstStyle/>
          <a:p>
            <a:pPr marL="0" indent="0">
              <a:buNone/>
            </a:pPr>
            <a:r>
              <a:rPr lang="en-US" sz="2400" dirty="0">
                <a:solidFill>
                  <a:srgbClr val="2C2C2C"/>
                </a:solidFill>
                <a:latin typeface="Calibri" pitchFamily="34" charset="0"/>
                <a:ea typeface="Calibri" pitchFamily="34" charset="-122"/>
                <a:cs typeface="Calibri" pitchFamily="34" charset="-120"/>
              </a:rPr>
              <a:t>2.  The problem: agents that cannot talk</a:t>
            </a:r>
            <a:endParaRPr lang="en-US" sz="2400" dirty="0"/>
          </a:p>
        </p:txBody>
      </p:sp>
      <p:sp>
        <p:nvSpPr>
          <p:cNvPr id="5" name="Text 3"/>
          <p:cNvSpPr/>
          <p:nvPr/>
        </p:nvSpPr>
        <p:spPr>
          <a:xfrm>
            <a:off x="548640" y="2432304"/>
            <a:ext cx="11064240" cy="621792"/>
          </a:xfrm>
          <a:prstGeom prst="rect">
            <a:avLst/>
          </a:prstGeom>
          <a:noFill/>
          <a:ln/>
        </p:spPr>
        <p:txBody>
          <a:bodyPr wrap="square" lIns="0" tIns="0" rIns="0" bIns="0" rtlCol="0" anchor="ctr"/>
          <a:lstStyle/>
          <a:p>
            <a:pPr marL="0" indent="0">
              <a:buNone/>
            </a:pPr>
            <a:r>
              <a:rPr lang="en-US" sz="2400" dirty="0">
                <a:solidFill>
                  <a:srgbClr val="2C2C2C"/>
                </a:solidFill>
                <a:latin typeface="Calibri" pitchFamily="34" charset="0"/>
                <a:ea typeface="Calibri" pitchFamily="34" charset="-122"/>
                <a:cs typeface="Calibri" pitchFamily="34" charset="-120"/>
              </a:rPr>
              <a:t>3.  Benefits, and when to use it</a:t>
            </a:r>
            <a:endParaRPr lang="en-US" sz="2400" dirty="0"/>
          </a:p>
        </p:txBody>
      </p:sp>
      <p:sp>
        <p:nvSpPr>
          <p:cNvPr id="6" name="Text 4"/>
          <p:cNvSpPr/>
          <p:nvPr/>
        </p:nvSpPr>
        <p:spPr>
          <a:xfrm>
            <a:off x="548640" y="3145536"/>
            <a:ext cx="11064240" cy="621792"/>
          </a:xfrm>
          <a:prstGeom prst="rect">
            <a:avLst/>
          </a:prstGeom>
          <a:noFill/>
          <a:ln/>
        </p:spPr>
        <p:txBody>
          <a:bodyPr wrap="square" lIns="0" tIns="0" rIns="0" bIns="0" rtlCol="0" anchor="ctr"/>
          <a:lstStyle/>
          <a:p>
            <a:pPr marL="0" indent="0">
              <a:buNone/>
            </a:pPr>
            <a:r>
              <a:rPr lang="en-US" sz="2400" dirty="0">
                <a:solidFill>
                  <a:srgbClr val="2C2C2C"/>
                </a:solidFill>
                <a:latin typeface="Calibri" pitchFamily="34" charset="0"/>
                <a:ea typeface="Calibri" pitchFamily="34" charset="-122"/>
                <a:cs typeface="Calibri" pitchFamily="34" charset="-120"/>
              </a:rPr>
              <a:t>4.  The main pieces and the call path</a:t>
            </a:r>
            <a:endParaRPr lang="en-US" sz="2400" dirty="0"/>
          </a:p>
        </p:txBody>
      </p:sp>
      <p:sp>
        <p:nvSpPr>
          <p:cNvPr id="7" name="Text 5"/>
          <p:cNvSpPr/>
          <p:nvPr/>
        </p:nvSpPr>
        <p:spPr>
          <a:xfrm>
            <a:off x="548640" y="3858768"/>
            <a:ext cx="11064240" cy="621792"/>
          </a:xfrm>
          <a:prstGeom prst="rect">
            <a:avLst/>
          </a:prstGeom>
          <a:noFill/>
          <a:ln/>
        </p:spPr>
        <p:txBody>
          <a:bodyPr wrap="square" lIns="0" tIns="0" rIns="0" bIns="0" rtlCol="0" anchor="ctr"/>
          <a:lstStyle/>
          <a:p>
            <a:pPr marL="0" indent="0">
              <a:buNone/>
            </a:pPr>
            <a:r>
              <a:rPr lang="en-US" sz="2400" dirty="0">
                <a:solidFill>
                  <a:srgbClr val="2C2C2C"/>
                </a:solidFill>
                <a:latin typeface="Calibri" pitchFamily="34" charset="0"/>
                <a:ea typeface="Calibri" pitchFamily="34" charset="-122"/>
                <a:cs typeface="Calibri" pitchFamily="34" charset="-120"/>
              </a:rPr>
              <a:t>5.  A2A next to MCP</a:t>
            </a:r>
            <a:endParaRPr lang="en-US" sz="2400" dirty="0"/>
          </a:p>
        </p:txBody>
      </p:sp>
      <p:sp>
        <p:nvSpPr>
          <p:cNvPr id="8" name="Text 6"/>
          <p:cNvSpPr/>
          <p:nvPr/>
        </p:nvSpPr>
        <p:spPr>
          <a:xfrm>
            <a:off x="548640" y="4572000"/>
            <a:ext cx="11064240" cy="621792"/>
          </a:xfrm>
          <a:prstGeom prst="rect">
            <a:avLst/>
          </a:prstGeom>
          <a:noFill/>
          <a:ln/>
        </p:spPr>
        <p:txBody>
          <a:bodyPr wrap="square" lIns="0" tIns="0" rIns="0" bIns="0" rtlCol="0" anchor="ctr"/>
          <a:lstStyle/>
          <a:p>
            <a:pPr marL="0" indent="0">
              <a:buNone/>
            </a:pPr>
            <a:r>
              <a:rPr lang="en-US" sz="2400" dirty="0">
                <a:solidFill>
                  <a:srgbClr val="2C2C2C"/>
                </a:solidFill>
                <a:latin typeface="Calibri" pitchFamily="34" charset="0"/>
                <a:ea typeface="Calibri" pitchFamily="34" charset="-122"/>
                <a:cs typeface="Calibri" pitchFamily="34" charset="-120"/>
              </a:rPr>
              <a:t>6.  Login and permission across companies</a:t>
            </a:r>
            <a:endParaRPr lang="en-US" sz="2400" dirty="0"/>
          </a:p>
        </p:txBody>
      </p:sp>
      <p:sp>
        <p:nvSpPr>
          <p:cNvPr id="9" name="Text 7"/>
          <p:cNvSpPr/>
          <p:nvPr/>
        </p:nvSpPr>
        <p:spPr>
          <a:xfrm>
            <a:off x="548640" y="5285232"/>
            <a:ext cx="11064240" cy="621792"/>
          </a:xfrm>
          <a:prstGeom prst="rect">
            <a:avLst/>
          </a:prstGeom>
          <a:noFill/>
          <a:ln/>
        </p:spPr>
        <p:txBody>
          <a:bodyPr wrap="square" lIns="0" tIns="0" rIns="0" bIns="0" rtlCol="0" anchor="ctr"/>
          <a:lstStyle/>
          <a:p>
            <a:pPr marL="0" indent="0">
              <a:buNone/>
            </a:pPr>
            <a:r>
              <a:rPr lang="en-US" sz="2400" dirty="0">
                <a:solidFill>
                  <a:srgbClr val="2C2C2C"/>
                </a:solidFill>
                <a:latin typeface="Calibri" pitchFamily="34" charset="0"/>
                <a:ea typeface="Calibri" pitchFamily="34" charset="-122"/>
                <a:cs typeface="Calibri" pitchFamily="34" charset="-120"/>
              </a:rPr>
              <a:t>7.  How your team can start</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11064240" cy="457200"/>
          </a:xfrm>
          <a:prstGeom prst="rect">
            <a:avLst/>
          </a:prstGeom>
          <a:noFill/>
          <a:ln/>
        </p:spPr>
        <p:txBody>
          <a:bodyPr wrap="square" lIns="0" tIns="0" rIns="0" bIns="0" rtlCol="0" anchor="ctr"/>
          <a:lstStyle/>
          <a:p>
            <a:pPr marL="0" indent="0">
              <a:buNone/>
            </a:pPr>
            <a:r>
              <a:rPr lang="en-US" sz="3400" dirty="0">
                <a:solidFill>
                  <a:srgbClr val="2C2C2C"/>
                </a:solidFill>
                <a:latin typeface="Calibri" pitchFamily="34" charset="0"/>
                <a:ea typeface="Calibri" pitchFamily="34" charset="-122"/>
                <a:cs typeface="Calibri" pitchFamily="34" charset="-120"/>
              </a:rPr>
              <a:t>What A2A is</a:t>
            </a:r>
            <a:endParaRPr lang="en-US" sz="3400" dirty="0"/>
          </a:p>
        </p:txBody>
      </p:sp>
      <p:sp>
        <p:nvSpPr>
          <p:cNvPr id="3" name="Text 1"/>
          <p:cNvSpPr/>
          <p:nvPr/>
        </p:nvSpPr>
        <p:spPr>
          <a:xfrm>
            <a:off x="548640" y="731520"/>
            <a:ext cx="11064240" cy="548640"/>
          </a:xfrm>
          <a:prstGeom prst="rect">
            <a:avLst/>
          </a:prstGeom>
          <a:noFill/>
          <a:ln/>
        </p:spPr>
        <p:txBody>
          <a:bodyPr wrap="square" lIns="0" tIns="0" rIns="0" bIns="0" rtlCol="0" anchor="ctr"/>
          <a:lstStyle/>
          <a:p>
            <a:pPr marL="0" indent="0">
              <a:buNone/>
            </a:pPr>
            <a:r>
              <a:rPr lang="en-US" sz="1800" dirty="0">
                <a:solidFill>
                  <a:srgbClr val="4A4A4A"/>
                </a:solidFill>
                <a:latin typeface="Calibri" pitchFamily="34" charset="0"/>
                <a:ea typeface="Calibri" pitchFamily="34" charset="-122"/>
                <a:cs typeface="Calibri" pitchFamily="34" charset="-120"/>
              </a:rPr>
              <a:t>An open standard. Google started it. Many partners joined. It now lives with the Linux Foundation.</a:t>
            </a:r>
            <a:endParaRPr lang="en-US" sz="1800" dirty="0"/>
          </a:p>
        </p:txBody>
      </p:sp>
      <p:sp>
        <p:nvSpPr>
          <p:cNvPr id="4" name="Shape 2"/>
          <p:cNvSpPr/>
          <p:nvPr/>
        </p:nvSpPr>
        <p:spPr>
          <a:xfrm>
            <a:off x="502920" y="1417320"/>
            <a:ext cx="2743200" cy="2331720"/>
          </a:xfrm>
          <a:prstGeom prst="roundRect">
            <a:avLst>
              <a:gd name="adj" fmla="val 3137"/>
            </a:avLst>
          </a:prstGeom>
          <a:solidFill>
            <a:srgbClr val="C5DDF0"/>
          </a:solidFill>
          <a:ln/>
        </p:spPr>
        <p:txBody>
          <a:bodyPr/>
          <a:lstStyle/>
          <a:p>
            <a:endParaRPr lang="en-GB"/>
          </a:p>
        </p:txBody>
      </p:sp>
      <p:sp>
        <p:nvSpPr>
          <p:cNvPr id="5" name="Text 3"/>
          <p:cNvSpPr/>
          <p:nvPr/>
        </p:nvSpPr>
        <p:spPr>
          <a:xfrm>
            <a:off x="667512" y="1545336"/>
            <a:ext cx="241401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1 Find</a:t>
            </a:r>
            <a:endParaRPr lang="en-US" sz="2000" dirty="0"/>
          </a:p>
        </p:txBody>
      </p:sp>
      <p:sp>
        <p:nvSpPr>
          <p:cNvPr id="6" name="Text 4"/>
          <p:cNvSpPr/>
          <p:nvPr/>
        </p:nvSpPr>
        <p:spPr>
          <a:xfrm>
            <a:off x="667512" y="1984248"/>
            <a:ext cx="2414016" cy="160020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Read the Agent Card. Learn skills and the web address.</a:t>
            </a:r>
            <a:endParaRPr lang="en-US" sz="1600" dirty="0"/>
          </a:p>
        </p:txBody>
      </p:sp>
      <p:sp>
        <p:nvSpPr>
          <p:cNvPr id="7" name="Shape 5"/>
          <p:cNvSpPr/>
          <p:nvPr/>
        </p:nvSpPr>
        <p:spPr>
          <a:xfrm>
            <a:off x="3264408" y="2468880"/>
            <a:ext cx="329184" cy="182880"/>
          </a:xfrm>
          <a:prstGeom prst="rightArrow">
            <a:avLst/>
          </a:prstGeom>
          <a:solidFill>
            <a:srgbClr val="C8C2B8"/>
          </a:solidFill>
          <a:ln/>
        </p:spPr>
        <p:txBody>
          <a:bodyPr/>
          <a:lstStyle/>
          <a:p>
            <a:endParaRPr lang="en-GB"/>
          </a:p>
        </p:txBody>
      </p:sp>
      <p:sp>
        <p:nvSpPr>
          <p:cNvPr id="8" name="Shape 6"/>
          <p:cNvSpPr/>
          <p:nvPr/>
        </p:nvSpPr>
        <p:spPr>
          <a:xfrm>
            <a:off x="3410712" y="1417320"/>
            <a:ext cx="2743200" cy="2331720"/>
          </a:xfrm>
          <a:prstGeom prst="roundRect">
            <a:avLst>
              <a:gd name="adj" fmla="val 3137"/>
            </a:avLst>
          </a:prstGeom>
          <a:solidFill>
            <a:srgbClr val="C9E6D0"/>
          </a:solidFill>
          <a:ln/>
        </p:spPr>
        <p:txBody>
          <a:bodyPr/>
          <a:lstStyle/>
          <a:p>
            <a:endParaRPr lang="en-GB"/>
          </a:p>
        </p:txBody>
      </p:sp>
      <p:sp>
        <p:nvSpPr>
          <p:cNvPr id="9" name="Text 7"/>
          <p:cNvSpPr/>
          <p:nvPr/>
        </p:nvSpPr>
        <p:spPr>
          <a:xfrm>
            <a:off x="3575304" y="1545336"/>
            <a:ext cx="241401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2 Talk</a:t>
            </a:r>
            <a:endParaRPr lang="en-US" sz="2000" dirty="0"/>
          </a:p>
        </p:txBody>
      </p:sp>
      <p:sp>
        <p:nvSpPr>
          <p:cNvPr id="10" name="Text 8"/>
          <p:cNvSpPr/>
          <p:nvPr/>
        </p:nvSpPr>
        <p:spPr>
          <a:xfrm>
            <a:off x="3575304" y="1984248"/>
            <a:ext cx="2414016" cy="160020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Use normal web calls. HTTP, JSON-RPC, live updates.</a:t>
            </a:r>
            <a:endParaRPr lang="en-US" sz="1600" dirty="0"/>
          </a:p>
        </p:txBody>
      </p:sp>
      <p:sp>
        <p:nvSpPr>
          <p:cNvPr id="11" name="Shape 9"/>
          <p:cNvSpPr/>
          <p:nvPr/>
        </p:nvSpPr>
        <p:spPr>
          <a:xfrm>
            <a:off x="6172200" y="2468880"/>
            <a:ext cx="329184" cy="182880"/>
          </a:xfrm>
          <a:prstGeom prst="rightArrow">
            <a:avLst/>
          </a:prstGeom>
          <a:solidFill>
            <a:srgbClr val="C8C2B8"/>
          </a:solidFill>
          <a:ln/>
        </p:spPr>
        <p:txBody>
          <a:bodyPr/>
          <a:lstStyle/>
          <a:p>
            <a:endParaRPr lang="en-GB"/>
          </a:p>
        </p:txBody>
      </p:sp>
      <p:sp>
        <p:nvSpPr>
          <p:cNvPr id="12" name="Shape 10"/>
          <p:cNvSpPr/>
          <p:nvPr/>
        </p:nvSpPr>
        <p:spPr>
          <a:xfrm>
            <a:off x="6318504" y="1417320"/>
            <a:ext cx="2743200" cy="2331720"/>
          </a:xfrm>
          <a:prstGeom prst="roundRect">
            <a:avLst>
              <a:gd name="adj" fmla="val 3137"/>
            </a:avLst>
          </a:prstGeom>
          <a:solidFill>
            <a:srgbClr val="F6D6C6"/>
          </a:solidFill>
          <a:ln/>
        </p:spPr>
        <p:txBody>
          <a:bodyPr/>
          <a:lstStyle/>
          <a:p>
            <a:endParaRPr lang="en-GB"/>
          </a:p>
        </p:txBody>
      </p:sp>
      <p:sp>
        <p:nvSpPr>
          <p:cNvPr id="13" name="Text 11"/>
          <p:cNvSpPr/>
          <p:nvPr/>
        </p:nvSpPr>
        <p:spPr>
          <a:xfrm>
            <a:off x="6483096" y="1545336"/>
            <a:ext cx="241401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3 Do the job</a:t>
            </a:r>
            <a:endParaRPr lang="en-US" sz="2000" dirty="0"/>
          </a:p>
        </p:txBody>
      </p:sp>
      <p:sp>
        <p:nvSpPr>
          <p:cNvPr id="14" name="Text 12"/>
          <p:cNvSpPr/>
          <p:nvPr/>
        </p:nvSpPr>
        <p:spPr>
          <a:xfrm>
            <a:off x="6483096" y="1984248"/>
            <a:ext cx="2414016" cy="160020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A task can be short or long. Status can change.</a:t>
            </a:r>
            <a:endParaRPr lang="en-US" sz="1600" dirty="0"/>
          </a:p>
        </p:txBody>
      </p:sp>
      <p:sp>
        <p:nvSpPr>
          <p:cNvPr id="15" name="Shape 13"/>
          <p:cNvSpPr/>
          <p:nvPr/>
        </p:nvSpPr>
        <p:spPr>
          <a:xfrm>
            <a:off x="9079992" y="2468880"/>
            <a:ext cx="329184" cy="182880"/>
          </a:xfrm>
          <a:prstGeom prst="rightArrow">
            <a:avLst/>
          </a:prstGeom>
          <a:solidFill>
            <a:srgbClr val="C8C2B8"/>
          </a:solidFill>
          <a:ln/>
        </p:spPr>
        <p:txBody>
          <a:bodyPr/>
          <a:lstStyle/>
          <a:p>
            <a:endParaRPr lang="en-GB"/>
          </a:p>
        </p:txBody>
      </p:sp>
      <p:sp>
        <p:nvSpPr>
          <p:cNvPr id="16" name="Shape 14"/>
          <p:cNvSpPr/>
          <p:nvPr/>
        </p:nvSpPr>
        <p:spPr>
          <a:xfrm>
            <a:off x="9226296" y="1417320"/>
            <a:ext cx="2743200" cy="2331720"/>
          </a:xfrm>
          <a:prstGeom prst="roundRect">
            <a:avLst>
              <a:gd name="adj" fmla="val 3137"/>
            </a:avLst>
          </a:prstGeom>
          <a:solidFill>
            <a:srgbClr val="DDD0EE"/>
          </a:solidFill>
          <a:ln/>
        </p:spPr>
        <p:txBody>
          <a:bodyPr/>
          <a:lstStyle/>
          <a:p>
            <a:endParaRPr lang="en-GB"/>
          </a:p>
        </p:txBody>
      </p:sp>
      <p:sp>
        <p:nvSpPr>
          <p:cNvPr id="17" name="Text 15"/>
          <p:cNvSpPr/>
          <p:nvPr/>
        </p:nvSpPr>
        <p:spPr>
          <a:xfrm>
            <a:off x="9390888" y="1545336"/>
            <a:ext cx="241401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4 Stay private</a:t>
            </a:r>
            <a:endParaRPr lang="en-US" sz="2000" dirty="0"/>
          </a:p>
        </p:txBody>
      </p:sp>
      <p:sp>
        <p:nvSpPr>
          <p:cNvPr id="18" name="Text 16"/>
          <p:cNvSpPr/>
          <p:nvPr/>
        </p:nvSpPr>
        <p:spPr>
          <a:xfrm>
            <a:off x="9390888" y="1984248"/>
            <a:ext cx="2414016" cy="160020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Share the result. Do not share inner tools.</a:t>
            </a:r>
            <a:endParaRPr lang="en-US" sz="1600" dirty="0"/>
          </a:p>
        </p:txBody>
      </p:sp>
      <p:sp>
        <p:nvSpPr>
          <p:cNvPr id="19" name="Text 17"/>
          <p:cNvSpPr/>
          <p:nvPr/>
        </p:nvSpPr>
        <p:spPr>
          <a:xfrm>
            <a:off x="548640" y="3977640"/>
            <a:ext cx="11064240" cy="502920"/>
          </a:xfrm>
          <a:prstGeom prst="rect">
            <a:avLst/>
          </a:prstGeom>
          <a:noFill/>
          <a:ln/>
        </p:spPr>
        <p:txBody>
          <a:bodyPr wrap="square" lIns="0" tIns="0" rIns="0" bIns="0" rtlCol="0" anchor="ctr"/>
          <a:lstStyle/>
          <a:p>
            <a:pPr marL="0" indent="0">
              <a:buNone/>
            </a:pPr>
            <a:r>
              <a:rPr lang="en-US" sz="1800" dirty="0">
                <a:solidFill>
                  <a:srgbClr val="4A4A4A"/>
                </a:solidFill>
                <a:latin typeface="Calibri" pitchFamily="34" charset="0"/>
                <a:ea typeface="Calibri" pitchFamily="34" charset="-122"/>
                <a:cs typeface="Calibri" pitchFamily="34" charset="-120"/>
              </a:rPr>
              <a:t>Works with LangGraph, CrewAI, ADK, and custom code. You do not need the same stack.</a:t>
            </a:r>
            <a:endParaRPr lang="en-US" sz="1800" dirty="0"/>
          </a:p>
        </p:txBody>
      </p:sp>
      <p:sp>
        <p:nvSpPr>
          <p:cNvPr id="20" name="Text 18"/>
          <p:cNvSpPr/>
          <p:nvPr/>
        </p:nvSpPr>
        <p:spPr>
          <a:xfrm>
            <a:off x="548640" y="4572000"/>
            <a:ext cx="11064240" cy="640080"/>
          </a:xfrm>
          <a:prstGeom prst="rect">
            <a:avLst/>
          </a:prstGeom>
          <a:noFill/>
          <a:ln/>
        </p:spPr>
        <p:txBody>
          <a:bodyPr wrap="square" lIns="0" tIns="0" rIns="0" bIns="0" rtlCol="0" anchor="ctr"/>
          <a:lstStyle/>
          <a:p>
            <a:pPr marL="0" indent="0">
              <a:buNone/>
            </a:pPr>
            <a:r>
              <a:rPr lang="en-US" sz="1800" dirty="0">
                <a:solidFill>
                  <a:srgbClr val="4A4A4A"/>
                </a:solidFill>
                <a:latin typeface="Calibri" pitchFamily="34" charset="0"/>
                <a:ea typeface="Calibri" pitchFamily="34" charset="-122"/>
                <a:cs typeface="Calibri" pitchFamily="34" charset="-120"/>
              </a:rPr>
              <a:t>A2A is not a model, not a chatbot app, and not MCP. It is the shared language between agents.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01168"/>
            <a:ext cx="11064240" cy="438912"/>
          </a:xfrm>
          <a:prstGeom prst="rect">
            <a:avLst/>
          </a:prstGeom>
          <a:noFill/>
          <a:ln/>
        </p:spPr>
        <p:txBody>
          <a:bodyPr wrap="square" lIns="0" tIns="0" rIns="0" bIns="0" rtlCol="0" anchor="ctr"/>
          <a:lstStyle/>
          <a:p>
            <a:pPr marL="0" indent="0">
              <a:buNone/>
            </a:pPr>
            <a:r>
              <a:rPr lang="en-US" sz="3200" dirty="0">
                <a:solidFill>
                  <a:srgbClr val="2C2C2C"/>
                </a:solidFill>
                <a:latin typeface="Calibri" pitchFamily="34" charset="0"/>
                <a:ea typeface="Calibri" pitchFamily="34" charset="-122"/>
                <a:cs typeface="Calibri" pitchFamily="34" charset="-120"/>
              </a:rPr>
              <a:t>The problem without A2A</a:t>
            </a:r>
            <a:endParaRPr lang="en-US" sz="3200" dirty="0"/>
          </a:p>
        </p:txBody>
      </p:sp>
      <p:sp>
        <p:nvSpPr>
          <p:cNvPr id="3" name="Text 1"/>
          <p:cNvSpPr/>
          <p:nvPr/>
        </p:nvSpPr>
        <p:spPr>
          <a:xfrm>
            <a:off x="548640" y="685800"/>
            <a:ext cx="11064240" cy="384048"/>
          </a:xfrm>
          <a:prstGeom prst="rect">
            <a:avLst/>
          </a:prstGeom>
          <a:noFill/>
          <a:ln/>
        </p:spPr>
        <p:txBody>
          <a:bodyPr wrap="square" lIns="0" tIns="0" rIns="0" bIns="0" rtlCol="0" anchor="ctr"/>
          <a:lstStyle/>
          <a:p>
            <a:pPr marL="0" indent="0">
              <a:buNone/>
            </a:pPr>
            <a:r>
              <a:rPr lang="en-US" sz="1800" dirty="0">
                <a:solidFill>
                  <a:srgbClr val="4A4A4A"/>
                </a:solidFill>
                <a:latin typeface="Calibri" pitchFamily="34" charset="0"/>
                <a:ea typeface="Calibri" pitchFamily="34" charset="-122"/>
                <a:cs typeface="Calibri" pitchFamily="34" charset="-120"/>
              </a:rPr>
              <a:t>A user says: plan my trip. One assistant cannot do it alone.</a:t>
            </a:r>
            <a:endParaRPr lang="en-US" sz="1800" dirty="0"/>
          </a:p>
        </p:txBody>
      </p:sp>
      <p:sp>
        <p:nvSpPr>
          <p:cNvPr id="4" name="Shape 2"/>
          <p:cNvSpPr/>
          <p:nvPr/>
        </p:nvSpPr>
        <p:spPr>
          <a:xfrm>
            <a:off x="4160520" y="1188720"/>
            <a:ext cx="3840480" cy="1143000"/>
          </a:xfrm>
          <a:prstGeom prst="roundRect">
            <a:avLst>
              <a:gd name="adj" fmla="val 6400"/>
            </a:avLst>
          </a:prstGeom>
          <a:solidFill>
            <a:srgbClr val="F3E6B8"/>
          </a:solidFill>
          <a:ln/>
        </p:spPr>
        <p:txBody>
          <a:bodyPr/>
          <a:lstStyle/>
          <a:p>
            <a:endParaRPr lang="en-GB"/>
          </a:p>
        </p:txBody>
      </p:sp>
      <p:sp>
        <p:nvSpPr>
          <p:cNvPr id="5" name="Text 3"/>
          <p:cNvSpPr/>
          <p:nvPr/>
        </p:nvSpPr>
        <p:spPr>
          <a:xfrm>
            <a:off x="4325112" y="1316736"/>
            <a:ext cx="351129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Your assistant</a:t>
            </a:r>
            <a:endParaRPr lang="en-US" sz="2000" dirty="0"/>
          </a:p>
        </p:txBody>
      </p:sp>
      <p:sp>
        <p:nvSpPr>
          <p:cNvPr id="6" name="Text 4"/>
          <p:cNvSpPr/>
          <p:nvPr/>
        </p:nvSpPr>
        <p:spPr>
          <a:xfrm>
            <a:off x="4325112" y="1755648"/>
            <a:ext cx="3511296" cy="41148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Has the user goal. Needs help.</a:t>
            </a:r>
            <a:endParaRPr lang="en-US" sz="1600" dirty="0"/>
          </a:p>
        </p:txBody>
      </p:sp>
      <p:sp>
        <p:nvSpPr>
          <p:cNvPr id="7" name="Shape 5"/>
          <p:cNvSpPr/>
          <p:nvPr/>
        </p:nvSpPr>
        <p:spPr>
          <a:xfrm>
            <a:off x="502920" y="4160520"/>
            <a:ext cx="2423160" cy="1965960"/>
          </a:xfrm>
          <a:prstGeom prst="roundRect">
            <a:avLst>
              <a:gd name="adj" fmla="val 3721"/>
            </a:avLst>
          </a:prstGeom>
          <a:solidFill>
            <a:srgbClr val="C5DDF0"/>
          </a:solidFill>
          <a:ln/>
        </p:spPr>
        <p:txBody>
          <a:bodyPr/>
          <a:lstStyle/>
          <a:p>
            <a:endParaRPr lang="en-GB"/>
          </a:p>
        </p:txBody>
      </p:sp>
      <p:sp>
        <p:nvSpPr>
          <p:cNvPr id="8" name="Text 6"/>
          <p:cNvSpPr/>
          <p:nvPr/>
        </p:nvSpPr>
        <p:spPr>
          <a:xfrm>
            <a:off x="594360" y="4434840"/>
            <a:ext cx="2240280" cy="502920"/>
          </a:xfrm>
          <a:prstGeom prst="rect">
            <a:avLst/>
          </a:prstGeom>
          <a:noFill/>
          <a:ln/>
        </p:spPr>
        <p:txBody>
          <a:bodyPr wrap="square" lIns="0" tIns="0" rIns="0" bIns="0" rtlCol="0" anchor="ctr"/>
          <a:lstStyle/>
          <a:p>
            <a:pPr marL="0" indent="0" algn="ctr">
              <a:buNone/>
            </a:pPr>
            <a:r>
              <a:rPr lang="en-US" sz="2200" dirty="0">
                <a:solidFill>
                  <a:srgbClr val="2C2C2C"/>
                </a:solidFill>
                <a:latin typeface="Calibri" pitchFamily="34" charset="0"/>
                <a:ea typeface="Calibri" pitchFamily="34" charset="-122"/>
                <a:cs typeface="Calibri" pitchFamily="34" charset="-120"/>
              </a:rPr>
              <a:t>Flight</a:t>
            </a:r>
            <a:endParaRPr lang="en-US" sz="2200" dirty="0"/>
          </a:p>
        </p:txBody>
      </p:sp>
      <p:sp>
        <p:nvSpPr>
          <p:cNvPr id="9" name="Text 7"/>
          <p:cNvSpPr/>
          <p:nvPr/>
        </p:nvSpPr>
        <p:spPr>
          <a:xfrm>
            <a:off x="594360" y="4983480"/>
            <a:ext cx="2240280" cy="640080"/>
          </a:xfrm>
          <a:prstGeom prst="rect">
            <a:avLst/>
          </a:prstGeom>
          <a:noFill/>
          <a:ln/>
        </p:spPr>
        <p:txBody>
          <a:bodyPr wrap="square" lIns="0" tIns="0" rIns="0" bIns="0" rtlCol="0" anchor="ctr"/>
          <a:lstStyle/>
          <a:p>
            <a:pPr marL="0" indent="0" algn="ctr">
              <a:buNone/>
            </a:pPr>
            <a:r>
              <a:rPr lang="en-US" sz="1600" dirty="0">
                <a:solidFill>
                  <a:srgbClr val="4A4A4A"/>
                </a:solidFill>
                <a:latin typeface="Calibri" pitchFamily="34" charset="0"/>
                <a:ea typeface="Calibri" pitchFamily="34" charset="-122"/>
                <a:cs typeface="Calibri" pitchFamily="34" charset="-120"/>
              </a:rPr>
              <a:t>Other vendor</a:t>
            </a:r>
            <a:endParaRPr lang="en-US" sz="1600" dirty="0"/>
          </a:p>
        </p:txBody>
      </p:sp>
      <p:sp>
        <p:nvSpPr>
          <p:cNvPr id="10" name="Shape 8"/>
          <p:cNvSpPr/>
          <p:nvPr/>
        </p:nvSpPr>
        <p:spPr>
          <a:xfrm>
            <a:off x="3429000" y="4160520"/>
            <a:ext cx="2423160" cy="1965960"/>
          </a:xfrm>
          <a:prstGeom prst="roundRect">
            <a:avLst>
              <a:gd name="adj" fmla="val 3721"/>
            </a:avLst>
          </a:prstGeom>
          <a:solidFill>
            <a:srgbClr val="C9E6D0"/>
          </a:solidFill>
          <a:ln/>
        </p:spPr>
        <p:txBody>
          <a:bodyPr/>
          <a:lstStyle/>
          <a:p>
            <a:endParaRPr lang="en-GB"/>
          </a:p>
        </p:txBody>
      </p:sp>
      <p:sp>
        <p:nvSpPr>
          <p:cNvPr id="11" name="Text 9"/>
          <p:cNvSpPr/>
          <p:nvPr/>
        </p:nvSpPr>
        <p:spPr>
          <a:xfrm>
            <a:off x="3520440" y="4434840"/>
            <a:ext cx="2240280" cy="502920"/>
          </a:xfrm>
          <a:prstGeom prst="rect">
            <a:avLst/>
          </a:prstGeom>
          <a:noFill/>
          <a:ln/>
        </p:spPr>
        <p:txBody>
          <a:bodyPr wrap="square" lIns="0" tIns="0" rIns="0" bIns="0" rtlCol="0" anchor="ctr"/>
          <a:lstStyle/>
          <a:p>
            <a:pPr marL="0" indent="0" algn="ctr">
              <a:buNone/>
            </a:pPr>
            <a:r>
              <a:rPr lang="en-US" sz="2200" dirty="0">
                <a:solidFill>
                  <a:srgbClr val="2C2C2C"/>
                </a:solidFill>
                <a:latin typeface="Calibri" pitchFamily="34" charset="0"/>
                <a:ea typeface="Calibri" pitchFamily="34" charset="-122"/>
                <a:cs typeface="Calibri" pitchFamily="34" charset="-120"/>
              </a:rPr>
              <a:t>Hotel</a:t>
            </a:r>
            <a:endParaRPr lang="en-US" sz="2200" dirty="0"/>
          </a:p>
        </p:txBody>
      </p:sp>
      <p:sp>
        <p:nvSpPr>
          <p:cNvPr id="12" name="Text 10"/>
          <p:cNvSpPr/>
          <p:nvPr/>
        </p:nvSpPr>
        <p:spPr>
          <a:xfrm>
            <a:off x="3520440" y="4983480"/>
            <a:ext cx="2240280" cy="640080"/>
          </a:xfrm>
          <a:prstGeom prst="rect">
            <a:avLst/>
          </a:prstGeom>
          <a:noFill/>
          <a:ln/>
        </p:spPr>
        <p:txBody>
          <a:bodyPr wrap="square" lIns="0" tIns="0" rIns="0" bIns="0" rtlCol="0" anchor="ctr"/>
          <a:lstStyle/>
          <a:p>
            <a:pPr marL="0" indent="0" algn="ctr">
              <a:buNone/>
            </a:pPr>
            <a:r>
              <a:rPr lang="en-US" sz="1600" dirty="0">
                <a:solidFill>
                  <a:srgbClr val="4A4A4A"/>
                </a:solidFill>
                <a:latin typeface="Calibri" pitchFamily="34" charset="0"/>
                <a:ea typeface="Calibri" pitchFamily="34" charset="-122"/>
                <a:cs typeface="Calibri" pitchFamily="34" charset="-120"/>
              </a:rPr>
              <a:t>Other vendor</a:t>
            </a:r>
            <a:endParaRPr lang="en-US" sz="1600" dirty="0"/>
          </a:p>
        </p:txBody>
      </p:sp>
      <p:sp>
        <p:nvSpPr>
          <p:cNvPr id="13" name="Shape 11"/>
          <p:cNvSpPr/>
          <p:nvPr/>
        </p:nvSpPr>
        <p:spPr>
          <a:xfrm>
            <a:off x="6355080" y="4160520"/>
            <a:ext cx="2423160" cy="1965960"/>
          </a:xfrm>
          <a:prstGeom prst="roundRect">
            <a:avLst>
              <a:gd name="adj" fmla="val 3721"/>
            </a:avLst>
          </a:prstGeom>
          <a:solidFill>
            <a:srgbClr val="F6D6C6"/>
          </a:solidFill>
          <a:ln/>
        </p:spPr>
        <p:txBody>
          <a:bodyPr/>
          <a:lstStyle/>
          <a:p>
            <a:endParaRPr lang="en-GB"/>
          </a:p>
        </p:txBody>
      </p:sp>
      <p:sp>
        <p:nvSpPr>
          <p:cNvPr id="14" name="Text 12"/>
          <p:cNvSpPr/>
          <p:nvPr/>
        </p:nvSpPr>
        <p:spPr>
          <a:xfrm>
            <a:off x="6446520" y="4434840"/>
            <a:ext cx="2240280" cy="502920"/>
          </a:xfrm>
          <a:prstGeom prst="rect">
            <a:avLst/>
          </a:prstGeom>
          <a:noFill/>
          <a:ln/>
        </p:spPr>
        <p:txBody>
          <a:bodyPr wrap="square" lIns="0" tIns="0" rIns="0" bIns="0" rtlCol="0" anchor="ctr"/>
          <a:lstStyle/>
          <a:p>
            <a:pPr marL="0" indent="0" algn="ctr">
              <a:buNone/>
            </a:pPr>
            <a:r>
              <a:rPr lang="en-US" sz="2200" dirty="0">
                <a:solidFill>
                  <a:srgbClr val="2C2C2C"/>
                </a:solidFill>
                <a:latin typeface="Calibri" pitchFamily="34" charset="0"/>
                <a:ea typeface="Calibri" pitchFamily="34" charset="-122"/>
                <a:cs typeface="Calibri" pitchFamily="34" charset="-120"/>
              </a:rPr>
              <a:t>Money</a:t>
            </a:r>
            <a:endParaRPr lang="en-US" sz="2200" dirty="0"/>
          </a:p>
        </p:txBody>
      </p:sp>
      <p:sp>
        <p:nvSpPr>
          <p:cNvPr id="15" name="Text 13"/>
          <p:cNvSpPr/>
          <p:nvPr/>
        </p:nvSpPr>
        <p:spPr>
          <a:xfrm>
            <a:off x="6446520" y="4983480"/>
            <a:ext cx="2240280" cy="640080"/>
          </a:xfrm>
          <a:prstGeom prst="rect">
            <a:avLst/>
          </a:prstGeom>
          <a:noFill/>
          <a:ln/>
        </p:spPr>
        <p:txBody>
          <a:bodyPr wrap="square" lIns="0" tIns="0" rIns="0" bIns="0" rtlCol="0" anchor="ctr"/>
          <a:lstStyle/>
          <a:p>
            <a:pPr marL="0" indent="0" algn="ctr">
              <a:buNone/>
            </a:pPr>
            <a:r>
              <a:rPr lang="en-US" sz="1600" dirty="0">
                <a:solidFill>
                  <a:srgbClr val="4A4A4A"/>
                </a:solidFill>
                <a:latin typeface="Calibri" pitchFamily="34" charset="0"/>
                <a:ea typeface="Calibri" pitchFamily="34" charset="-122"/>
                <a:cs typeface="Calibri" pitchFamily="34" charset="-120"/>
              </a:rPr>
              <a:t>Other vendor</a:t>
            </a:r>
            <a:endParaRPr lang="en-US" sz="1600" dirty="0"/>
          </a:p>
        </p:txBody>
      </p:sp>
      <p:sp>
        <p:nvSpPr>
          <p:cNvPr id="16" name="Shape 14"/>
          <p:cNvSpPr/>
          <p:nvPr/>
        </p:nvSpPr>
        <p:spPr>
          <a:xfrm>
            <a:off x="9281160" y="4160520"/>
            <a:ext cx="2423160" cy="1965960"/>
          </a:xfrm>
          <a:prstGeom prst="roundRect">
            <a:avLst>
              <a:gd name="adj" fmla="val 3721"/>
            </a:avLst>
          </a:prstGeom>
          <a:solidFill>
            <a:srgbClr val="DDD0EE"/>
          </a:solidFill>
          <a:ln/>
        </p:spPr>
        <p:txBody>
          <a:bodyPr/>
          <a:lstStyle/>
          <a:p>
            <a:endParaRPr lang="en-GB"/>
          </a:p>
        </p:txBody>
      </p:sp>
      <p:sp>
        <p:nvSpPr>
          <p:cNvPr id="17" name="Text 15"/>
          <p:cNvSpPr/>
          <p:nvPr/>
        </p:nvSpPr>
        <p:spPr>
          <a:xfrm>
            <a:off x="9372600" y="4434840"/>
            <a:ext cx="2240280" cy="502920"/>
          </a:xfrm>
          <a:prstGeom prst="rect">
            <a:avLst/>
          </a:prstGeom>
          <a:noFill/>
          <a:ln/>
        </p:spPr>
        <p:txBody>
          <a:bodyPr wrap="square" lIns="0" tIns="0" rIns="0" bIns="0" rtlCol="0" anchor="ctr"/>
          <a:lstStyle/>
          <a:p>
            <a:pPr marL="0" indent="0" algn="ctr">
              <a:buNone/>
            </a:pPr>
            <a:r>
              <a:rPr lang="en-US" sz="2200" dirty="0">
                <a:solidFill>
                  <a:srgbClr val="2C2C2C"/>
                </a:solidFill>
                <a:latin typeface="Calibri" pitchFamily="34" charset="0"/>
                <a:ea typeface="Calibri" pitchFamily="34" charset="-122"/>
                <a:cs typeface="Calibri" pitchFamily="34" charset="-120"/>
              </a:rPr>
              <a:t>Local</a:t>
            </a:r>
            <a:endParaRPr lang="en-US" sz="2200" dirty="0"/>
          </a:p>
        </p:txBody>
      </p:sp>
      <p:sp>
        <p:nvSpPr>
          <p:cNvPr id="18" name="Text 16"/>
          <p:cNvSpPr/>
          <p:nvPr/>
        </p:nvSpPr>
        <p:spPr>
          <a:xfrm>
            <a:off x="9372600" y="4983480"/>
            <a:ext cx="2240280" cy="640080"/>
          </a:xfrm>
          <a:prstGeom prst="rect">
            <a:avLst/>
          </a:prstGeom>
          <a:noFill/>
          <a:ln/>
        </p:spPr>
        <p:txBody>
          <a:bodyPr wrap="square" lIns="0" tIns="0" rIns="0" bIns="0" rtlCol="0" anchor="ctr"/>
          <a:lstStyle/>
          <a:p>
            <a:pPr marL="0" indent="0" algn="ctr">
              <a:buNone/>
            </a:pPr>
            <a:r>
              <a:rPr lang="en-US" sz="1600" dirty="0">
                <a:solidFill>
                  <a:srgbClr val="4A4A4A"/>
                </a:solidFill>
                <a:latin typeface="Calibri" pitchFamily="34" charset="0"/>
                <a:ea typeface="Calibri" pitchFamily="34" charset="-122"/>
                <a:cs typeface="Calibri" pitchFamily="34" charset="-120"/>
              </a:rPr>
              <a:t>Other vendor</a:t>
            </a:r>
            <a:endParaRPr lang="en-US" sz="1600" dirty="0"/>
          </a:p>
        </p:txBody>
      </p:sp>
      <p:sp>
        <p:nvSpPr>
          <p:cNvPr id="19" name="Text 17"/>
          <p:cNvSpPr/>
          <p:nvPr/>
        </p:nvSpPr>
        <p:spPr>
          <a:xfrm>
            <a:off x="548640" y="2514600"/>
            <a:ext cx="11064240" cy="1280160"/>
          </a:xfrm>
          <a:prstGeom prst="rect">
            <a:avLst/>
          </a:prstGeom>
          <a:noFill/>
          <a:ln/>
        </p:spPr>
        <p:txBody>
          <a:bodyPr wrap="square" lIns="0" tIns="0" rIns="0" bIns="0" rtlCol="0" anchor="ctr"/>
          <a:lstStyle/>
          <a:p>
            <a:pPr marL="0" indent="0" algn="ctr">
              <a:buNone/>
            </a:pPr>
            <a:r>
              <a:rPr lang="en-US" sz="2000" dirty="0">
                <a:solidFill>
                  <a:srgbClr val="4A4A4A"/>
                </a:solidFill>
                <a:latin typeface="Calibri" pitchFamily="34" charset="0"/>
                <a:ea typeface="Calibri" pitchFamily="34" charset="-122"/>
                <a:cs typeface="Calibri" pitchFamily="34" charset="-120"/>
              </a:rPr>
              <a:t>No shared path. Each pair needs a custom link. That is slow, costly, and often unsafe.</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11064240" cy="457200"/>
          </a:xfrm>
          <a:prstGeom prst="rect">
            <a:avLst/>
          </a:prstGeom>
          <a:noFill/>
          <a:ln/>
        </p:spPr>
        <p:txBody>
          <a:bodyPr wrap="square" lIns="0" tIns="0" rIns="0" bIns="0" rtlCol="0" anchor="ctr"/>
          <a:lstStyle/>
          <a:p>
            <a:pPr marL="0" indent="0">
              <a:buNone/>
            </a:pPr>
            <a:r>
              <a:rPr lang="en-US" sz="3400" dirty="0">
                <a:solidFill>
                  <a:srgbClr val="2C2C2C"/>
                </a:solidFill>
                <a:latin typeface="Calibri" pitchFamily="34" charset="0"/>
                <a:ea typeface="Calibri" pitchFamily="34" charset="-122"/>
                <a:cs typeface="Calibri" pitchFamily="34" charset="-120"/>
              </a:rPr>
              <a:t>Why A2A helps</a:t>
            </a:r>
            <a:endParaRPr lang="en-US" sz="3400" dirty="0"/>
          </a:p>
        </p:txBody>
      </p:sp>
      <p:sp>
        <p:nvSpPr>
          <p:cNvPr id="3" name="Shape 1"/>
          <p:cNvSpPr/>
          <p:nvPr/>
        </p:nvSpPr>
        <p:spPr>
          <a:xfrm>
            <a:off x="502920" y="868680"/>
            <a:ext cx="5623560" cy="1737360"/>
          </a:xfrm>
          <a:prstGeom prst="roundRect">
            <a:avLst>
              <a:gd name="adj" fmla="val 4211"/>
            </a:avLst>
          </a:prstGeom>
          <a:solidFill>
            <a:srgbClr val="C5DDF0"/>
          </a:solidFill>
          <a:ln/>
        </p:spPr>
        <p:txBody>
          <a:bodyPr/>
          <a:lstStyle/>
          <a:p>
            <a:endParaRPr lang="en-GB"/>
          </a:p>
        </p:txBody>
      </p:sp>
      <p:sp>
        <p:nvSpPr>
          <p:cNvPr id="4" name="Text 2"/>
          <p:cNvSpPr/>
          <p:nvPr/>
        </p:nvSpPr>
        <p:spPr>
          <a:xfrm>
            <a:off x="667512" y="996696"/>
            <a:ext cx="529437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Work across teams</a:t>
            </a:r>
            <a:endParaRPr lang="en-US" sz="2000" dirty="0"/>
          </a:p>
        </p:txBody>
      </p:sp>
      <p:sp>
        <p:nvSpPr>
          <p:cNvPr id="5" name="Text 3"/>
          <p:cNvSpPr/>
          <p:nvPr/>
        </p:nvSpPr>
        <p:spPr>
          <a:xfrm>
            <a:off x="667512" y="1435608"/>
            <a:ext cx="5294376" cy="100584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Agents from different vendors can join one job without a shared runtime.</a:t>
            </a:r>
            <a:endParaRPr lang="en-US" sz="1600" dirty="0"/>
          </a:p>
        </p:txBody>
      </p:sp>
      <p:sp>
        <p:nvSpPr>
          <p:cNvPr id="6" name="Shape 4"/>
          <p:cNvSpPr/>
          <p:nvPr/>
        </p:nvSpPr>
        <p:spPr>
          <a:xfrm>
            <a:off x="6355080" y="868680"/>
            <a:ext cx="5623560" cy="1737360"/>
          </a:xfrm>
          <a:prstGeom prst="roundRect">
            <a:avLst>
              <a:gd name="adj" fmla="val 4211"/>
            </a:avLst>
          </a:prstGeom>
          <a:solidFill>
            <a:srgbClr val="C9E6D0"/>
          </a:solidFill>
          <a:ln/>
        </p:spPr>
        <p:txBody>
          <a:bodyPr/>
          <a:lstStyle/>
          <a:p>
            <a:endParaRPr lang="en-GB"/>
          </a:p>
        </p:txBody>
      </p:sp>
      <p:sp>
        <p:nvSpPr>
          <p:cNvPr id="7" name="Text 5"/>
          <p:cNvSpPr/>
          <p:nvPr/>
        </p:nvSpPr>
        <p:spPr>
          <a:xfrm>
            <a:off x="6519672" y="996696"/>
            <a:ext cx="529437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Less glue code</a:t>
            </a:r>
            <a:endParaRPr lang="en-US" sz="2000" dirty="0"/>
          </a:p>
        </p:txBody>
      </p:sp>
      <p:sp>
        <p:nvSpPr>
          <p:cNvPr id="8" name="Text 6"/>
          <p:cNvSpPr/>
          <p:nvPr/>
        </p:nvSpPr>
        <p:spPr>
          <a:xfrm>
            <a:off x="6519672" y="1435608"/>
            <a:ext cx="5294376" cy="100584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You write the agent once. Partners speak the same rules.</a:t>
            </a:r>
            <a:endParaRPr lang="en-US" sz="1600" dirty="0"/>
          </a:p>
        </p:txBody>
      </p:sp>
      <p:sp>
        <p:nvSpPr>
          <p:cNvPr id="9" name="Shape 7"/>
          <p:cNvSpPr/>
          <p:nvPr/>
        </p:nvSpPr>
        <p:spPr>
          <a:xfrm>
            <a:off x="502920" y="2743200"/>
            <a:ext cx="5623560" cy="1737360"/>
          </a:xfrm>
          <a:prstGeom prst="roundRect">
            <a:avLst>
              <a:gd name="adj" fmla="val 4211"/>
            </a:avLst>
          </a:prstGeom>
          <a:solidFill>
            <a:srgbClr val="F6D6C6"/>
          </a:solidFill>
          <a:ln/>
        </p:spPr>
        <p:txBody>
          <a:bodyPr/>
          <a:lstStyle/>
          <a:p>
            <a:endParaRPr lang="en-GB"/>
          </a:p>
        </p:txBody>
      </p:sp>
      <p:sp>
        <p:nvSpPr>
          <p:cNvPr id="10" name="Text 8"/>
          <p:cNvSpPr/>
          <p:nvPr/>
        </p:nvSpPr>
        <p:spPr>
          <a:xfrm>
            <a:off x="667512" y="2871216"/>
            <a:ext cx="529437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Long jobs are normal</a:t>
            </a:r>
            <a:endParaRPr lang="en-US" sz="2000" dirty="0"/>
          </a:p>
        </p:txBody>
      </p:sp>
      <p:sp>
        <p:nvSpPr>
          <p:cNvPr id="11" name="Text 9"/>
          <p:cNvSpPr/>
          <p:nvPr/>
        </p:nvSpPr>
        <p:spPr>
          <a:xfrm>
            <a:off x="667512" y="3310128"/>
            <a:ext cx="5294376" cy="100584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A task can run a long time and send status while it works.</a:t>
            </a:r>
            <a:endParaRPr lang="en-US" sz="1600" dirty="0"/>
          </a:p>
        </p:txBody>
      </p:sp>
      <p:sp>
        <p:nvSpPr>
          <p:cNvPr id="12" name="Shape 10"/>
          <p:cNvSpPr/>
          <p:nvPr/>
        </p:nvSpPr>
        <p:spPr>
          <a:xfrm>
            <a:off x="6355080" y="2743200"/>
            <a:ext cx="5623560" cy="1737360"/>
          </a:xfrm>
          <a:prstGeom prst="roundRect">
            <a:avLst>
              <a:gd name="adj" fmla="val 4211"/>
            </a:avLst>
          </a:prstGeom>
          <a:solidFill>
            <a:srgbClr val="DDD0EE"/>
          </a:solidFill>
          <a:ln/>
        </p:spPr>
        <p:txBody>
          <a:bodyPr/>
          <a:lstStyle/>
          <a:p>
            <a:endParaRPr lang="en-GB"/>
          </a:p>
        </p:txBody>
      </p:sp>
      <p:sp>
        <p:nvSpPr>
          <p:cNvPr id="13" name="Text 11"/>
          <p:cNvSpPr/>
          <p:nvPr/>
        </p:nvSpPr>
        <p:spPr>
          <a:xfrm>
            <a:off x="6519672" y="2871216"/>
            <a:ext cx="529437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Many kinds of content</a:t>
            </a:r>
            <a:endParaRPr lang="en-US" sz="2000" dirty="0"/>
          </a:p>
        </p:txBody>
      </p:sp>
      <p:sp>
        <p:nvSpPr>
          <p:cNvPr id="14" name="Text 12"/>
          <p:cNvSpPr/>
          <p:nvPr/>
        </p:nvSpPr>
        <p:spPr>
          <a:xfrm>
            <a:off x="6519672" y="3310128"/>
            <a:ext cx="5294376" cy="100584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Text, forms, files. Later also sound or video.</a:t>
            </a:r>
            <a:endParaRPr lang="en-US" sz="1600" dirty="0"/>
          </a:p>
        </p:txBody>
      </p:sp>
      <p:sp>
        <p:nvSpPr>
          <p:cNvPr id="15" name="Shape 13"/>
          <p:cNvSpPr/>
          <p:nvPr/>
        </p:nvSpPr>
        <p:spPr>
          <a:xfrm>
            <a:off x="502920" y="4617720"/>
            <a:ext cx="5623560" cy="1737360"/>
          </a:xfrm>
          <a:prstGeom prst="roundRect">
            <a:avLst>
              <a:gd name="adj" fmla="val 4211"/>
            </a:avLst>
          </a:prstGeom>
          <a:solidFill>
            <a:srgbClr val="F3E6B8"/>
          </a:solidFill>
          <a:ln/>
        </p:spPr>
        <p:txBody>
          <a:bodyPr/>
          <a:lstStyle/>
          <a:p>
            <a:endParaRPr lang="en-GB"/>
          </a:p>
        </p:txBody>
      </p:sp>
      <p:sp>
        <p:nvSpPr>
          <p:cNvPr id="16" name="Text 14"/>
          <p:cNvSpPr/>
          <p:nvPr/>
        </p:nvSpPr>
        <p:spPr>
          <a:xfrm>
            <a:off x="667512" y="4745736"/>
            <a:ext cx="529437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Inner work stays home</a:t>
            </a:r>
            <a:endParaRPr lang="en-US" sz="2000" dirty="0"/>
          </a:p>
        </p:txBody>
      </p:sp>
      <p:sp>
        <p:nvSpPr>
          <p:cNvPr id="17" name="Text 15"/>
          <p:cNvSpPr/>
          <p:nvPr/>
        </p:nvSpPr>
        <p:spPr>
          <a:xfrm>
            <a:off x="667512" y="5184648"/>
            <a:ext cx="5294376" cy="100584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You send the job. You get the result. Tools stay inside.</a:t>
            </a:r>
            <a:endParaRPr lang="en-US" sz="1600" dirty="0"/>
          </a:p>
        </p:txBody>
      </p:sp>
      <p:sp>
        <p:nvSpPr>
          <p:cNvPr id="18" name="Shape 16"/>
          <p:cNvSpPr/>
          <p:nvPr/>
        </p:nvSpPr>
        <p:spPr>
          <a:xfrm>
            <a:off x="6355080" y="4617720"/>
            <a:ext cx="5623560" cy="1737360"/>
          </a:xfrm>
          <a:prstGeom prst="roundRect">
            <a:avLst>
              <a:gd name="adj" fmla="val 4211"/>
            </a:avLst>
          </a:prstGeom>
          <a:solidFill>
            <a:srgbClr val="F3D0DC"/>
          </a:solidFill>
          <a:ln/>
        </p:spPr>
        <p:txBody>
          <a:bodyPr/>
          <a:lstStyle/>
          <a:p>
            <a:endParaRPr lang="en-GB"/>
          </a:p>
        </p:txBody>
      </p:sp>
      <p:sp>
        <p:nvSpPr>
          <p:cNvPr id="19" name="Text 17"/>
          <p:cNvSpPr/>
          <p:nvPr/>
        </p:nvSpPr>
        <p:spPr>
          <a:xfrm>
            <a:off x="6519672" y="4745736"/>
            <a:ext cx="529437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Same safety steps</a:t>
            </a:r>
            <a:endParaRPr lang="en-US" sz="2000" dirty="0"/>
          </a:p>
        </p:txBody>
      </p:sp>
      <p:sp>
        <p:nvSpPr>
          <p:cNvPr id="20" name="Text 18"/>
          <p:cNvSpPr/>
          <p:nvPr/>
        </p:nvSpPr>
        <p:spPr>
          <a:xfrm>
            <a:off x="6519672" y="5184648"/>
            <a:ext cx="5294376" cy="100584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Every partner uses the same login pattern and the same job id.</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11064240" cy="457200"/>
          </a:xfrm>
          <a:prstGeom prst="rect">
            <a:avLst/>
          </a:prstGeom>
          <a:noFill/>
          <a:ln/>
        </p:spPr>
        <p:txBody>
          <a:bodyPr wrap="square" lIns="0" tIns="0" rIns="0" bIns="0" rtlCol="0" anchor="ctr"/>
          <a:lstStyle/>
          <a:p>
            <a:pPr marL="0" indent="0">
              <a:buNone/>
            </a:pPr>
            <a:r>
              <a:rPr lang="en-US" sz="3200" dirty="0">
                <a:solidFill>
                  <a:srgbClr val="2C2C2C"/>
                </a:solidFill>
                <a:latin typeface="Calibri" pitchFamily="34" charset="0"/>
                <a:ea typeface="Calibri" pitchFamily="34" charset="-122"/>
                <a:cs typeface="Calibri" pitchFamily="34" charset="-120"/>
              </a:rPr>
              <a:t>When and where to use A2A</a:t>
            </a:r>
            <a:endParaRPr lang="en-US" sz="3200" dirty="0"/>
          </a:p>
        </p:txBody>
      </p:sp>
      <p:sp>
        <p:nvSpPr>
          <p:cNvPr id="3" name="Shape 1"/>
          <p:cNvSpPr/>
          <p:nvPr/>
        </p:nvSpPr>
        <p:spPr>
          <a:xfrm>
            <a:off x="502920" y="868680"/>
            <a:ext cx="5623560" cy="2651760"/>
          </a:xfrm>
          <a:prstGeom prst="roundRect">
            <a:avLst>
              <a:gd name="adj" fmla="val 2759"/>
            </a:avLst>
          </a:prstGeom>
          <a:solidFill>
            <a:srgbClr val="C9E6D0"/>
          </a:solidFill>
          <a:ln/>
        </p:spPr>
        <p:txBody>
          <a:bodyPr/>
          <a:lstStyle/>
          <a:p>
            <a:endParaRPr lang="en-GB"/>
          </a:p>
        </p:txBody>
      </p:sp>
      <p:sp>
        <p:nvSpPr>
          <p:cNvPr id="4" name="Text 2"/>
          <p:cNvSpPr/>
          <p:nvPr/>
        </p:nvSpPr>
        <p:spPr>
          <a:xfrm>
            <a:off x="667512" y="996696"/>
            <a:ext cx="529437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Use A2A when</a:t>
            </a:r>
            <a:endParaRPr lang="en-US" sz="2000" dirty="0"/>
          </a:p>
        </p:txBody>
      </p:sp>
      <p:sp>
        <p:nvSpPr>
          <p:cNvPr id="5" name="Text 3"/>
          <p:cNvSpPr/>
          <p:nvPr/>
        </p:nvSpPr>
        <p:spPr>
          <a:xfrm>
            <a:off x="667512" y="1435608"/>
            <a:ext cx="5294376" cy="192024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The other agent is outside your process. Another team, another company, or another tool. You need a job done, not a copy of their system.</a:t>
            </a:r>
            <a:endParaRPr lang="en-US" sz="1600" dirty="0"/>
          </a:p>
        </p:txBody>
      </p:sp>
      <p:sp>
        <p:nvSpPr>
          <p:cNvPr id="6" name="Shape 4"/>
          <p:cNvSpPr/>
          <p:nvPr/>
        </p:nvSpPr>
        <p:spPr>
          <a:xfrm>
            <a:off x="6309360" y="868680"/>
            <a:ext cx="5394960" cy="2651760"/>
          </a:xfrm>
          <a:prstGeom prst="roundRect">
            <a:avLst>
              <a:gd name="adj" fmla="val 2759"/>
            </a:avLst>
          </a:prstGeom>
          <a:solidFill>
            <a:srgbClr val="F6D6C6"/>
          </a:solidFill>
          <a:ln/>
        </p:spPr>
        <p:txBody>
          <a:bodyPr/>
          <a:lstStyle/>
          <a:p>
            <a:endParaRPr lang="en-GB"/>
          </a:p>
        </p:txBody>
      </p:sp>
      <p:sp>
        <p:nvSpPr>
          <p:cNvPr id="7" name="Text 5"/>
          <p:cNvSpPr/>
          <p:nvPr/>
        </p:nvSpPr>
        <p:spPr>
          <a:xfrm>
            <a:off x="6473952" y="996696"/>
            <a:ext cx="506577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Do not use A2A when</a:t>
            </a:r>
            <a:endParaRPr lang="en-US" sz="2000" dirty="0"/>
          </a:p>
        </p:txBody>
      </p:sp>
      <p:sp>
        <p:nvSpPr>
          <p:cNvPr id="8" name="Text 6"/>
          <p:cNvSpPr/>
          <p:nvPr/>
        </p:nvSpPr>
        <p:spPr>
          <a:xfrm>
            <a:off x="6473952" y="1435608"/>
            <a:ext cx="5065776" cy="192024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You only need your model to read your own database or files. That is a local tool job. Use MCP there.</a:t>
            </a:r>
            <a:endParaRPr lang="en-US" sz="1600" dirty="0"/>
          </a:p>
        </p:txBody>
      </p:sp>
      <p:sp>
        <p:nvSpPr>
          <p:cNvPr id="9" name="Shape 7"/>
          <p:cNvSpPr/>
          <p:nvPr/>
        </p:nvSpPr>
        <p:spPr>
          <a:xfrm>
            <a:off x="502920" y="3703320"/>
            <a:ext cx="5623560" cy="2606040"/>
          </a:xfrm>
          <a:prstGeom prst="roundRect">
            <a:avLst>
              <a:gd name="adj" fmla="val 2807"/>
            </a:avLst>
          </a:prstGeom>
          <a:solidFill>
            <a:srgbClr val="C5DDF0"/>
          </a:solidFill>
          <a:ln/>
        </p:spPr>
        <p:txBody>
          <a:bodyPr/>
          <a:lstStyle/>
          <a:p>
            <a:endParaRPr lang="en-GB"/>
          </a:p>
        </p:txBody>
      </p:sp>
      <p:sp>
        <p:nvSpPr>
          <p:cNvPr id="10" name="Text 8"/>
          <p:cNvSpPr/>
          <p:nvPr/>
        </p:nvSpPr>
        <p:spPr>
          <a:xfrm>
            <a:off x="667512" y="3831336"/>
            <a:ext cx="529437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Good places</a:t>
            </a:r>
            <a:endParaRPr lang="en-US" sz="2000" dirty="0"/>
          </a:p>
        </p:txBody>
      </p:sp>
      <p:sp>
        <p:nvSpPr>
          <p:cNvPr id="11" name="Text 9"/>
          <p:cNvSpPr/>
          <p:nvPr/>
        </p:nvSpPr>
        <p:spPr>
          <a:xfrm>
            <a:off x="667512" y="4270248"/>
            <a:ext cx="5294376" cy="187452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An order across pricing and shipping. Travel across vendors. Health records between providers. A locked specialist inside your own company.</a:t>
            </a:r>
            <a:endParaRPr lang="en-US" sz="1600" dirty="0"/>
          </a:p>
        </p:txBody>
      </p:sp>
      <p:sp>
        <p:nvSpPr>
          <p:cNvPr id="12" name="Shape 10"/>
          <p:cNvSpPr/>
          <p:nvPr/>
        </p:nvSpPr>
        <p:spPr>
          <a:xfrm>
            <a:off x="6309360" y="3703320"/>
            <a:ext cx="5394960" cy="2606040"/>
          </a:xfrm>
          <a:prstGeom prst="roundRect">
            <a:avLst>
              <a:gd name="adj" fmla="val 2807"/>
            </a:avLst>
          </a:prstGeom>
          <a:solidFill>
            <a:srgbClr val="DDD0EE"/>
          </a:solidFill>
          <a:ln/>
        </p:spPr>
        <p:txBody>
          <a:bodyPr/>
          <a:lstStyle/>
          <a:p>
            <a:endParaRPr lang="en-GB"/>
          </a:p>
        </p:txBody>
      </p:sp>
      <p:sp>
        <p:nvSpPr>
          <p:cNvPr id="13" name="Text 11"/>
          <p:cNvSpPr/>
          <p:nvPr/>
        </p:nvSpPr>
        <p:spPr>
          <a:xfrm>
            <a:off x="6473952" y="3831336"/>
            <a:ext cx="506577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Who builds with it</a:t>
            </a:r>
            <a:endParaRPr lang="en-US" sz="2000" dirty="0"/>
          </a:p>
        </p:txBody>
      </p:sp>
      <p:sp>
        <p:nvSpPr>
          <p:cNvPr id="14" name="Text 12"/>
          <p:cNvSpPr/>
          <p:nvPr/>
        </p:nvSpPr>
        <p:spPr>
          <a:xfrm>
            <a:off x="6473952" y="4270248"/>
            <a:ext cx="5065776" cy="187452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Teams on LangGraph, CrewAI, Google ADK, or custom code. SDKs exist for Python, JavaScript, Java, Go, and more.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01168"/>
            <a:ext cx="11064240" cy="438912"/>
          </a:xfrm>
          <a:prstGeom prst="rect">
            <a:avLst/>
          </a:prstGeom>
          <a:noFill/>
          <a:ln/>
        </p:spPr>
        <p:txBody>
          <a:bodyPr wrap="square" lIns="0" tIns="0" rIns="0" bIns="0" rtlCol="0" anchor="ctr"/>
          <a:lstStyle/>
          <a:p>
            <a:pPr marL="0" indent="0">
              <a:buNone/>
            </a:pPr>
            <a:r>
              <a:rPr lang="en-US" sz="3000" dirty="0">
                <a:solidFill>
                  <a:srgbClr val="2C2C2C"/>
                </a:solidFill>
                <a:latin typeface="Calibri" pitchFamily="34" charset="0"/>
                <a:ea typeface="Calibri" pitchFamily="34" charset="-122"/>
                <a:cs typeface="Calibri" pitchFamily="34" charset="-120"/>
              </a:rPr>
              <a:t>A2A and MCP do different jobs</a:t>
            </a:r>
            <a:endParaRPr lang="en-US" sz="3000" dirty="0"/>
          </a:p>
        </p:txBody>
      </p:sp>
      <p:sp>
        <p:nvSpPr>
          <p:cNvPr id="3" name="Text 1"/>
          <p:cNvSpPr/>
          <p:nvPr/>
        </p:nvSpPr>
        <p:spPr>
          <a:xfrm>
            <a:off x="502920" y="731520"/>
            <a:ext cx="5212080" cy="347472"/>
          </a:xfrm>
          <a:prstGeom prst="rect">
            <a:avLst/>
          </a:prstGeom>
          <a:noFill/>
          <a:ln/>
        </p:spPr>
        <p:txBody>
          <a:bodyPr wrap="square" lIns="0" tIns="0" rIns="0" bIns="0" rtlCol="0" anchor="ctr"/>
          <a:lstStyle/>
          <a:p>
            <a:pPr marL="0" indent="0" algn="ctr">
              <a:buNone/>
            </a:pPr>
            <a:r>
              <a:rPr lang="en-US" sz="1800" dirty="0">
                <a:solidFill>
                  <a:srgbClr val="2C2C2C"/>
                </a:solidFill>
                <a:latin typeface="Calibri" pitchFamily="34" charset="0"/>
                <a:ea typeface="Calibri" pitchFamily="34" charset="-122"/>
                <a:cs typeface="Calibri" pitchFamily="34" charset="-120"/>
              </a:rPr>
              <a:t>Your company</a:t>
            </a:r>
            <a:endParaRPr lang="en-US" sz="1800" dirty="0"/>
          </a:p>
        </p:txBody>
      </p:sp>
      <p:sp>
        <p:nvSpPr>
          <p:cNvPr id="4" name="Text 2"/>
          <p:cNvSpPr/>
          <p:nvPr/>
        </p:nvSpPr>
        <p:spPr>
          <a:xfrm>
            <a:off x="6492240" y="731520"/>
            <a:ext cx="5212080" cy="347472"/>
          </a:xfrm>
          <a:prstGeom prst="rect">
            <a:avLst/>
          </a:prstGeom>
          <a:noFill/>
          <a:ln/>
        </p:spPr>
        <p:txBody>
          <a:bodyPr wrap="square" lIns="0" tIns="0" rIns="0" bIns="0" rtlCol="0" anchor="ctr"/>
          <a:lstStyle/>
          <a:p>
            <a:pPr marL="0" indent="0" algn="ctr">
              <a:buNone/>
            </a:pPr>
            <a:r>
              <a:rPr lang="en-US" sz="1800" dirty="0">
                <a:solidFill>
                  <a:srgbClr val="2C2C2C"/>
                </a:solidFill>
                <a:latin typeface="Calibri" pitchFamily="34" charset="0"/>
                <a:ea typeface="Calibri" pitchFamily="34" charset="-122"/>
                <a:cs typeface="Calibri" pitchFamily="34" charset="-120"/>
              </a:rPr>
              <a:t>Their company</a:t>
            </a:r>
            <a:endParaRPr lang="en-US" sz="1800" dirty="0"/>
          </a:p>
        </p:txBody>
      </p:sp>
      <p:sp>
        <p:nvSpPr>
          <p:cNvPr id="5" name="Shape 3"/>
          <p:cNvSpPr/>
          <p:nvPr/>
        </p:nvSpPr>
        <p:spPr>
          <a:xfrm>
            <a:off x="502920" y="1143000"/>
            <a:ext cx="5212080" cy="1371600"/>
          </a:xfrm>
          <a:prstGeom prst="roundRect">
            <a:avLst>
              <a:gd name="adj" fmla="val 5333"/>
            </a:avLst>
          </a:prstGeom>
          <a:solidFill>
            <a:srgbClr val="DDD0EE"/>
          </a:solidFill>
          <a:ln/>
        </p:spPr>
        <p:txBody>
          <a:bodyPr/>
          <a:lstStyle/>
          <a:p>
            <a:endParaRPr lang="en-GB"/>
          </a:p>
        </p:txBody>
      </p:sp>
      <p:sp>
        <p:nvSpPr>
          <p:cNvPr id="6" name="Text 4"/>
          <p:cNvSpPr/>
          <p:nvPr/>
        </p:nvSpPr>
        <p:spPr>
          <a:xfrm>
            <a:off x="667512" y="1271016"/>
            <a:ext cx="488289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A2A agent</a:t>
            </a:r>
            <a:endParaRPr lang="en-US" sz="2000" dirty="0"/>
          </a:p>
        </p:txBody>
      </p:sp>
      <p:sp>
        <p:nvSpPr>
          <p:cNvPr id="7" name="Text 5"/>
          <p:cNvSpPr/>
          <p:nvPr/>
        </p:nvSpPr>
        <p:spPr>
          <a:xfrm>
            <a:off x="667512" y="1709928"/>
            <a:ext cx="4882896" cy="64008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Asks the other agent for help.</a:t>
            </a:r>
            <a:endParaRPr lang="en-US" sz="1600" dirty="0"/>
          </a:p>
        </p:txBody>
      </p:sp>
      <p:sp>
        <p:nvSpPr>
          <p:cNvPr id="8" name="Shape 6"/>
          <p:cNvSpPr/>
          <p:nvPr/>
        </p:nvSpPr>
        <p:spPr>
          <a:xfrm>
            <a:off x="6492240" y="1143000"/>
            <a:ext cx="5212080" cy="1371600"/>
          </a:xfrm>
          <a:prstGeom prst="roundRect">
            <a:avLst>
              <a:gd name="adj" fmla="val 5333"/>
            </a:avLst>
          </a:prstGeom>
          <a:solidFill>
            <a:srgbClr val="DDD0EE"/>
          </a:solidFill>
          <a:ln/>
        </p:spPr>
        <p:txBody>
          <a:bodyPr/>
          <a:lstStyle/>
          <a:p>
            <a:endParaRPr lang="en-GB"/>
          </a:p>
        </p:txBody>
      </p:sp>
      <p:sp>
        <p:nvSpPr>
          <p:cNvPr id="9" name="Text 7"/>
          <p:cNvSpPr/>
          <p:nvPr/>
        </p:nvSpPr>
        <p:spPr>
          <a:xfrm>
            <a:off x="6656832" y="1271016"/>
            <a:ext cx="488289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A2A agent</a:t>
            </a:r>
            <a:endParaRPr lang="en-US" sz="2000" dirty="0"/>
          </a:p>
        </p:txBody>
      </p:sp>
      <p:sp>
        <p:nvSpPr>
          <p:cNvPr id="10" name="Text 8"/>
          <p:cNvSpPr/>
          <p:nvPr/>
        </p:nvSpPr>
        <p:spPr>
          <a:xfrm>
            <a:off x="6656832" y="1709928"/>
            <a:ext cx="4882896" cy="64008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Does the work and sends the result.</a:t>
            </a:r>
            <a:endParaRPr lang="en-US" sz="1600" dirty="0"/>
          </a:p>
        </p:txBody>
      </p:sp>
      <p:sp>
        <p:nvSpPr>
          <p:cNvPr id="11" name="Shape 9"/>
          <p:cNvSpPr/>
          <p:nvPr/>
        </p:nvSpPr>
        <p:spPr>
          <a:xfrm>
            <a:off x="5806440" y="1737360"/>
            <a:ext cx="329184" cy="182880"/>
          </a:xfrm>
          <a:prstGeom prst="rightArrow">
            <a:avLst/>
          </a:prstGeom>
          <a:solidFill>
            <a:srgbClr val="C8C2B8"/>
          </a:solidFill>
          <a:ln/>
        </p:spPr>
        <p:txBody>
          <a:bodyPr/>
          <a:lstStyle/>
          <a:p>
            <a:endParaRPr lang="en-GB"/>
          </a:p>
        </p:txBody>
      </p:sp>
      <p:sp>
        <p:nvSpPr>
          <p:cNvPr id="12" name="Shape 10"/>
          <p:cNvSpPr/>
          <p:nvPr/>
        </p:nvSpPr>
        <p:spPr>
          <a:xfrm>
            <a:off x="502920" y="2697480"/>
            <a:ext cx="5212080" cy="1371600"/>
          </a:xfrm>
          <a:prstGeom prst="roundRect">
            <a:avLst>
              <a:gd name="adj" fmla="val 5333"/>
            </a:avLst>
          </a:prstGeom>
          <a:solidFill>
            <a:srgbClr val="D0EBE3"/>
          </a:solidFill>
          <a:ln/>
        </p:spPr>
        <p:txBody>
          <a:bodyPr/>
          <a:lstStyle/>
          <a:p>
            <a:endParaRPr lang="en-GB"/>
          </a:p>
        </p:txBody>
      </p:sp>
      <p:sp>
        <p:nvSpPr>
          <p:cNvPr id="13" name="Text 11"/>
          <p:cNvSpPr/>
          <p:nvPr/>
        </p:nvSpPr>
        <p:spPr>
          <a:xfrm>
            <a:off x="667512" y="2825496"/>
            <a:ext cx="488289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MCP tools</a:t>
            </a:r>
            <a:endParaRPr lang="en-US" sz="2000" dirty="0"/>
          </a:p>
        </p:txBody>
      </p:sp>
      <p:sp>
        <p:nvSpPr>
          <p:cNvPr id="14" name="Text 12"/>
          <p:cNvSpPr/>
          <p:nvPr/>
        </p:nvSpPr>
        <p:spPr>
          <a:xfrm>
            <a:off x="667512" y="3264408"/>
            <a:ext cx="4882896" cy="64008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Your database, files, local tools.</a:t>
            </a:r>
            <a:endParaRPr lang="en-US" sz="1600" dirty="0"/>
          </a:p>
        </p:txBody>
      </p:sp>
      <p:sp>
        <p:nvSpPr>
          <p:cNvPr id="15" name="Shape 13"/>
          <p:cNvSpPr/>
          <p:nvPr/>
        </p:nvSpPr>
        <p:spPr>
          <a:xfrm>
            <a:off x="6492240" y="2697480"/>
            <a:ext cx="5212080" cy="1371600"/>
          </a:xfrm>
          <a:prstGeom prst="roundRect">
            <a:avLst>
              <a:gd name="adj" fmla="val 5333"/>
            </a:avLst>
          </a:prstGeom>
          <a:solidFill>
            <a:srgbClr val="D0EBE3"/>
          </a:solidFill>
          <a:ln/>
        </p:spPr>
        <p:txBody>
          <a:bodyPr/>
          <a:lstStyle/>
          <a:p>
            <a:endParaRPr lang="en-GB"/>
          </a:p>
        </p:txBody>
      </p:sp>
      <p:sp>
        <p:nvSpPr>
          <p:cNvPr id="16" name="Text 14"/>
          <p:cNvSpPr/>
          <p:nvPr/>
        </p:nvSpPr>
        <p:spPr>
          <a:xfrm>
            <a:off x="6656832" y="2825496"/>
            <a:ext cx="488289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MCP tools</a:t>
            </a:r>
            <a:endParaRPr lang="en-US" sz="2000" dirty="0"/>
          </a:p>
        </p:txBody>
      </p:sp>
      <p:sp>
        <p:nvSpPr>
          <p:cNvPr id="17" name="Text 15"/>
          <p:cNvSpPr/>
          <p:nvPr/>
        </p:nvSpPr>
        <p:spPr>
          <a:xfrm>
            <a:off x="6656832" y="3264408"/>
            <a:ext cx="4882896" cy="64008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Their database, files, local tools.</a:t>
            </a:r>
            <a:endParaRPr lang="en-US" sz="1600" dirty="0"/>
          </a:p>
        </p:txBody>
      </p:sp>
      <p:sp>
        <p:nvSpPr>
          <p:cNvPr id="18" name="Shape 16"/>
          <p:cNvSpPr/>
          <p:nvPr/>
        </p:nvSpPr>
        <p:spPr>
          <a:xfrm>
            <a:off x="502920" y="4251960"/>
            <a:ext cx="5212080" cy="1417320"/>
          </a:xfrm>
          <a:prstGeom prst="roundRect">
            <a:avLst>
              <a:gd name="adj" fmla="val 5161"/>
            </a:avLst>
          </a:prstGeom>
          <a:solidFill>
            <a:srgbClr val="F3E6B8"/>
          </a:solidFill>
          <a:ln/>
        </p:spPr>
        <p:txBody>
          <a:bodyPr/>
          <a:lstStyle/>
          <a:p>
            <a:endParaRPr lang="en-GB"/>
          </a:p>
        </p:txBody>
      </p:sp>
      <p:sp>
        <p:nvSpPr>
          <p:cNvPr id="19" name="Text 17"/>
          <p:cNvSpPr/>
          <p:nvPr/>
        </p:nvSpPr>
        <p:spPr>
          <a:xfrm>
            <a:off x="667512" y="4379976"/>
            <a:ext cx="488289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Your data</a:t>
            </a:r>
            <a:endParaRPr lang="en-US" sz="2000" dirty="0"/>
          </a:p>
        </p:txBody>
      </p:sp>
      <p:sp>
        <p:nvSpPr>
          <p:cNvPr id="20" name="Text 18"/>
          <p:cNvSpPr/>
          <p:nvPr/>
        </p:nvSpPr>
        <p:spPr>
          <a:xfrm>
            <a:off x="667512" y="4818888"/>
            <a:ext cx="4882896" cy="68580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Stays inside your wall.</a:t>
            </a:r>
            <a:endParaRPr lang="en-US" sz="1600" dirty="0"/>
          </a:p>
        </p:txBody>
      </p:sp>
      <p:sp>
        <p:nvSpPr>
          <p:cNvPr id="21" name="Shape 19"/>
          <p:cNvSpPr/>
          <p:nvPr/>
        </p:nvSpPr>
        <p:spPr>
          <a:xfrm>
            <a:off x="6492240" y="4251960"/>
            <a:ext cx="5212080" cy="1417320"/>
          </a:xfrm>
          <a:prstGeom prst="roundRect">
            <a:avLst>
              <a:gd name="adj" fmla="val 5161"/>
            </a:avLst>
          </a:prstGeom>
          <a:solidFill>
            <a:srgbClr val="F3E6B8"/>
          </a:solidFill>
          <a:ln/>
        </p:spPr>
        <p:txBody>
          <a:bodyPr/>
          <a:lstStyle/>
          <a:p>
            <a:endParaRPr lang="en-GB"/>
          </a:p>
        </p:txBody>
      </p:sp>
      <p:sp>
        <p:nvSpPr>
          <p:cNvPr id="22" name="Text 20"/>
          <p:cNvSpPr/>
          <p:nvPr/>
        </p:nvSpPr>
        <p:spPr>
          <a:xfrm>
            <a:off x="6656832" y="4379976"/>
            <a:ext cx="488289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Their data</a:t>
            </a:r>
            <a:endParaRPr lang="en-US" sz="2000" dirty="0"/>
          </a:p>
        </p:txBody>
      </p:sp>
      <p:sp>
        <p:nvSpPr>
          <p:cNvPr id="23" name="Text 21"/>
          <p:cNvSpPr/>
          <p:nvPr/>
        </p:nvSpPr>
        <p:spPr>
          <a:xfrm>
            <a:off x="6656832" y="4818888"/>
            <a:ext cx="4882896" cy="68580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Stays inside their wall.</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182880"/>
            <a:ext cx="11064240" cy="411480"/>
          </a:xfrm>
          <a:prstGeom prst="rect">
            <a:avLst/>
          </a:prstGeom>
          <a:noFill/>
          <a:ln/>
        </p:spPr>
        <p:txBody>
          <a:bodyPr wrap="square" lIns="0" tIns="0" rIns="0" bIns="0" rtlCol="0" anchor="ctr"/>
          <a:lstStyle/>
          <a:p>
            <a:pPr marL="0" indent="0">
              <a:buNone/>
            </a:pPr>
            <a:r>
              <a:rPr lang="en-US" sz="3200" dirty="0">
                <a:solidFill>
                  <a:srgbClr val="2C2C2C"/>
                </a:solidFill>
                <a:latin typeface="Calibri" pitchFamily="34" charset="0"/>
                <a:ea typeface="Calibri" pitchFamily="34" charset="-122"/>
                <a:cs typeface="Calibri" pitchFamily="34" charset="-120"/>
              </a:rPr>
              <a:t>The main pieces</a:t>
            </a:r>
            <a:endParaRPr lang="en-US" sz="3200" dirty="0"/>
          </a:p>
        </p:txBody>
      </p:sp>
      <p:sp>
        <p:nvSpPr>
          <p:cNvPr id="3" name="Shape 1"/>
          <p:cNvSpPr/>
          <p:nvPr/>
        </p:nvSpPr>
        <p:spPr>
          <a:xfrm>
            <a:off x="457200" y="731520"/>
            <a:ext cx="2761488" cy="2331720"/>
          </a:xfrm>
          <a:prstGeom prst="roundRect">
            <a:avLst>
              <a:gd name="adj" fmla="val 3137"/>
            </a:avLst>
          </a:prstGeom>
          <a:solidFill>
            <a:srgbClr val="C5DDF0"/>
          </a:solidFill>
          <a:ln/>
        </p:spPr>
        <p:txBody>
          <a:bodyPr/>
          <a:lstStyle/>
          <a:p>
            <a:endParaRPr lang="en-GB"/>
          </a:p>
        </p:txBody>
      </p:sp>
      <p:sp>
        <p:nvSpPr>
          <p:cNvPr id="4" name="Text 2"/>
          <p:cNvSpPr/>
          <p:nvPr/>
        </p:nvSpPr>
        <p:spPr>
          <a:xfrm>
            <a:off x="621792" y="859536"/>
            <a:ext cx="2432304"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Agent Card</a:t>
            </a:r>
            <a:endParaRPr lang="en-US" sz="2000" dirty="0"/>
          </a:p>
        </p:txBody>
      </p:sp>
      <p:sp>
        <p:nvSpPr>
          <p:cNvPr id="5" name="Text 3"/>
          <p:cNvSpPr/>
          <p:nvPr/>
        </p:nvSpPr>
        <p:spPr>
          <a:xfrm>
            <a:off x="621792" y="1298448"/>
            <a:ext cx="2432304" cy="160020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Who they are, what they can do, where to call, how to log in.</a:t>
            </a:r>
            <a:endParaRPr lang="en-US" sz="1600" dirty="0"/>
          </a:p>
        </p:txBody>
      </p:sp>
      <p:sp>
        <p:nvSpPr>
          <p:cNvPr id="6" name="Shape 4"/>
          <p:cNvSpPr/>
          <p:nvPr/>
        </p:nvSpPr>
        <p:spPr>
          <a:xfrm>
            <a:off x="3236976" y="1783080"/>
            <a:ext cx="329184" cy="182880"/>
          </a:xfrm>
          <a:prstGeom prst="rightArrow">
            <a:avLst/>
          </a:prstGeom>
          <a:solidFill>
            <a:srgbClr val="C8C2B8"/>
          </a:solidFill>
          <a:ln/>
        </p:spPr>
        <p:txBody>
          <a:bodyPr/>
          <a:lstStyle/>
          <a:p>
            <a:endParaRPr lang="en-GB"/>
          </a:p>
        </p:txBody>
      </p:sp>
      <p:sp>
        <p:nvSpPr>
          <p:cNvPr id="7" name="Shape 5"/>
          <p:cNvSpPr/>
          <p:nvPr/>
        </p:nvSpPr>
        <p:spPr>
          <a:xfrm>
            <a:off x="3383280" y="731520"/>
            <a:ext cx="2761488" cy="2331720"/>
          </a:xfrm>
          <a:prstGeom prst="roundRect">
            <a:avLst>
              <a:gd name="adj" fmla="val 3137"/>
            </a:avLst>
          </a:prstGeom>
          <a:solidFill>
            <a:srgbClr val="C9E6D0"/>
          </a:solidFill>
          <a:ln/>
        </p:spPr>
        <p:txBody>
          <a:bodyPr/>
          <a:lstStyle/>
          <a:p>
            <a:endParaRPr lang="en-GB"/>
          </a:p>
        </p:txBody>
      </p:sp>
      <p:sp>
        <p:nvSpPr>
          <p:cNvPr id="8" name="Text 6"/>
          <p:cNvSpPr/>
          <p:nvPr/>
        </p:nvSpPr>
        <p:spPr>
          <a:xfrm>
            <a:off x="3547872" y="859536"/>
            <a:ext cx="2432304"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Task</a:t>
            </a:r>
            <a:endParaRPr lang="en-US" sz="2000" dirty="0"/>
          </a:p>
        </p:txBody>
      </p:sp>
      <p:sp>
        <p:nvSpPr>
          <p:cNvPr id="9" name="Text 7"/>
          <p:cNvSpPr/>
          <p:nvPr/>
        </p:nvSpPr>
        <p:spPr>
          <a:xfrm>
            <a:off x="3547872" y="1298448"/>
            <a:ext cx="2432304" cy="160020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One job with an id. You can follow it over time.</a:t>
            </a:r>
            <a:endParaRPr lang="en-US" sz="1600" dirty="0"/>
          </a:p>
        </p:txBody>
      </p:sp>
      <p:sp>
        <p:nvSpPr>
          <p:cNvPr id="10" name="Shape 8"/>
          <p:cNvSpPr/>
          <p:nvPr/>
        </p:nvSpPr>
        <p:spPr>
          <a:xfrm>
            <a:off x="6163056" y="1783080"/>
            <a:ext cx="329184" cy="182880"/>
          </a:xfrm>
          <a:prstGeom prst="rightArrow">
            <a:avLst/>
          </a:prstGeom>
          <a:solidFill>
            <a:srgbClr val="C8C2B8"/>
          </a:solidFill>
          <a:ln/>
        </p:spPr>
        <p:txBody>
          <a:bodyPr/>
          <a:lstStyle/>
          <a:p>
            <a:endParaRPr lang="en-GB"/>
          </a:p>
        </p:txBody>
      </p:sp>
      <p:sp>
        <p:nvSpPr>
          <p:cNvPr id="11" name="Shape 9"/>
          <p:cNvSpPr/>
          <p:nvPr/>
        </p:nvSpPr>
        <p:spPr>
          <a:xfrm>
            <a:off x="6309360" y="731520"/>
            <a:ext cx="2761488" cy="2331720"/>
          </a:xfrm>
          <a:prstGeom prst="roundRect">
            <a:avLst>
              <a:gd name="adj" fmla="val 3137"/>
            </a:avLst>
          </a:prstGeom>
          <a:solidFill>
            <a:srgbClr val="F6D6C6"/>
          </a:solidFill>
          <a:ln/>
        </p:spPr>
        <p:txBody>
          <a:bodyPr/>
          <a:lstStyle/>
          <a:p>
            <a:endParaRPr lang="en-GB"/>
          </a:p>
        </p:txBody>
      </p:sp>
      <p:sp>
        <p:nvSpPr>
          <p:cNvPr id="12" name="Text 10"/>
          <p:cNvSpPr/>
          <p:nvPr/>
        </p:nvSpPr>
        <p:spPr>
          <a:xfrm>
            <a:off x="6473952" y="859536"/>
            <a:ext cx="2432304"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Message</a:t>
            </a:r>
            <a:endParaRPr lang="en-US" sz="2000" dirty="0"/>
          </a:p>
        </p:txBody>
      </p:sp>
      <p:sp>
        <p:nvSpPr>
          <p:cNvPr id="13" name="Text 11"/>
          <p:cNvSpPr/>
          <p:nvPr/>
        </p:nvSpPr>
        <p:spPr>
          <a:xfrm>
            <a:off x="6473952" y="1298448"/>
            <a:ext cx="2432304" cy="160020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One turn. A question, an answer, a file, a form.</a:t>
            </a:r>
            <a:endParaRPr lang="en-US" sz="1600" dirty="0"/>
          </a:p>
        </p:txBody>
      </p:sp>
      <p:sp>
        <p:nvSpPr>
          <p:cNvPr id="14" name="Shape 12"/>
          <p:cNvSpPr/>
          <p:nvPr/>
        </p:nvSpPr>
        <p:spPr>
          <a:xfrm>
            <a:off x="9089136" y="1783080"/>
            <a:ext cx="329184" cy="182880"/>
          </a:xfrm>
          <a:prstGeom prst="rightArrow">
            <a:avLst/>
          </a:prstGeom>
          <a:solidFill>
            <a:srgbClr val="C8C2B8"/>
          </a:solidFill>
          <a:ln/>
        </p:spPr>
        <p:txBody>
          <a:bodyPr/>
          <a:lstStyle/>
          <a:p>
            <a:endParaRPr lang="en-GB"/>
          </a:p>
        </p:txBody>
      </p:sp>
      <p:sp>
        <p:nvSpPr>
          <p:cNvPr id="15" name="Shape 13"/>
          <p:cNvSpPr/>
          <p:nvPr/>
        </p:nvSpPr>
        <p:spPr>
          <a:xfrm>
            <a:off x="9235440" y="731520"/>
            <a:ext cx="2761488" cy="2331720"/>
          </a:xfrm>
          <a:prstGeom prst="roundRect">
            <a:avLst>
              <a:gd name="adj" fmla="val 3137"/>
            </a:avLst>
          </a:prstGeom>
          <a:solidFill>
            <a:srgbClr val="DDD0EE"/>
          </a:solidFill>
          <a:ln/>
        </p:spPr>
        <p:txBody>
          <a:bodyPr/>
          <a:lstStyle/>
          <a:p>
            <a:endParaRPr lang="en-GB"/>
          </a:p>
        </p:txBody>
      </p:sp>
      <p:sp>
        <p:nvSpPr>
          <p:cNvPr id="16" name="Text 14"/>
          <p:cNvSpPr/>
          <p:nvPr/>
        </p:nvSpPr>
        <p:spPr>
          <a:xfrm>
            <a:off x="9400032" y="859536"/>
            <a:ext cx="2432304"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Result</a:t>
            </a:r>
            <a:endParaRPr lang="en-US" sz="2000" dirty="0"/>
          </a:p>
        </p:txBody>
      </p:sp>
      <p:sp>
        <p:nvSpPr>
          <p:cNvPr id="17" name="Text 15"/>
          <p:cNvSpPr/>
          <p:nvPr/>
        </p:nvSpPr>
        <p:spPr>
          <a:xfrm>
            <a:off x="9400032" y="1298448"/>
            <a:ext cx="2432304" cy="160020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The finished output. This is what you take home.</a:t>
            </a:r>
            <a:endParaRPr lang="en-US" sz="1600" dirty="0"/>
          </a:p>
        </p:txBody>
      </p:sp>
      <p:sp>
        <p:nvSpPr>
          <p:cNvPr id="18" name="Text 16"/>
          <p:cNvSpPr/>
          <p:nvPr/>
        </p:nvSpPr>
        <p:spPr>
          <a:xfrm>
            <a:off x="548640" y="3246120"/>
            <a:ext cx="11064240" cy="365760"/>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Status of a task</a:t>
            </a:r>
            <a:endParaRPr lang="en-US" sz="2000" dirty="0"/>
          </a:p>
        </p:txBody>
      </p:sp>
      <p:sp>
        <p:nvSpPr>
          <p:cNvPr id="19" name="Shape 17"/>
          <p:cNvSpPr/>
          <p:nvPr/>
        </p:nvSpPr>
        <p:spPr>
          <a:xfrm>
            <a:off x="457200" y="3749040"/>
            <a:ext cx="2176272" cy="2286000"/>
          </a:xfrm>
          <a:prstGeom prst="roundRect">
            <a:avLst>
              <a:gd name="adj" fmla="val 3361"/>
            </a:avLst>
          </a:prstGeom>
          <a:solidFill>
            <a:srgbClr val="F3E6B8"/>
          </a:solidFill>
          <a:ln/>
        </p:spPr>
        <p:txBody>
          <a:bodyPr/>
          <a:lstStyle/>
          <a:p>
            <a:endParaRPr lang="en-GB"/>
          </a:p>
        </p:txBody>
      </p:sp>
      <p:sp>
        <p:nvSpPr>
          <p:cNvPr id="20" name="Text 18"/>
          <p:cNvSpPr/>
          <p:nvPr/>
        </p:nvSpPr>
        <p:spPr>
          <a:xfrm>
            <a:off x="530352" y="4572000"/>
            <a:ext cx="2029968" cy="640080"/>
          </a:xfrm>
          <a:prstGeom prst="rect">
            <a:avLst/>
          </a:prstGeom>
          <a:noFill/>
          <a:ln/>
        </p:spPr>
        <p:txBody>
          <a:bodyPr wrap="square" lIns="0" tIns="0" rIns="0" bIns="0" rtlCol="0" anchor="ctr"/>
          <a:lstStyle/>
          <a:p>
            <a:pPr marL="0" indent="0" algn="ctr">
              <a:buNone/>
            </a:pPr>
            <a:r>
              <a:rPr lang="en-US" sz="2000" dirty="0">
                <a:solidFill>
                  <a:srgbClr val="2C2C2C"/>
                </a:solidFill>
                <a:latin typeface="Calibri" pitchFamily="34" charset="0"/>
                <a:ea typeface="Calibri" pitchFamily="34" charset="-122"/>
                <a:cs typeface="Calibri" pitchFamily="34" charset="-120"/>
              </a:rPr>
              <a:t>Submitted</a:t>
            </a:r>
            <a:endParaRPr lang="en-US" sz="2000" dirty="0"/>
          </a:p>
        </p:txBody>
      </p:sp>
      <p:sp>
        <p:nvSpPr>
          <p:cNvPr id="21" name="Shape 19"/>
          <p:cNvSpPr/>
          <p:nvPr/>
        </p:nvSpPr>
        <p:spPr>
          <a:xfrm>
            <a:off x="2651760" y="4754880"/>
            <a:ext cx="329184" cy="182880"/>
          </a:xfrm>
          <a:prstGeom prst="rightArrow">
            <a:avLst/>
          </a:prstGeom>
          <a:solidFill>
            <a:srgbClr val="C8C2B8"/>
          </a:solidFill>
          <a:ln/>
        </p:spPr>
        <p:txBody>
          <a:bodyPr/>
          <a:lstStyle/>
          <a:p>
            <a:endParaRPr lang="en-GB"/>
          </a:p>
        </p:txBody>
      </p:sp>
      <p:sp>
        <p:nvSpPr>
          <p:cNvPr id="22" name="Shape 20"/>
          <p:cNvSpPr/>
          <p:nvPr/>
        </p:nvSpPr>
        <p:spPr>
          <a:xfrm>
            <a:off x="2761488" y="3749040"/>
            <a:ext cx="2176272" cy="2286000"/>
          </a:xfrm>
          <a:prstGeom prst="roundRect">
            <a:avLst>
              <a:gd name="adj" fmla="val 3361"/>
            </a:avLst>
          </a:prstGeom>
          <a:solidFill>
            <a:srgbClr val="C5DDF0"/>
          </a:solidFill>
          <a:ln/>
        </p:spPr>
        <p:txBody>
          <a:bodyPr/>
          <a:lstStyle/>
          <a:p>
            <a:endParaRPr lang="en-GB"/>
          </a:p>
        </p:txBody>
      </p:sp>
      <p:sp>
        <p:nvSpPr>
          <p:cNvPr id="23" name="Text 21"/>
          <p:cNvSpPr/>
          <p:nvPr/>
        </p:nvSpPr>
        <p:spPr>
          <a:xfrm>
            <a:off x="2834640" y="4572000"/>
            <a:ext cx="2029968" cy="640080"/>
          </a:xfrm>
          <a:prstGeom prst="rect">
            <a:avLst/>
          </a:prstGeom>
          <a:noFill/>
          <a:ln/>
        </p:spPr>
        <p:txBody>
          <a:bodyPr wrap="square" lIns="0" tIns="0" rIns="0" bIns="0" rtlCol="0" anchor="ctr"/>
          <a:lstStyle/>
          <a:p>
            <a:pPr marL="0" indent="0" algn="ctr">
              <a:buNone/>
            </a:pPr>
            <a:r>
              <a:rPr lang="en-US" sz="2000" dirty="0">
                <a:solidFill>
                  <a:srgbClr val="2C2C2C"/>
                </a:solidFill>
                <a:latin typeface="Calibri" pitchFamily="34" charset="0"/>
                <a:ea typeface="Calibri" pitchFamily="34" charset="-122"/>
                <a:cs typeface="Calibri" pitchFamily="34" charset="-120"/>
              </a:rPr>
              <a:t>Working</a:t>
            </a:r>
            <a:endParaRPr lang="en-US" sz="2000" dirty="0"/>
          </a:p>
        </p:txBody>
      </p:sp>
      <p:sp>
        <p:nvSpPr>
          <p:cNvPr id="24" name="Shape 22"/>
          <p:cNvSpPr/>
          <p:nvPr/>
        </p:nvSpPr>
        <p:spPr>
          <a:xfrm>
            <a:off x="4956048" y="4754880"/>
            <a:ext cx="329184" cy="182880"/>
          </a:xfrm>
          <a:prstGeom prst="rightArrow">
            <a:avLst/>
          </a:prstGeom>
          <a:solidFill>
            <a:srgbClr val="C8C2B8"/>
          </a:solidFill>
          <a:ln/>
        </p:spPr>
        <p:txBody>
          <a:bodyPr/>
          <a:lstStyle/>
          <a:p>
            <a:endParaRPr lang="en-GB"/>
          </a:p>
        </p:txBody>
      </p:sp>
      <p:sp>
        <p:nvSpPr>
          <p:cNvPr id="25" name="Shape 23"/>
          <p:cNvSpPr/>
          <p:nvPr/>
        </p:nvSpPr>
        <p:spPr>
          <a:xfrm>
            <a:off x="5065776" y="3749040"/>
            <a:ext cx="2176272" cy="2286000"/>
          </a:xfrm>
          <a:prstGeom prst="roundRect">
            <a:avLst>
              <a:gd name="adj" fmla="val 3361"/>
            </a:avLst>
          </a:prstGeom>
          <a:solidFill>
            <a:srgbClr val="F6D6C6"/>
          </a:solidFill>
          <a:ln/>
        </p:spPr>
        <p:txBody>
          <a:bodyPr/>
          <a:lstStyle/>
          <a:p>
            <a:endParaRPr lang="en-GB"/>
          </a:p>
        </p:txBody>
      </p:sp>
      <p:sp>
        <p:nvSpPr>
          <p:cNvPr id="26" name="Text 24"/>
          <p:cNvSpPr/>
          <p:nvPr/>
        </p:nvSpPr>
        <p:spPr>
          <a:xfrm>
            <a:off x="5138928" y="4572000"/>
            <a:ext cx="2029968" cy="640080"/>
          </a:xfrm>
          <a:prstGeom prst="rect">
            <a:avLst/>
          </a:prstGeom>
          <a:noFill/>
          <a:ln/>
        </p:spPr>
        <p:txBody>
          <a:bodyPr wrap="square" lIns="0" tIns="0" rIns="0" bIns="0" rtlCol="0" anchor="ctr"/>
          <a:lstStyle/>
          <a:p>
            <a:pPr marL="0" indent="0" algn="ctr">
              <a:buNone/>
            </a:pPr>
            <a:r>
              <a:rPr lang="en-US" sz="2000" dirty="0">
                <a:solidFill>
                  <a:srgbClr val="2C2C2C"/>
                </a:solidFill>
                <a:latin typeface="Calibri" pitchFamily="34" charset="0"/>
                <a:ea typeface="Calibri" pitchFamily="34" charset="-122"/>
                <a:cs typeface="Calibri" pitchFamily="34" charset="-120"/>
              </a:rPr>
              <a:t>Needs input</a:t>
            </a:r>
            <a:endParaRPr lang="en-US" sz="2000" dirty="0"/>
          </a:p>
        </p:txBody>
      </p:sp>
      <p:sp>
        <p:nvSpPr>
          <p:cNvPr id="27" name="Shape 25"/>
          <p:cNvSpPr/>
          <p:nvPr/>
        </p:nvSpPr>
        <p:spPr>
          <a:xfrm>
            <a:off x="7260336" y="4754880"/>
            <a:ext cx="329184" cy="182880"/>
          </a:xfrm>
          <a:prstGeom prst="rightArrow">
            <a:avLst/>
          </a:prstGeom>
          <a:solidFill>
            <a:srgbClr val="C8C2B8"/>
          </a:solidFill>
          <a:ln/>
        </p:spPr>
        <p:txBody>
          <a:bodyPr/>
          <a:lstStyle/>
          <a:p>
            <a:endParaRPr lang="en-GB"/>
          </a:p>
        </p:txBody>
      </p:sp>
      <p:sp>
        <p:nvSpPr>
          <p:cNvPr id="28" name="Shape 26"/>
          <p:cNvSpPr/>
          <p:nvPr/>
        </p:nvSpPr>
        <p:spPr>
          <a:xfrm>
            <a:off x="7370064" y="3749040"/>
            <a:ext cx="2176272" cy="2286000"/>
          </a:xfrm>
          <a:prstGeom prst="roundRect">
            <a:avLst>
              <a:gd name="adj" fmla="val 3361"/>
            </a:avLst>
          </a:prstGeom>
          <a:solidFill>
            <a:srgbClr val="C9E6D0"/>
          </a:solidFill>
          <a:ln/>
        </p:spPr>
        <p:txBody>
          <a:bodyPr/>
          <a:lstStyle/>
          <a:p>
            <a:endParaRPr lang="en-GB"/>
          </a:p>
        </p:txBody>
      </p:sp>
      <p:sp>
        <p:nvSpPr>
          <p:cNvPr id="29" name="Text 27"/>
          <p:cNvSpPr/>
          <p:nvPr/>
        </p:nvSpPr>
        <p:spPr>
          <a:xfrm>
            <a:off x="7443216" y="4572000"/>
            <a:ext cx="2029968" cy="640080"/>
          </a:xfrm>
          <a:prstGeom prst="rect">
            <a:avLst/>
          </a:prstGeom>
          <a:noFill/>
          <a:ln/>
        </p:spPr>
        <p:txBody>
          <a:bodyPr wrap="square" lIns="0" tIns="0" rIns="0" bIns="0" rtlCol="0" anchor="ctr"/>
          <a:lstStyle/>
          <a:p>
            <a:pPr marL="0" indent="0" algn="ctr">
              <a:buNone/>
            </a:pPr>
            <a:r>
              <a:rPr lang="en-US" sz="2000" dirty="0">
                <a:solidFill>
                  <a:srgbClr val="2C2C2C"/>
                </a:solidFill>
                <a:latin typeface="Calibri" pitchFamily="34" charset="0"/>
                <a:ea typeface="Calibri" pitchFamily="34" charset="-122"/>
                <a:cs typeface="Calibri" pitchFamily="34" charset="-120"/>
              </a:rPr>
              <a:t>Done</a:t>
            </a:r>
            <a:endParaRPr lang="en-US" sz="2000" dirty="0"/>
          </a:p>
        </p:txBody>
      </p:sp>
      <p:sp>
        <p:nvSpPr>
          <p:cNvPr id="30" name="Shape 28"/>
          <p:cNvSpPr/>
          <p:nvPr/>
        </p:nvSpPr>
        <p:spPr>
          <a:xfrm>
            <a:off x="9564624" y="4754880"/>
            <a:ext cx="329184" cy="182880"/>
          </a:xfrm>
          <a:prstGeom prst="rightArrow">
            <a:avLst/>
          </a:prstGeom>
          <a:solidFill>
            <a:srgbClr val="C8C2B8"/>
          </a:solidFill>
          <a:ln/>
        </p:spPr>
        <p:txBody>
          <a:bodyPr/>
          <a:lstStyle/>
          <a:p>
            <a:endParaRPr lang="en-GB"/>
          </a:p>
        </p:txBody>
      </p:sp>
      <p:sp>
        <p:nvSpPr>
          <p:cNvPr id="31" name="Shape 29"/>
          <p:cNvSpPr/>
          <p:nvPr/>
        </p:nvSpPr>
        <p:spPr>
          <a:xfrm>
            <a:off x="9674352" y="3749040"/>
            <a:ext cx="2176272" cy="2286000"/>
          </a:xfrm>
          <a:prstGeom prst="roundRect">
            <a:avLst>
              <a:gd name="adj" fmla="val 3361"/>
            </a:avLst>
          </a:prstGeom>
          <a:solidFill>
            <a:srgbClr val="F3D0DC"/>
          </a:solidFill>
          <a:ln/>
        </p:spPr>
        <p:txBody>
          <a:bodyPr/>
          <a:lstStyle/>
          <a:p>
            <a:endParaRPr lang="en-GB"/>
          </a:p>
        </p:txBody>
      </p:sp>
      <p:sp>
        <p:nvSpPr>
          <p:cNvPr id="32" name="Text 30"/>
          <p:cNvSpPr/>
          <p:nvPr/>
        </p:nvSpPr>
        <p:spPr>
          <a:xfrm>
            <a:off x="9747504" y="4572000"/>
            <a:ext cx="2029968" cy="640080"/>
          </a:xfrm>
          <a:prstGeom prst="rect">
            <a:avLst/>
          </a:prstGeom>
          <a:noFill/>
          <a:ln/>
        </p:spPr>
        <p:txBody>
          <a:bodyPr wrap="square" lIns="0" tIns="0" rIns="0" bIns="0" rtlCol="0" anchor="ctr"/>
          <a:lstStyle/>
          <a:p>
            <a:pPr marL="0" indent="0" algn="ctr">
              <a:buNone/>
            </a:pPr>
            <a:r>
              <a:rPr lang="en-US" sz="2000" dirty="0">
                <a:solidFill>
                  <a:srgbClr val="2C2C2C"/>
                </a:solidFill>
                <a:latin typeface="Calibri" pitchFamily="34" charset="0"/>
                <a:ea typeface="Calibri" pitchFamily="34" charset="-122"/>
                <a:cs typeface="Calibri" pitchFamily="34" charset="-120"/>
              </a:rPr>
              <a:t>Failed</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01168"/>
            <a:ext cx="11064240" cy="438912"/>
          </a:xfrm>
          <a:prstGeom prst="rect">
            <a:avLst/>
          </a:prstGeom>
          <a:noFill/>
          <a:ln/>
        </p:spPr>
        <p:txBody>
          <a:bodyPr wrap="square" lIns="0" tIns="0" rIns="0" bIns="0" rtlCol="0" anchor="ctr"/>
          <a:lstStyle/>
          <a:p>
            <a:pPr marL="0" indent="0">
              <a:buNone/>
            </a:pPr>
            <a:r>
              <a:rPr lang="en-US" sz="3400" dirty="0">
                <a:solidFill>
                  <a:srgbClr val="2C2C2C"/>
                </a:solidFill>
                <a:latin typeface="Calibri" pitchFamily="34" charset="0"/>
                <a:ea typeface="Calibri" pitchFamily="34" charset="-122"/>
                <a:cs typeface="Calibri" pitchFamily="34" charset="-120"/>
              </a:rPr>
              <a:t>How a call works</a:t>
            </a:r>
            <a:endParaRPr lang="en-US" sz="3400" dirty="0"/>
          </a:p>
        </p:txBody>
      </p:sp>
      <p:sp>
        <p:nvSpPr>
          <p:cNvPr id="3" name="Shape 1"/>
          <p:cNvSpPr/>
          <p:nvPr/>
        </p:nvSpPr>
        <p:spPr>
          <a:xfrm>
            <a:off x="347472" y="822960"/>
            <a:ext cx="2212848" cy="3246120"/>
          </a:xfrm>
          <a:prstGeom prst="roundRect">
            <a:avLst>
              <a:gd name="adj" fmla="val 3306"/>
            </a:avLst>
          </a:prstGeom>
          <a:solidFill>
            <a:srgbClr val="C5DDF0"/>
          </a:solidFill>
          <a:ln/>
        </p:spPr>
        <p:txBody>
          <a:bodyPr/>
          <a:lstStyle/>
          <a:p>
            <a:endParaRPr lang="en-GB"/>
          </a:p>
        </p:txBody>
      </p:sp>
      <p:sp>
        <p:nvSpPr>
          <p:cNvPr id="4" name="Shape 2"/>
          <p:cNvSpPr/>
          <p:nvPr/>
        </p:nvSpPr>
        <p:spPr>
          <a:xfrm>
            <a:off x="1133856" y="1005840"/>
            <a:ext cx="640080" cy="640080"/>
          </a:xfrm>
          <a:prstGeom prst="ellipse">
            <a:avLst/>
          </a:prstGeom>
          <a:solidFill>
            <a:srgbClr val="FFFFFF"/>
          </a:solidFill>
          <a:ln/>
        </p:spPr>
        <p:txBody>
          <a:bodyPr/>
          <a:lstStyle/>
          <a:p>
            <a:endParaRPr lang="en-GB"/>
          </a:p>
        </p:txBody>
      </p:sp>
      <p:sp>
        <p:nvSpPr>
          <p:cNvPr id="5" name="Text 3"/>
          <p:cNvSpPr/>
          <p:nvPr/>
        </p:nvSpPr>
        <p:spPr>
          <a:xfrm>
            <a:off x="1133856" y="1005840"/>
            <a:ext cx="640080" cy="640080"/>
          </a:xfrm>
          <a:prstGeom prst="rect">
            <a:avLst/>
          </a:prstGeom>
          <a:noFill/>
          <a:ln/>
        </p:spPr>
        <p:txBody>
          <a:bodyPr wrap="square" lIns="0" tIns="0" rIns="0" bIns="0" rtlCol="0" anchor="ctr"/>
          <a:lstStyle/>
          <a:p>
            <a:pPr marL="0" indent="0" algn="ctr">
              <a:buNone/>
            </a:pPr>
            <a:r>
              <a:rPr lang="en-US" sz="2200" dirty="0">
                <a:solidFill>
                  <a:srgbClr val="2C2C2C"/>
                </a:solidFill>
                <a:latin typeface="Calibri" pitchFamily="34" charset="0"/>
                <a:ea typeface="Calibri" pitchFamily="34" charset="-122"/>
                <a:cs typeface="Calibri" pitchFamily="34" charset="-120"/>
              </a:rPr>
              <a:t>1</a:t>
            </a:r>
            <a:endParaRPr lang="en-US" sz="2200" dirty="0"/>
          </a:p>
        </p:txBody>
      </p:sp>
      <p:sp>
        <p:nvSpPr>
          <p:cNvPr id="6" name="Text 4"/>
          <p:cNvSpPr/>
          <p:nvPr/>
        </p:nvSpPr>
        <p:spPr>
          <a:xfrm>
            <a:off x="438912" y="1783080"/>
            <a:ext cx="2029968" cy="457200"/>
          </a:xfrm>
          <a:prstGeom prst="rect">
            <a:avLst/>
          </a:prstGeom>
          <a:noFill/>
          <a:ln/>
        </p:spPr>
        <p:txBody>
          <a:bodyPr wrap="square" lIns="0" tIns="0" rIns="0" bIns="0" rtlCol="0" anchor="ctr"/>
          <a:lstStyle/>
          <a:p>
            <a:pPr marL="0" indent="0" algn="ctr">
              <a:buNone/>
            </a:pPr>
            <a:r>
              <a:rPr lang="en-US" sz="2000" dirty="0">
                <a:solidFill>
                  <a:srgbClr val="2C2C2C"/>
                </a:solidFill>
                <a:latin typeface="Calibri" pitchFamily="34" charset="0"/>
                <a:ea typeface="Calibri" pitchFamily="34" charset="-122"/>
                <a:cs typeface="Calibri" pitchFamily="34" charset="-120"/>
              </a:rPr>
              <a:t>Find</a:t>
            </a:r>
            <a:endParaRPr lang="en-US" sz="2000" dirty="0"/>
          </a:p>
        </p:txBody>
      </p:sp>
      <p:sp>
        <p:nvSpPr>
          <p:cNvPr id="7" name="Text 5"/>
          <p:cNvSpPr/>
          <p:nvPr/>
        </p:nvSpPr>
        <p:spPr>
          <a:xfrm>
            <a:off x="457200" y="2331720"/>
            <a:ext cx="1993392" cy="1463040"/>
          </a:xfrm>
          <a:prstGeom prst="rect">
            <a:avLst/>
          </a:prstGeom>
          <a:noFill/>
          <a:ln/>
        </p:spPr>
        <p:txBody>
          <a:bodyPr wrap="square" lIns="0" tIns="0" rIns="0" bIns="0" rtlCol="0" anchor="ctr"/>
          <a:lstStyle/>
          <a:p>
            <a:pPr marL="0" indent="0" algn="ctr">
              <a:buNone/>
            </a:pPr>
            <a:r>
              <a:rPr lang="en-US" sz="1600" dirty="0">
                <a:solidFill>
                  <a:srgbClr val="4A4A4A"/>
                </a:solidFill>
                <a:latin typeface="Calibri" pitchFamily="34" charset="0"/>
                <a:ea typeface="Calibri" pitchFamily="34" charset="-122"/>
                <a:cs typeface="Calibri" pitchFamily="34" charset="-120"/>
              </a:rPr>
              <a:t>Get the Agent Card.</a:t>
            </a:r>
            <a:endParaRPr lang="en-US" sz="1600" dirty="0"/>
          </a:p>
        </p:txBody>
      </p:sp>
      <p:sp>
        <p:nvSpPr>
          <p:cNvPr id="8" name="Shape 6"/>
          <p:cNvSpPr/>
          <p:nvPr/>
        </p:nvSpPr>
        <p:spPr>
          <a:xfrm>
            <a:off x="2578608" y="2240280"/>
            <a:ext cx="329184" cy="182880"/>
          </a:xfrm>
          <a:prstGeom prst="rightArrow">
            <a:avLst/>
          </a:prstGeom>
          <a:solidFill>
            <a:srgbClr val="C8C2B8"/>
          </a:solidFill>
          <a:ln/>
        </p:spPr>
        <p:txBody>
          <a:bodyPr/>
          <a:lstStyle/>
          <a:p>
            <a:endParaRPr lang="en-GB"/>
          </a:p>
        </p:txBody>
      </p:sp>
      <p:sp>
        <p:nvSpPr>
          <p:cNvPr id="9" name="Shape 7"/>
          <p:cNvSpPr/>
          <p:nvPr/>
        </p:nvSpPr>
        <p:spPr>
          <a:xfrm>
            <a:off x="2706624" y="822960"/>
            <a:ext cx="2212848" cy="3246120"/>
          </a:xfrm>
          <a:prstGeom prst="roundRect">
            <a:avLst>
              <a:gd name="adj" fmla="val 3306"/>
            </a:avLst>
          </a:prstGeom>
          <a:solidFill>
            <a:srgbClr val="C9E6D0"/>
          </a:solidFill>
          <a:ln/>
        </p:spPr>
        <p:txBody>
          <a:bodyPr/>
          <a:lstStyle/>
          <a:p>
            <a:endParaRPr lang="en-GB"/>
          </a:p>
        </p:txBody>
      </p:sp>
      <p:sp>
        <p:nvSpPr>
          <p:cNvPr id="10" name="Shape 8"/>
          <p:cNvSpPr/>
          <p:nvPr/>
        </p:nvSpPr>
        <p:spPr>
          <a:xfrm>
            <a:off x="3493008" y="1005840"/>
            <a:ext cx="640080" cy="640080"/>
          </a:xfrm>
          <a:prstGeom prst="ellipse">
            <a:avLst/>
          </a:prstGeom>
          <a:solidFill>
            <a:srgbClr val="FFFFFF"/>
          </a:solidFill>
          <a:ln/>
        </p:spPr>
        <p:txBody>
          <a:bodyPr/>
          <a:lstStyle/>
          <a:p>
            <a:endParaRPr lang="en-GB"/>
          </a:p>
        </p:txBody>
      </p:sp>
      <p:sp>
        <p:nvSpPr>
          <p:cNvPr id="11" name="Text 9"/>
          <p:cNvSpPr/>
          <p:nvPr/>
        </p:nvSpPr>
        <p:spPr>
          <a:xfrm>
            <a:off x="3493008" y="1005840"/>
            <a:ext cx="640080" cy="640080"/>
          </a:xfrm>
          <a:prstGeom prst="rect">
            <a:avLst/>
          </a:prstGeom>
          <a:noFill/>
          <a:ln/>
        </p:spPr>
        <p:txBody>
          <a:bodyPr wrap="square" lIns="0" tIns="0" rIns="0" bIns="0" rtlCol="0" anchor="ctr"/>
          <a:lstStyle/>
          <a:p>
            <a:pPr marL="0" indent="0" algn="ctr">
              <a:buNone/>
            </a:pPr>
            <a:r>
              <a:rPr lang="en-US" sz="2200" dirty="0">
                <a:solidFill>
                  <a:srgbClr val="2C2C2C"/>
                </a:solidFill>
                <a:latin typeface="Calibri" pitchFamily="34" charset="0"/>
                <a:ea typeface="Calibri" pitchFamily="34" charset="-122"/>
                <a:cs typeface="Calibri" pitchFamily="34" charset="-120"/>
              </a:rPr>
              <a:t>2</a:t>
            </a:r>
            <a:endParaRPr lang="en-US" sz="2200" dirty="0"/>
          </a:p>
        </p:txBody>
      </p:sp>
      <p:sp>
        <p:nvSpPr>
          <p:cNvPr id="12" name="Text 10"/>
          <p:cNvSpPr/>
          <p:nvPr/>
        </p:nvSpPr>
        <p:spPr>
          <a:xfrm>
            <a:off x="2798064" y="1783080"/>
            <a:ext cx="2029968" cy="457200"/>
          </a:xfrm>
          <a:prstGeom prst="rect">
            <a:avLst/>
          </a:prstGeom>
          <a:noFill/>
          <a:ln/>
        </p:spPr>
        <p:txBody>
          <a:bodyPr wrap="square" lIns="0" tIns="0" rIns="0" bIns="0" rtlCol="0" anchor="ctr"/>
          <a:lstStyle/>
          <a:p>
            <a:pPr marL="0" indent="0" algn="ctr">
              <a:buNone/>
            </a:pPr>
            <a:r>
              <a:rPr lang="en-US" sz="2000" dirty="0">
                <a:solidFill>
                  <a:srgbClr val="2C2C2C"/>
                </a:solidFill>
                <a:latin typeface="Calibri" pitchFamily="34" charset="0"/>
                <a:ea typeface="Calibri" pitchFamily="34" charset="-122"/>
                <a:cs typeface="Calibri" pitchFamily="34" charset="-120"/>
              </a:rPr>
              <a:t>Log in</a:t>
            </a:r>
            <a:endParaRPr lang="en-US" sz="2000" dirty="0"/>
          </a:p>
        </p:txBody>
      </p:sp>
      <p:sp>
        <p:nvSpPr>
          <p:cNvPr id="13" name="Text 11"/>
          <p:cNvSpPr/>
          <p:nvPr/>
        </p:nvSpPr>
        <p:spPr>
          <a:xfrm>
            <a:off x="2816352" y="2331720"/>
            <a:ext cx="1993392" cy="1463040"/>
          </a:xfrm>
          <a:prstGeom prst="rect">
            <a:avLst/>
          </a:prstGeom>
          <a:noFill/>
          <a:ln/>
        </p:spPr>
        <p:txBody>
          <a:bodyPr wrap="square" lIns="0" tIns="0" rIns="0" bIns="0" rtlCol="0" anchor="ctr"/>
          <a:lstStyle/>
          <a:p>
            <a:pPr marL="0" indent="0" algn="ctr">
              <a:buNone/>
            </a:pPr>
            <a:r>
              <a:rPr lang="en-US" sz="1600" dirty="0">
                <a:solidFill>
                  <a:srgbClr val="4A4A4A"/>
                </a:solidFill>
                <a:latin typeface="Calibri" pitchFamily="34" charset="0"/>
                <a:ea typeface="Calibri" pitchFamily="34" charset="-122"/>
                <a:cs typeface="Calibri" pitchFamily="34" charset="-120"/>
              </a:rPr>
              <a:t>Get a token if the card asks.</a:t>
            </a:r>
            <a:endParaRPr lang="en-US" sz="1600" dirty="0"/>
          </a:p>
        </p:txBody>
      </p:sp>
      <p:sp>
        <p:nvSpPr>
          <p:cNvPr id="14" name="Shape 12"/>
          <p:cNvSpPr/>
          <p:nvPr/>
        </p:nvSpPr>
        <p:spPr>
          <a:xfrm>
            <a:off x="4937760" y="2240280"/>
            <a:ext cx="329184" cy="182880"/>
          </a:xfrm>
          <a:prstGeom prst="rightArrow">
            <a:avLst/>
          </a:prstGeom>
          <a:solidFill>
            <a:srgbClr val="C8C2B8"/>
          </a:solidFill>
          <a:ln/>
        </p:spPr>
        <p:txBody>
          <a:bodyPr/>
          <a:lstStyle/>
          <a:p>
            <a:endParaRPr lang="en-GB"/>
          </a:p>
        </p:txBody>
      </p:sp>
      <p:sp>
        <p:nvSpPr>
          <p:cNvPr id="15" name="Shape 13"/>
          <p:cNvSpPr/>
          <p:nvPr/>
        </p:nvSpPr>
        <p:spPr>
          <a:xfrm>
            <a:off x="5065776" y="822960"/>
            <a:ext cx="2212848" cy="3246120"/>
          </a:xfrm>
          <a:prstGeom prst="roundRect">
            <a:avLst>
              <a:gd name="adj" fmla="val 3306"/>
            </a:avLst>
          </a:prstGeom>
          <a:solidFill>
            <a:srgbClr val="F6D6C6"/>
          </a:solidFill>
          <a:ln/>
        </p:spPr>
        <p:txBody>
          <a:bodyPr/>
          <a:lstStyle/>
          <a:p>
            <a:endParaRPr lang="en-GB"/>
          </a:p>
        </p:txBody>
      </p:sp>
      <p:sp>
        <p:nvSpPr>
          <p:cNvPr id="16" name="Shape 14"/>
          <p:cNvSpPr/>
          <p:nvPr/>
        </p:nvSpPr>
        <p:spPr>
          <a:xfrm>
            <a:off x="5852160" y="1005840"/>
            <a:ext cx="640080" cy="640080"/>
          </a:xfrm>
          <a:prstGeom prst="ellipse">
            <a:avLst/>
          </a:prstGeom>
          <a:solidFill>
            <a:srgbClr val="FFFFFF"/>
          </a:solidFill>
          <a:ln/>
        </p:spPr>
        <p:txBody>
          <a:bodyPr/>
          <a:lstStyle/>
          <a:p>
            <a:endParaRPr lang="en-GB"/>
          </a:p>
        </p:txBody>
      </p:sp>
      <p:sp>
        <p:nvSpPr>
          <p:cNvPr id="17" name="Text 15"/>
          <p:cNvSpPr/>
          <p:nvPr/>
        </p:nvSpPr>
        <p:spPr>
          <a:xfrm>
            <a:off x="5852160" y="1005840"/>
            <a:ext cx="640080" cy="640080"/>
          </a:xfrm>
          <a:prstGeom prst="rect">
            <a:avLst/>
          </a:prstGeom>
          <a:noFill/>
          <a:ln/>
        </p:spPr>
        <p:txBody>
          <a:bodyPr wrap="square" lIns="0" tIns="0" rIns="0" bIns="0" rtlCol="0" anchor="ctr"/>
          <a:lstStyle/>
          <a:p>
            <a:pPr marL="0" indent="0" algn="ctr">
              <a:buNone/>
            </a:pPr>
            <a:r>
              <a:rPr lang="en-US" sz="2200" dirty="0">
                <a:solidFill>
                  <a:srgbClr val="2C2C2C"/>
                </a:solidFill>
                <a:latin typeface="Calibri" pitchFamily="34" charset="0"/>
                <a:ea typeface="Calibri" pitchFamily="34" charset="-122"/>
                <a:cs typeface="Calibri" pitchFamily="34" charset="-120"/>
              </a:rPr>
              <a:t>3</a:t>
            </a:r>
            <a:endParaRPr lang="en-US" sz="2200" dirty="0"/>
          </a:p>
        </p:txBody>
      </p:sp>
      <p:sp>
        <p:nvSpPr>
          <p:cNvPr id="18" name="Text 16"/>
          <p:cNvSpPr/>
          <p:nvPr/>
        </p:nvSpPr>
        <p:spPr>
          <a:xfrm>
            <a:off x="5157216" y="1783080"/>
            <a:ext cx="2029968" cy="457200"/>
          </a:xfrm>
          <a:prstGeom prst="rect">
            <a:avLst/>
          </a:prstGeom>
          <a:noFill/>
          <a:ln/>
        </p:spPr>
        <p:txBody>
          <a:bodyPr wrap="square" lIns="0" tIns="0" rIns="0" bIns="0" rtlCol="0" anchor="ctr"/>
          <a:lstStyle/>
          <a:p>
            <a:pPr marL="0" indent="0" algn="ctr">
              <a:buNone/>
            </a:pPr>
            <a:r>
              <a:rPr lang="en-US" sz="2000" dirty="0">
                <a:solidFill>
                  <a:srgbClr val="2C2C2C"/>
                </a:solidFill>
                <a:latin typeface="Calibri" pitchFamily="34" charset="0"/>
                <a:ea typeface="Calibri" pitchFamily="34" charset="-122"/>
                <a:cs typeface="Calibri" pitchFamily="34" charset="-120"/>
              </a:rPr>
              <a:t>Check rights</a:t>
            </a:r>
            <a:endParaRPr lang="en-US" sz="2000" dirty="0"/>
          </a:p>
        </p:txBody>
      </p:sp>
      <p:sp>
        <p:nvSpPr>
          <p:cNvPr id="19" name="Text 17"/>
          <p:cNvSpPr/>
          <p:nvPr/>
        </p:nvSpPr>
        <p:spPr>
          <a:xfrm>
            <a:off x="5175504" y="2331720"/>
            <a:ext cx="1993392" cy="1463040"/>
          </a:xfrm>
          <a:prstGeom prst="rect">
            <a:avLst/>
          </a:prstGeom>
          <a:noFill/>
          <a:ln/>
        </p:spPr>
        <p:txBody>
          <a:bodyPr wrap="square" lIns="0" tIns="0" rIns="0" bIns="0" rtlCol="0" anchor="ctr"/>
          <a:lstStyle/>
          <a:p>
            <a:pPr marL="0" indent="0" algn="ctr">
              <a:buNone/>
            </a:pPr>
            <a:r>
              <a:rPr lang="en-US" sz="1600" dirty="0">
                <a:solidFill>
                  <a:srgbClr val="4A4A4A"/>
                </a:solidFill>
                <a:latin typeface="Calibri" pitchFamily="34" charset="0"/>
                <a:ea typeface="Calibri" pitchFamily="34" charset="-122"/>
                <a:cs typeface="Calibri" pitchFamily="34" charset="-120"/>
              </a:rPr>
              <a:t>May you start this skill?</a:t>
            </a:r>
            <a:endParaRPr lang="en-US" sz="1600" dirty="0"/>
          </a:p>
        </p:txBody>
      </p:sp>
      <p:sp>
        <p:nvSpPr>
          <p:cNvPr id="20" name="Shape 18"/>
          <p:cNvSpPr/>
          <p:nvPr/>
        </p:nvSpPr>
        <p:spPr>
          <a:xfrm>
            <a:off x="7296912" y="2240280"/>
            <a:ext cx="329184" cy="182880"/>
          </a:xfrm>
          <a:prstGeom prst="rightArrow">
            <a:avLst/>
          </a:prstGeom>
          <a:solidFill>
            <a:srgbClr val="C8C2B8"/>
          </a:solidFill>
          <a:ln/>
        </p:spPr>
        <p:txBody>
          <a:bodyPr/>
          <a:lstStyle/>
          <a:p>
            <a:endParaRPr lang="en-GB"/>
          </a:p>
        </p:txBody>
      </p:sp>
      <p:sp>
        <p:nvSpPr>
          <p:cNvPr id="21" name="Shape 19"/>
          <p:cNvSpPr/>
          <p:nvPr/>
        </p:nvSpPr>
        <p:spPr>
          <a:xfrm>
            <a:off x="7424928" y="822960"/>
            <a:ext cx="2212848" cy="3246120"/>
          </a:xfrm>
          <a:prstGeom prst="roundRect">
            <a:avLst>
              <a:gd name="adj" fmla="val 3306"/>
            </a:avLst>
          </a:prstGeom>
          <a:solidFill>
            <a:srgbClr val="DDD0EE"/>
          </a:solidFill>
          <a:ln/>
        </p:spPr>
        <p:txBody>
          <a:bodyPr/>
          <a:lstStyle/>
          <a:p>
            <a:endParaRPr lang="en-GB"/>
          </a:p>
        </p:txBody>
      </p:sp>
      <p:sp>
        <p:nvSpPr>
          <p:cNvPr id="22" name="Shape 20"/>
          <p:cNvSpPr/>
          <p:nvPr/>
        </p:nvSpPr>
        <p:spPr>
          <a:xfrm>
            <a:off x="8211312" y="1005840"/>
            <a:ext cx="640080" cy="640080"/>
          </a:xfrm>
          <a:prstGeom prst="ellipse">
            <a:avLst/>
          </a:prstGeom>
          <a:solidFill>
            <a:srgbClr val="FFFFFF"/>
          </a:solidFill>
          <a:ln/>
        </p:spPr>
        <p:txBody>
          <a:bodyPr/>
          <a:lstStyle/>
          <a:p>
            <a:endParaRPr lang="en-GB"/>
          </a:p>
        </p:txBody>
      </p:sp>
      <p:sp>
        <p:nvSpPr>
          <p:cNvPr id="23" name="Text 21"/>
          <p:cNvSpPr/>
          <p:nvPr/>
        </p:nvSpPr>
        <p:spPr>
          <a:xfrm>
            <a:off x="8211312" y="1005840"/>
            <a:ext cx="640080" cy="640080"/>
          </a:xfrm>
          <a:prstGeom prst="rect">
            <a:avLst/>
          </a:prstGeom>
          <a:noFill/>
          <a:ln/>
        </p:spPr>
        <p:txBody>
          <a:bodyPr wrap="square" lIns="0" tIns="0" rIns="0" bIns="0" rtlCol="0" anchor="ctr"/>
          <a:lstStyle/>
          <a:p>
            <a:pPr marL="0" indent="0" algn="ctr">
              <a:buNone/>
            </a:pPr>
            <a:r>
              <a:rPr lang="en-US" sz="2200" dirty="0">
                <a:solidFill>
                  <a:srgbClr val="2C2C2C"/>
                </a:solidFill>
                <a:latin typeface="Calibri" pitchFamily="34" charset="0"/>
                <a:ea typeface="Calibri" pitchFamily="34" charset="-122"/>
                <a:cs typeface="Calibri" pitchFamily="34" charset="-120"/>
              </a:rPr>
              <a:t>4</a:t>
            </a:r>
            <a:endParaRPr lang="en-US" sz="2200" dirty="0"/>
          </a:p>
        </p:txBody>
      </p:sp>
      <p:sp>
        <p:nvSpPr>
          <p:cNvPr id="24" name="Text 22"/>
          <p:cNvSpPr/>
          <p:nvPr/>
        </p:nvSpPr>
        <p:spPr>
          <a:xfrm>
            <a:off x="7516368" y="1783080"/>
            <a:ext cx="2029968" cy="457200"/>
          </a:xfrm>
          <a:prstGeom prst="rect">
            <a:avLst/>
          </a:prstGeom>
          <a:noFill/>
          <a:ln/>
        </p:spPr>
        <p:txBody>
          <a:bodyPr wrap="square" lIns="0" tIns="0" rIns="0" bIns="0" rtlCol="0" anchor="ctr"/>
          <a:lstStyle/>
          <a:p>
            <a:pPr marL="0" indent="0" algn="ctr">
              <a:buNone/>
            </a:pPr>
            <a:r>
              <a:rPr lang="en-US" sz="2000" dirty="0">
                <a:solidFill>
                  <a:srgbClr val="2C2C2C"/>
                </a:solidFill>
                <a:latin typeface="Calibri" pitchFamily="34" charset="0"/>
                <a:ea typeface="Calibri" pitchFamily="34" charset="-122"/>
                <a:cs typeface="Calibri" pitchFamily="34" charset="-120"/>
              </a:rPr>
              <a:t>Send work</a:t>
            </a:r>
            <a:endParaRPr lang="en-US" sz="2000" dirty="0"/>
          </a:p>
        </p:txBody>
      </p:sp>
      <p:sp>
        <p:nvSpPr>
          <p:cNvPr id="25" name="Text 23"/>
          <p:cNvSpPr/>
          <p:nvPr/>
        </p:nvSpPr>
        <p:spPr>
          <a:xfrm>
            <a:off x="7534656" y="2331720"/>
            <a:ext cx="1993392" cy="1463040"/>
          </a:xfrm>
          <a:prstGeom prst="rect">
            <a:avLst/>
          </a:prstGeom>
          <a:noFill/>
          <a:ln/>
        </p:spPr>
        <p:txBody>
          <a:bodyPr wrap="square" lIns="0" tIns="0" rIns="0" bIns="0" rtlCol="0" anchor="ctr"/>
          <a:lstStyle/>
          <a:p>
            <a:pPr marL="0" indent="0" algn="ctr">
              <a:buNone/>
            </a:pPr>
            <a:r>
              <a:rPr lang="en-US" sz="1600" dirty="0">
                <a:solidFill>
                  <a:srgbClr val="4A4A4A"/>
                </a:solidFill>
                <a:latin typeface="Calibri" pitchFamily="34" charset="0"/>
                <a:ea typeface="Calibri" pitchFamily="34" charset="-122"/>
                <a:cs typeface="Calibri" pitchFamily="34" charset="-120"/>
              </a:rPr>
              <a:t>Send a message. A task may start.</a:t>
            </a:r>
            <a:endParaRPr lang="en-US" sz="1600" dirty="0"/>
          </a:p>
        </p:txBody>
      </p:sp>
      <p:sp>
        <p:nvSpPr>
          <p:cNvPr id="26" name="Shape 24"/>
          <p:cNvSpPr/>
          <p:nvPr/>
        </p:nvSpPr>
        <p:spPr>
          <a:xfrm>
            <a:off x="9656064" y="2240280"/>
            <a:ext cx="329184" cy="182880"/>
          </a:xfrm>
          <a:prstGeom prst="rightArrow">
            <a:avLst/>
          </a:prstGeom>
          <a:solidFill>
            <a:srgbClr val="C8C2B8"/>
          </a:solidFill>
          <a:ln/>
        </p:spPr>
        <p:txBody>
          <a:bodyPr/>
          <a:lstStyle/>
          <a:p>
            <a:endParaRPr lang="en-GB"/>
          </a:p>
        </p:txBody>
      </p:sp>
      <p:sp>
        <p:nvSpPr>
          <p:cNvPr id="27" name="Shape 25"/>
          <p:cNvSpPr/>
          <p:nvPr/>
        </p:nvSpPr>
        <p:spPr>
          <a:xfrm>
            <a:off x="9784080" y="822960"/>
            <a:ext cx="2212848" cy="3246120"/>
          </a:xfrm>
          <a:prstGeom prst="roundRect">
            <a:avLst>
              <a:gd name="adj" fmla="val 3306"/>
            </a:avLst>
          </a:prstGeom>
          <a:solidFill>
            <a:srgbClr val="F3E6B8"/>
          </a:solidFill>
          <a:ln/>
        </p:spPr>
        <p:txBody>
          <a:bodyPr/>
          <a:lstStyle/>
          <a:p>
            <a:endParaRPr lang="en-GB"/>
          </a:p>
        </p:txBody>
      </p:sp>
      <p:sp>
        <p:nvSpPr>
          <p:cNvPr id="28" name="Shape 26"/>
          <p:cNvSpPr/>
          <p:nvPr/>
        </p:nvSpPr>
        <p:spPr>
          <a:xfrm>
            <a:off x="10570464" y="1005840"/>
            <a:ext cx="640080" cy="640080"/>
          </a:xfrm>
          <a:prstGeom prst="ellipse">
            <a:avLst/>
          </a:prstGeom>
          <a:solidFill>
            <a:srgbClr val="FFFFFF"/>
          </a:solidFill>
          <a:ln/>
        </p:spPr>
        <p:txBody>
          <a:bodyPr/>
          <a:lstStyle/>
          <a:p>
            <a:endParaRPr lang="en-GB"/>
          </a:p>
        </p:txBody>
      </p:sp>
      <p:sp>
        <p:nvSpPr>
          <p:cNvPr id="29" name="Text 27"/>
          <p:cNvSpPr/>
          <p:nvPr/>
        </p:nvSpPr>
        <p:spPr>
          <a:xfrm>
            <a:off x="10570464" y="1005840"/>
            <a:ext cx="640080" cy="640080"/>
          </a:xfrm>
          <a:prstGeom prst="rect">
            <a:avLst/>
          </a:prstGeom>
          <a:noFill/>
          <a:ln/>
        </p:spPr>
        <p:txBody>
          <a:bodyPr wrap="square" lIns="0" tIns="0" rIns="0" bIns="0" rtlCol="0" anchor="ctr"/>
          <a:lstStyle/>
          <a:p>
            <a:pPr marL="0" indent="0" algn="ctr">
              <a:buNone/>
            </a:pPr>
            <a:r>
              <a:rPr lang="en-US" sz="2200" dirty="0">
                <a:solidFill>
                  <a:srgbClr val="2C2C2C"/>
                </a:solidFill>
                <a:latin typeface="Calibri" pitchFamily="34" charset="0"/>
                <a:ea typeface="Calibri" pitchFamily="34" charset="-122"/>
                <a:cs typeface="Calibri" pitchFamily="34" charset="-120"/>
              </a:rPr>
              <a:t>5</a:t>
            </a:r>
            <a:endParaRPr lang="en-US" sz="2200" dirty="0"/>
          </a:p>
        </p:txBody>
      </p:sp>
      <p:sp>
        <p:nvSpPr>
          <p:cNvPr id="30" name="Text 28"/>
          <p:cNvSpPr/>
          <p:nvPr/>
        </p:nvSpPr>
        <p:spPr>
          <a:xfrm>
            <a:off x="9875520" y="1783080"/>
            <a:ext cx="2029968" cy="457200"/>
          </a:xfrm>
          <a:prstGeom prst="rect">
            <a:avLst/>
          </a:prstGeom>
          <a:noFill/>
          <a:ln/>
        </p:spPr>
        <p:txBody>
          <a:bodyPr wrap="square" lIns="0" tIns="0" rIns="0" bIns="0" rtlCol="0" anchor="ctr"/>
          <a:lstStyle/>
          <a:p>
            <a:pPr marL="0" indent="0" algn="ctr">
              <a:buNone/>
            </a:pPr>
            <a:r>
              <a:rPr lang="en-US" sz="2000" dirty="0">
                <a:solidFill>
                  <a:srgbClr val="2C2C2C"/>
                </a:solidFill>
                <a:latin typeface="Calibri" pitchFamily="34" charset="0"/>
                <a:ea typeface="Calibri" pitchFamily="34" charset="-122"/>
                <a:cs typeface="Calibri" pitchFamily="34" charset="-120"/>
              </a:rPr>
              <a:t>Get result</a:t>
            </a:r>
            <a:endParaRPr lang="en-US" sz="2000" dirty="0"/>
          </a:p>
        </p:txBody>
      </p:sp>
      <p:sp>
        <p:nvSpPr>
          <p:cNvPr id="31" name="Text 29"/>
          <p:cNvSpPr/>
          <p:nvPr/>
        </p:nvSpPr>
        <p:spPr>
          <a:xfrm>
            <a:off x="9893808" y="2331720"/>
            <a:ext cx="1993392" cy="1463040"/>
          </a:xfrm>
          <a:prstGeom prst="rect">
            <a:avLst/>
          </a:prstGeom>
          <a:noFill/>
          <a:ln/>
        </p:spPr>
        <p:txBody>
          <a:bodyPr wrap="square" lIns="0" tIns="0" rIns="0" bIns="0" rtlCol="0" anchor="ctr"/>
          <a:lstStyle/>
          <a:p>
            <a:pPr marL="0" indent="0" algn="ctr">
              <a:buNone/>
            </a:pPr>
            <a:r>
              <a:rPr lang="en-US" sz="1600" dirty="0">
                <a:solidFill>
                  <a:srgbClr val="4A4A4A"/>
                </a:solidFill>
                <a:latin typeface="Calibri" pitchFamily="34" charset="0"/>
                <a:ea typeface="Calibri" pitchFamily="34" charset="-122"/>
                <a:cs typeface="Calibri" pitchFamily="34" charset="-120"/>
              </a:rPr>
              <a:t>Take the finished output.</a:t>
            </a:r>
            <a:endParaRPr lang="en-US" sz="1600" dirty="0"/>
          </a:p>
        </p:txBody>
      </p:sp>
      <p:sp>
        <p:nvSpPr>
          <p:cNvPr id="32" name="Text 30"/>
          <p:cNvSpPr/>
          <p:nvPr/>
        </p:nvSpPr>
        <p:spPr>
          <a:xfrm>
            <a:off x="548640" y="4251960"/>
            <a:ext cx="11064240" cy="822960"/>
          </a:xfrm>
          <a:prstGeom prst="rect">
            <a:avLst/>
          </a:prstGeom>
          <a:noFill/>
          <a:ln/>
        </p:spPr>
        <p:txBody>
          <a:bodyPr wrap="square" lIns="0" tIns="0" rIns="0" bIns="0" rtlCol="0" anchor="ctr"/>
          <a:lstStyle/>
          <a:p>
            <a:pPr marL="0" indent="0">
              <a:buNone/>
            </a:pPr>
            <a:r>
              <a:rPr lang="en-US" sz="1800" dirty="0">
                <a:solidFill>
                  <a:srgbClr val="4A4A4A"/>
                </a:solidFill>
                <a:latin typeface="Calibri" pitchFamily="34" charset="0"/>
                <a:ea typeface="Calibri" pitchFamily="34" charset="-122"/>
                <a:cs typeface="Calibri" pitchFamily="34" charset="-120"/>
              </a:rPr>
              <a:t>Three ways to wait: one reply, live updates, or a later notice. Three roles: user, your agent, their agent.</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01168"/>
            <a:ext cx="11064240" cy="438912"/>
          </a:xfrm>
          <a:prstGeom prst="rect">
            <a:avLst/>
          </a:prstGeom>
          <a:noFill/>
          <a:ln/>
        </p:spPr>
        <p:txBody>
          <a:bodyPr wrap="square" lIns="0" tIns="0" rIns="0" bIns="0" rtlCol="0" anchor="ctr"/>
          <a:lstStyle/>
          <a:p>
            <a:pPr marL="0" indent="0">
              <a:buNone/>
            </a:pPr>
            <a:r>
              <a:rPr lang="en-US" sz="3000" dirty="0">
                <a:solidFill>
                  <a:srgbClr val="2C2C2C"/>
                </a:solidFill>
                <a:latin typeface="Calibri" pitchFamily="34" charset="0"/>
                <a:ea typeface="Calibri" pitchFamily="34" charset="-122"/>
                <a:cs typeface="Calibri" pitchFamily="34" charset="-120"/>
              </a:rPr>
              <a:t>When the other agent is not yours</a:t>
            </a:r>
            <a:endParaRPr lang="en-US" sz="3000" dirty="0"/>
          </a:p>
        </p:txBody>
      </p:sp>
      <p:sp>
        <p:nvSpPr>
          <p:cNvPr id="3" name="Shape 1"/>
          <p:cNvSpPr/>
          <p:nvPr/>
        </p:nvSpPr>
        <p:spPr>
          <a:xfrm>
            <a:off x="502920" y="822960"/>
            <a:ext cx="4800600" cy="3063240"/>
          </a:xfrm>
          <a:prstGeom prst="roundRect">
            <a:avLst>
              <a:gd name="adj" fmla="val 2388"/>
            </a:avLst>
          </a:prstGeom>
          <a:solidFill>
            <a:srgbClr val="C5DDF0"/>
          </a:solidFill>
          <a:ln/>
        </p:spPr>
        <p:txBody>
          <a:bodyPr/>
          <a:lstStyle/>
          <a:p>
            <a:endParaRPr lang="en-GB"/>
          </a:p>
        </p:txBody>
      </p:sp>
      <p:sp>
        <p:nvSpPr>
          <p:cNvPr id="4" name="Text 2"/>
          <p:cNvSpPr/>
          <p:nvPr/>
        </p:nvSpPr>
        <p:spPr>
          <a:xfrm>
            <a:off x="667512" y="950976"/>
            <a:ext cx="447141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Your company</a:t>
            </a:r>
            <a:endParaRPr lang="en-US" sz="2000" dirty="0"/>
          </a:p>
        </p:txBody>
      </p:sp>
      <p:sp>
        <p:nvSpPr>
          <p:cNvPr id="5" name="Text 3"/>
          <p:cNvSpPr/>
          <p:nvPr/>
        </p:nvSpPr>
        <p:spPr>
          <a:xfrm>
            <a:off x="667512" y="1389888"/>
            <a:ext cx="4471416" cy="233172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Your agent, your tools, your data. The other side should not see these.</a:t>
            </a:r>
            <a:endParaRPr lang="en-US" sz="1600" dirty="0"/>
          </a:p>
        </p:txBody>
      </p:sp>
      <p:sp>
        <p:nvSpPr>
          <p:cNvPr id="6" name="Shape 4"/>
          <p:cNvSpPr/>
          <p:nvPr/>
        </p:nvSpPr>
        <p:spPr>
          <a:xfrm>
            <a:off x="6903720" y="822960"/>
            <a:ext cx="4800600" cy="3063240"/>
          </a:xfrm>
          <a:prstGeom prst="roundRect">
            <a:avLst>
              <a:gd name="adj" fmla="val 2388"/>
            </a:avLst>
          </a:prstGeom>
          <a:solidFill>
            <a:srgbClr val="F6D6C6"/>
          </a:solidFill>
          <a:ln/>
        </p:spPr>
        <p:txBody>
          <a:bodyPr/>
          <a:lstStyle/>
          <a:p>
            <a:endParaRPr lang="en-GB"/>
          </a:p>
        </p:txBody>
      </p:sp>
      <p:sp>
        <p:nvSpPr>
          <p:cNvPr id="7" name="Text 5"/>
          <p:cNvSpPr/>
          <p:nvPr/>
        </p:nvSpPr>
        <p:spPr>
          <a:xfrm>
            <a:off x="7068312" y="950976"/>
            <a:ext cx="447141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Their company</a:t>
            </a:r>
            <a:endParaRPr lang="en-US" sz="2000" dirty="0"/>
          </a:p>
        </p:txBody>
      </p:sp>
      <p:sp>
        <p:nvSpPr>
          <p:cNvPr id="8" name="Text 6"/>
          <p:cNvSpPr/>
          <p:nvPr/>
        </p:nvSpPr>
        <p:spPr>
          <a:xfrm>
            <a:off x="7068312" y="1389888"/>
            <a:ext cx="4471416" cy="233172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Their agent, their tools, their data. You should not see these.</a:t>
            </a:r>
            <a:endParaRPr lang="en-US" sz="1600" dirty="0"/>
          </a:p>
        </p:txBody>
      </p:sp>
      <p:sp>
        <p:nvSpPr>
          <p:cNvPr id="9" name="Shape 7"/>
          <p:cNvSpPr/>
          <p:nvPr/>
        </p:nvSpPr>
        <p:spPr>
          <a:xfrm>
            <a:off x="3897429" y="2926080"/>
            <a:ext cx="4251960" cy="1143000"/>
          </a:xfrm>
          <a:prstGeom prst="roundRect">
            <a:avLst>
              <a:gd name="adj" fmla="val 6400"/>
            </a:avLst>
          </a:prstGeom>
          <a:solidFill>
            <a:srgbClr val="DDD0EE"/>
          </a:solidFill>
          <a:ln/>
        </p:spPr>
        <p:txBody>
          <a:bodyPr/>
          <a:lstStyle/>
          <a:p>
            <a:endParaRPr lang="en-GB"/>
          </a:p>
        </p:txBody>
      </p:sp>
      <p:sp>
        <p:nvSpPr>
          <p:cNvPr id="10" name="Text 8"/>
          <p:cNvSpPr/>
          <p:nvPr/>
        </p:nvSpPr>
        <p:spPr>
          <a:xfrm>
            <a:off x="3977640" y="3123799"/>
            <a:ext cx="4251960" cy="365760"/>
          </a:xfrm>
          <a:prstGeom prst="rect">
            <a:avLst/>
          </a:prstGeom>
          <a:noFill/>
          <a:ln/>
        </p:spPr>
        <p:txBody>
          <a:bodyPr wrap="square" lIns="0" tIns="0" rIns="0" bIns="0" rtlCol="0" anchor="ctr"/>
          <a:lstStyle/>
          <a:p>
            <a:pPr marL="0" indent="0" algn="ctr">
              <a:buNone/>
            </a:pPr>
            <a:r>
              <a:rPr lang="en-US" sz="1800" dirty="0">
                <a:solidFill>
                  <a:srgbClr val="2C2C2C"/>
                </a:solidFill>
                <a:latin typeface="Calibri" pitchFamily="34" charset="0"/>
                <a:ea typeface="Calibri" pitchFamily="34" charset="-122"/>
                <a:cs typeface="Calibri" pitchFamily="34" charset="-120"/>
              </a:rPr>
              <a:t>A2A path</a:t>
            </a:r>
            <a:endParaRPr lang="en-US" sz="1800" dirty="0"/>
          </a:p>
        </p:txBody>
      </p:sp>
      <p:sp>
        <p:nvSpPr>
          <p:cNvPr id="11" name="Text 9"/>
          <p:cNvSpPr/>
          <p:nvPr/>
        </p:nvSpPr>
        <p:spPr>
          <a:xfrm>
            <a:off x="4059936" y="3471111"/>
            <a:ext cx="4251960" cy="457200"/>
          </a:xfrm>
          <a:prstGeom prst="rect">
            <a:avLst/>
          </a:prstGeom>
          <a:noFill/>
          <a:ln/>
        </p:spPr>
        <p:txBody>
          <a:bodyPr wrap="square" lIns="0" tIns="0" rIns="0" bIns="0" rtlCol="0" anchor="ctr"/>
          <a:lstStyle/>
          <a:p>
            <a:pPr marL="0" indent="0" algn="ctr">
              <a:buNone/>
            </a:pPr>
            <a:r>
              <a:rPr lang="en-US" sz="1800" dirty="0">
                <a:solidFill>
                  <a:srgbClr val="4A4A4A"/>
                </a:solidFill>
                <a:latin typeface="Calibri" pitchFamily="34" charset="0"/>
                <a:ea typeface="Calibri" pitchFamily="34" charset="-122"/>
                <a:cs typeface="Calibri" pitchFamily="34" charset="-120"/>
              </a:rPr>
              <a:t>Job and result only</a:t>
            </a:r>
            <a:endParaRPr lang="en-US" sz="1800" dirty="0"/>
          </a:p>
        </p:txBody>
      </p:sp>
      <p:sp>
        <p:nvSpPr>
          <p:cNvPr id="12" name="Text 10"/>
          <p:cNvSpPr/>
          <p:nvPr/>
        </p:nvSpPr>
        <p:spPr>
          <a:xfrm>
            <a:off x="548640" y="4114800"/>
            <a:ext cx="11064240" cy="1005840"/>
          </a:xfrm>
          <a:prstGeom prst="rect">
            <a:avLst/>
          </a:prstGeom>
          <a:noFill/>
          <a:ln/>
        </p:spPr>
        <p:txBody>
          <a:bodyPr wrap="square" lIns="0" tIns="0" rIns="0" bIns="0" rtlCol="0" anchor="ctr"/>
          <a:lstStyle/>
          <a:p>
            <a:pPr marL="0" indent="0">
              <a:buNone/>
            </a:pPr>
            <a:r>
              <a:rPr lang="en-US" sz="2000" dirty="0">
                <a:solidFill>
                  <a:srgbClr val="4A4A4A"/>
                </a:solidFill>
                <a:latin typeface="Calibri" pitchFamily="34" charset="0"/>
                <a:ea typeface="Calibri" pitchFamily="34" charset="-122"/>
                <a:cs typeface="Calibri" pitchFamily="34" charset="-120"/>
              </a:rPr>
              <a:t>You will not get their code. That is why login, permission, and this narrow path sit in the shared rules.</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182880"/>
            <a:ext cx="11064240" cy="411480"/>
          </a:xfrm>
          <a:prstGeom prst="rect">
            <a:avLst/>
          </a:prstGeom>
          <a:noFill/>
          <a:ln/>
        </p:spPr>
        <p:txBody>
          <a:bodyPr wrap="square" lIns="0" tIns="0" rIns="0" bIns="0" rtlCol="0" anchor="ctr"/>
          <a:lstStyle/>
          <a:p>
            <a:pPr marL="0" indent="0">
              <a:buNone/>
            </a:pPr>
            <a:r>
              <a:rPr lang="en-US" sz="3200" dirty="0">
                <a:solidFill>
                  <a:srgbClr val="2C2C2C"/>
                </a:solidFill>
                <a:latin typeface="Calibri" pitchFamily="34" charset="0"/>
                <a:ea typeface="Calibri" pitchFamily="34" charset="-122"/>
                <a:cs typeface="Calibri" pitchFamily="34" charset="-120"/>
              </a:rPr>
              <a:t>Login and permission</a:t>
            </a:r>
            <a:endParaRPr lang="en-US" sz="3200" dirty="0"/>
          </a:p>
        </p:txBody>
      </p:sp>
      <p:sp>
        <p:nvSpPr>
          <p:cNvPr id="3" name="Shape 1"/>
          <p:cNvSpPr/>
          <p:nvPr/>
        </p:nvSpPr>
        <p:spPr>
          <a:xfrm>
            <a:off x="457200" y="731520"/>
            <a:ext cx="2788920" cy="2011680"/>
          </a:xfrm>
          <a:prstGeom prst="roundRect">
            <a:avLst>
              <a:gd name="adj" fmla="val 3636"/>
            </a:avLst>
          </a:prstGeom>
          <a:solidFill>
            <a:srgbClr val="C5DDF0"/>
          </a:solidFill>
          <a:ln/>
        </p:spPr>
        <p:txBody>
          <a:bodyPr/>
          <a:lstStyle/>
          <a:p>
            <a:endParaRPr lang="en-GB"/>
          </a:p>
        </p:txBody>
      </p:sp>
      <p:sp>
        <p:nvSpPr>
          <p:cNvPr id="4" name="Text 2"/>
          <p:cNvSpPr/>
          <p:nvPr/>
        </p:nvSpPr>
        <p:spPr>
          <a:xfrm>
            <a:off x="621792" y="859536"/>
            <a:ext cx="245973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Read card</a:t>
            </a:r>
            <a:endParaRPr lang="en-US" sz="2000" dirty="0"/>
          </a:p>
        </p:txBody>
      </p:sp>
      <p:sp>
        <p:nvSpPr>
          <p:cNvPr id="5" name="Text 3"/>
          <p:cNvSpPr/>
          <p:nvPr/>
        </p:nvSpPr>
        <p:spPr>
          <a:xfrm>
            <a:off x="621792" y="1298448"/>
            <a:ext cx="2459736" cy="128016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See the login method.</a:t>
            </a:r>
            <a:endParaRPr lang="en-US" sz="1600" dirty="0"/>
          </a:p>
        </p:txBody>
      </p:sp>
      <p:sp>
        <p:nvSpPr>
          <p:cNvPr id="6" name="Shape 4"/>
          <p:cNvSpPr/>
          <p:nvPr/>
        </p:nvSpPr>
        <p:spPr>
          <a:xfrm>
            <a:off x="3264408" y="1645920"/>
            <a:ext cx="329184" cy="182880"/>
          </a:xfrm>
          <a:prstGeom prst="rightArrow">
            <a:avLst/>
          </a:prstGeom>
          <a:solidFill>
            <a:srgbClr val="C8C2B8"/>
          </a:solidFill>
          <a:ln/>
        </p:spPr>
        <p:txBody>
          <a:bodyPr/>
          <a:lstStyle/>
          <a:p>
            <a:endParaRPr lang="en-GB"/>
          </a:p>
        </p:txBody>
      </p:sp>
      <p:sp>
        <p:nvSpPr>
          <p:cNvPr id="7" name="Shape 5"/>
          <p:cNvSpPr/>
          <p:nvPr/>
        </p:nvSpPr>
        <p:spPr>
          <a:xfrm>
            <a:off x="3383280" y="731520"/>
            <a:ext cx="2788920" cy="2011680"/>
          </a:xfrm>
          <a:prstGeom prst="roundRect">
            <a:avLst>
              <a:gd name="adj" fmla="val 3636"/>
            </a:avLst>
          </a:prstGeom>
          <a:solidFill>
            <a:srgbClr val="C9E6D0"/>
          </a:solidFill>
          <a:ln/>
        </p:spPr>
        <p:txBody>
          <a:bodyPr/>
          <a:lstStyle/>
          <a:p>
            <a:endParaRPr lang="en-GB"/>
          </a:p>
        </p:txBody>
      </p:sp>
      <p:sp>
        <p:nvSpPr>
          <p:cNvPr id="8" name="Text 6"/>
          <p:cNvSpPr/>
          <p:nvPr/>
        </p:nvSpPr>
        <p:spPr>
          <a:xfrm>
            <a:off x="3547872" y="859536"/>
            <a:ext cx="245973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Get token</a:t>
            </a:r>
            <a:endParaRPr lang="en-US" sz="2000" dirty="0"/>
          </a:p>
        </p:txBody>
      </p:sp>
      <p:sp>
        <p:nvSpPr>
          <p:cNvPr id="9" name="Text 7"/>
          <p:cNvSpPr/>
          <p:nvPr/>
        </p:nvSpPr>
        <p:spPr>
          <a:xfrm>
            <a:off x="3547872" y="1298448"/>
            <a:ext cx="2459736" cy="128016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Ask the login server.</a:t>
            </a:r>
            <a:endParaRPr lang="en-US" sz="1600" dirty="0"/>
          </a:p>
        </p:txBody>
      </p:sp>
      <p:sp>
        <p:nvSpPr>
          <p:cNvPr id="10" name="Shape 8"/>
          <p:cNvSpPr/>
          <p:nvPr/>
        </p:nvSpPr>
        <p:spPr>
          <a:xfrm>
            <a:off x="6190488" y="1645920"/>
            <a:ext cx="329184" cy="182880"/>
          </a:xfrm>
          <a:prstGeom prst="rightArrow">
            <a:avLst/>
          </a:prstGeom>
          <a:solidFill>
            <a:srgbClr val="C8C2B8"/>
          </a:solidFill>
          <a:ln/>
        </p:spPr>
        <p:txBody>
          <a:bodyPr/>
          <a:lstStyle/>
          <a:p>
            <a:endParaRPr lang="en-GB"/>
          </a:p>
        </p:txBody>
      </p:sp>
      <p:sp>
        <p:nvSpPr>
          <p:cNvPr id="11" name="Shape 9"/>
          <p:cNvSpPr/>
          <p:nvPr/>
        </p:nvSpPr>
        <p:spPr>
          <a:xfrm>
            <a:off x="6309360" y="731520"/>
            <a:ext cx="2788920" cy="2011680"/>
          </a:xfrm>
          <a:prstGeom prst="roundRect">
            <a:avLst>
              <a:gd name="adj" fmla="val 3636"/>
            </a:avLst>
          </a:prstGeom>
          <a:solidFill>
            <a:srgbClr val="F6D6C6"/>
          </a:solidFill>
          <a:ln/>
        </p:spPr>
        <p:txBody>
          <a:bodyPr/>
          <a:lstStyle/>
          <a:p>
            <a:endParaRPr lang="en-GB"/>
          </a:p>
        </p:txBody>
      </p:sp>
      <p:sp>
        <p:nvSpPr>
          <p:cNvPr id="12" name="Text 10"/>
          <p:cNvSpPr/>
          <p:nvPr/>
        </p:nvSpPr>
        <p:spPr>
          <a:xfrm>
            <a:off x="6473952" y="859536"/>
            <a:ext cx="245973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Put in header</a:t>
            </a:r>
            <a:endParaRPr lang="en-US" sz="2000" dirty="0"/>
          </a:p>
        </p:txBody>
      </p:sp>
      <p:sp>
        <p:nvSpPr>
          <p:cNvPr id="13" name="Text 11"/>
          <p:cNvSpPr/>
          <p:nvPr/>
        </p:nvSpPr>
        <p:spPr>
          <a:xfrm>
            <a:off x="6473952" y="1298448"/>
            <a:ext cx="2459736" cy="128016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Not inside the job text.</a:t>
            </a:r>
            <a:endParaRPr lang="en-US" sz="1600" dirty="0"/>
          </a:p>
        </p:txBody>
      </p:sp>
      <p:sp>
        <p:nvSpPr>
          <p:cNvPr id="14" name="Shape 12"/>
          <p:cNvSpPr/>
          <p:nvPr/>
        </p:nvSpPr>
        <p:spPr>
          <a:xfrm>
            <a:off x="9116568" y="1645920"/>
            <a:ext cx="329184" cy="182880"/>
          </a:xfrm>
          <a:prstGeom prst="rightArrow">
            <a:avLst/>
          </a:prstGeom>
          <a:solidFill>
            <a:srgbClr val="C8C2B8"/>
          </a:solidFill>
          <a:ln/>
        </p:spPr>
        <p:txBody>
          <a:bodyPr/>
          <a:lstStyle/>
          <a:p>
            <a:endParaRPr lang="en-GB"/>
          </a:p>
        </p:txBody>
      </p:sp>
      <p:sp>
        <p:nvSpPr>
          <p:cNvPr id="15" name="Shape 13"/>
          <p:cNvSpPr/>
          <p:nvPr/>
        </p:nvSpPr>
        <p:spPr>
          <a:xfrm>
            <a:off x="9235440" y="731520"/>
            <a:ext cx="2788920" cy="2011680"/>
          </a:xfrm>
          <a:prstGeom prst="roundRect">
            <a:avLst>
              <a:gd name="adj" fmla="val 3636"/>
            </a:avLst>
          </a:prstGeom>
          <a:solidFill>
            <a:srgbClr val="DDD0EE"/>
          </a:solidFill>
          <a:ln/>
        </p:spPr>
        <p:txBody>
          <a:bodyPr/>
          <a:lstStyle/>
          <a:p>
            <a:endParaRPr lang="en-GB"/>
          </a:p>
        </p:txBody>
      </p:sp>
      <p:sp>
        <p:nvSpPr>
          <p:cNvPr id="16" name="Text 14"/>
          <p:cNvSpPr/>
          <p:nvPr/>
        </p:nvSpPr>
        <p:spPr>
          <a:xfrm>
            <a:off x="9400032" y="859536"/>
            <a:ext cx="245973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Check skill</a:t>
            </a:r>
            <a:endParaRPr lang="en-US" sz="2000" dirty="0"/>
          </a:p>
        </p:txBody>
      </p:sp>
      <p:sp>
        <p:nvSpPr>
          <p:cNvPr id="17" name="Text 15"/>
          <p:cNvSpPr/>
          <p:nvPr/>
        </p:nvSpPr>
        <p:spPr>
          <a:xfrm>
            <a:off x="9400032" y="1298448"/>
            <a:ext cx="2459736" cy="128016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May you do this job?</a:t>
            </a:r>
            <a:endParaRPr lang="en-US" sz="1600" dirty="0"/>
          </a:p>
        </p:txBody>
      </p:sp>
      <p:sp>
        <p:nvSpPr>
          <p:cNvPr id="18" name="Shape 16"/>
          <p:cNvSpPr/>
          <p:nvPr/>
        </p:nvSpPr>
        <p:spPr>
          <a:xfrm>
            <a:off x="457200" y="2971800"/>
            <a:ext cx="5623560" cy="3154680"/>
          </a:xfrm>
          <a:prstGeom prst="roundRect">
            <a:avLst>
              <a:gd name="adj" fmla="val 2319"/>
            </a:avLst>
          </a:prstGeom>
          <a:solidFill>
            <a:srgbClr val="D0EBE3"/>
          </a:solidFill>
          <a:ln/>
        </p:spPr>
        <p:txBody>
          <a:bodyPr/>
          <a:lstStyle/>
          <a:p>
            <a:endParaRPr lang="en-GB"/>
          </a:p>
        </p:txBody>
      </p:sp>
      <p:sp>
        <p:nvSpPr>
          <p:cNvPr id="19" name="Text 17"/>
          <p:cNvSpPr/>
          <p:nvPr/>
        </p:nvSpPr>
        <p:spPr>
          <a:xfrm>
            <a:off x="621792" y="3099816"/>
            <a:ext cx="529437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Can leave</a:t>
            </a:r>
            <a:endParaRPr lang="en-US" sz="2000" dirty="0"/>
          </a:p>
        </p:txBody>
      </p:sp>
      <p:sp>
        <p:nvSpPr>
          <p:cNvPr id="20" name="Text 18"/>
          <p:cNvSpPr/>
          <p:nvPr/>
        </p:nvSpPr>
        <p:spPr>
          <a:xfrm>
            <a:off x="621792" y="3538728"/>
            <a:ext cx="5294376" cy="242316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The card. Login headers. The job. Files the job needs. The result. The job id. Use HTTPS the whole way.</a:t>
            </a:r>
            <a:endParaRPr lang="en-US" sz="1600" dirty="0"/>
          </a:p>
        </p:txBody>
      </p:sp>
      <p:sp>
        <p:nvSpPr>
          <p:cNvPr id="21" name="Shape 19"/>
          <p:cNvSpPr/>
          <p:nvPr/>
        </p:nvSpPr>
        <p:spPr>
          <a:xfrm>
            <a:off x="6263640" y="2971800"/>
            <a:ext cx="5440680" cy="3154680"/>
          </a:xfrm>
          <a:prstGeom prst="roundRect">
            <a:avLst>
              <a:gd name="adj" fmla="val 2319"/>
            </a:avLst>
          </a:prstGeom>
          <a:solidFill>
            <a:srgbClr val="F3D0DC"/>
          </a:solidFill>
          <a:ln/>
        </p:spPr>
        <p:txBody>
          <a:bodyPr/>
          <a:lstStyle/>
          <a:p>
            <a:endParaRPr lang="en-GB"/>
          </a:p>
        </p:txBody>
      </p:sp>
      <p:sp>
        <p:nvSpPr>
          <p:cNvPr id="22" name="Text 20"/>
          <p:cNvSpPr/>
          <p:nvPr/>
        </p:nvSpPr>
        <p:spPr>
          <a:xfrm>
            <a:off x="6428232" y="3099816"/>
            <a:ext cx="511149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Must stay home</a:t>
            </a:r>
            <a:endParaRPr lang="en-US" sz="2000" dirty="0"/>
          </a:p>
        </p:txBody>
      </p:sp>
      <p:sp>
        <p:nvSpPr>
          <p:cNvPr id="23" name="Text 21"/>
          <p:cNvSpPr/>
          <p:nvPr/>
        </p:nvSpPr>
        <p:spPr>
          <a:xfrm>
            <a:off x="6428232" y="3538728"/>
            <a:ext cx="5111496" cy="242316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Hidden prompts. Tool lists. Full customer stores. Inner plans. Passwords. Do not put secrets in the card file.</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502920"/>
          </a:xfrm>
          <a:prstGeom prst="rect">
            <a:avLst/>
          </a:prstGeom>
          <a:noFill/>
          <a:ln/>
        </p:spPr>
        <p:txBody>
          <a:bodyPr wrap="square" lIns="0" tIns="0" rIns="0" bIns="0" rtlCol="0" anchor="ctr"/>
          <a:lstStyle/>
          <a:p>
            <a:pPr marL="0" indent="0">
              <a:buNone/>
            </a:pPr>
            <a:r>
              <a:rPr lang="en-US" sz="3400" dirty="0">
                <a:solidFill>
                  <a:srgbClr val="2C2C2C"/>
                </a:solidFill>
                <a:latin typeface="Calibri" pitchFamily="34" charset="0"/>
                <a:ea typeface="Calibri" pitchFamily="34" charset="-122"/>
                <a:cs typeface="Calibri" pitchFamily="34" charset="-120"/>
              </a:rPr>
              <a:t>How to start this week</a:t>
            </a:r>
            <a:endParaRPr lang="en-US" sz="3400" dirty="0"/>
          </a:p>
        </p:txBody>
      </p:sp>
      <p:sp>
        <p:nvSpPr>
          <p:cNvPr id="3" name="Text 1"/>
          <p:cNvSpPr/>
          <p:nvPr/>
        </p:nvSpPr>
        <p:spPr>
          <a:xfrm>
            <a:off x="502920" y="960120"/>
            <a:ext cx="11155680" cy="749808"/>
          </a:xfrm>
          <a:prstGeom prst="rect">
            <a:avLst/>
          </a:prstGeom>
          <a:noFill/>
          <a:ln/>
        </p:spPr>
        <p:txBody>
          <a:bodyPr wrap="square" lIns="0" tIns="0" rIns="0" bIns="0" rtlCol="0" anchor="ctr"/>
          <a:lstStyle/>
          <a:p>
            <a:pPr marL="0" indent="0">
              <a:buNone/>
            </a:pPr>
            <a:r>
              <a:rPr lang="en-US" sz="2200" dirty="0">
                <a:solidFill>
                  <a:srgbClr val="2C2C2C"/>
                </a:solidFill>
                <a:latin typeface="Calibri" pitchFamily="34" charset="0"/>
                <a:ea typeface="Calibri" pitchFamily="34" charset="-122"/>
                <a:cs typeface="Calibri" pitchFamily="34" charset="-120"/>
              </a:rPr>
              <a:t>1.  Publish an Agent Card with a real login method. Not open access.</a:t>
            </a:r>
            <a:endParaRPr lang="en-US" sz="2200" dirty="0"/>
          </a:p>
        </p:txBody>
      </p:sp>
      <p:sp>
        <p:nvSpPr>
          <p:cNvPr id="4" name="Text 2"/>
          <p:cNvSpPr/>
          <p:nvPr/>
        </p:nvSpPr>
        <p:spPr>
          <a:xfrm>
            <a:off x="502920" y="1801368"/>
            <a:ext cx="11155680" cy="749808"/>
          </a:xfrm>
          <a:prstGeom prst="rect">
            <a:avLst/>
          </a:prstGeom>
          <a:noFill/>
          <a:ln/>
        </p:spPr>
        <p:txBody>
          <a:bodyPr wrap="square" lIns="0" tIns="0" rIns="0" bIns="0" rtlCol="0" anchor="ctr"/>
          <a:lstStyle/>
          <a:p>
            <a:pPr marL="0" indent="0">
              <a:buNone/>
            </a:pPr>
            <a:r>
              <a:rPr lang="en-US" sz="2200" dirty="0">
                <a:solidFill>
                  <a:srgbClr val="2C2C2C"/>
                </a:solidFill>
                <a:latin typeface="Calibri" pitchFamily="34" charset="0"/>
                <a:ea typeface="Calibri" pitchFamily="34" charset="-122"/>
                <a:cs typeface="Calibri" pitchFamily="34" charset="-120"/>
              </a:rPr>
              <a:t>2.  Keep a private list of partners you trust.</a:t>
            </a:r>
            <a:endParaRPr lang="en-US" sz="2200" dirty="0"/>
          </a:p>
        </p:txBody>
      </p:sp>
      <p:sp>
        <p:nvSpPr>
          <p:cNvPr id="5" name="Text 3"/>
          <p:cNvSpPr/>
          <p:nvPr/>
        </p:nvSpPr>
        <p:spPr>
          <a:xfrm>
            <a:off x="502920" y="2642616"/>
            <a:ext cx="11155680" cy="749808"/>
          </a:xfrm>
          <a:prstGeom prst="rect">
            <a:avLst/>
          </a:prstGeom>
          <a:noFill/>
          <a:ln/>
        </p:spPr>
        <p:txBody>
          <a:bodyPr wrap="square" lIns="0" tIns="0" rIns="0" bIns="0" rtlCol="0" anchor="ctr"/>
          <a:lstStyle/>
          <a:p>
            <a:pPr marL="0" indent="0">
              <a:buNone/>
            </a:pPr>
            <a:r>
              <a:rPr lang="en-US" sz="2200" dirty="0">
                <a:solidFill>
                  <a:srgbClr val="2C2C2C"/>
                </a:solidFill>
                <a:latin typeface="Calibri" pitchFamily="34" charset="0"/>
                <a:ea typeface="Calibri" pitchFamily="34" charset="-122"/>
                <a:cs typeface="Calibri" pitchFamily="34" charset="-120"/>
              </a:rPr>
              <a:t>3.  Use the login system you already have. A2A does not replace it.</a:t>
            </a:r>
            <a:endParaRPr lang="en-US" sz="2200" dirty="0"/>
          </a:p>
        </p:txBody>
      </p:sp>
      <p:sp>
        <p:nvSpPr>
          <p:cNvPr id="6" name="Text 4"/>
          <p:cNvSpPr/>
          <p:nvPr/>
        </p:nvSpPr>
        <p:spPr>
          <a:xfrm>
            <a:off x="502920" y="3483864"/>
            <a:ext cx="11155680" cy="749808"/>
          </a:xfrm>
          <a:prstGeom prst="rect">
            <a:avLst/>
          </a:prstGeom>
          <a:noFill/>
          <a:ln/>
        </p:spPr>
        <p:txBody>
          <a:bodyPr wrap="square" lIns="0" tIns="0" rIns="0" bIns="0" rtlCol="0" anchor="ctr"/>
          <a:lstStyle/>
          <a:p>
            <a:pPr marL="0" indent="0">
              <a:buNone/>
            </a:pPr>
            <a:r>
              <a:rPr lang="en-US" sz="2200" dirty="0">
                <a:solidFill>
                  <a:srgbClr val="2C2C2C"/>
                </a:solidFill>
                <a:latin typeface="Calibri" pitchFamily="34" charset="0"/>
                <a:ea typeface="Calibri" pitchFamily="34" charset="-122"/>
                <a:cs typeface="Calibri" pitchFamily="34" charset="-120"/>
              </a:rPr>
              <a:t>4.  Run one sample server. Send one message. Then try live updates.</a:t>
            </a:r>
            <a:endParaRPr lang="en-US" sz="2200" dirty="0"/>
          </a:p>
        </p:txBody>
      </p:sp>
      <p:sp>
        <p:nvSpPr>
          <p:cNvPr id="7" name="Text 5"/>
          <p:cNvSpPr/>
          <p:nvPr/>
        </p:nvSpPr>
        <p:spPr>
          <a:xfrm>
            <a:off x="502920" y="4325112"/>
            <a:ext cx="11155680" cy="749808"/>
          </a:xfrm>
          <a:prstGeom prst="rect">
            <a:avLst/>
          </a:prstGeom>
          <a:noFill/>
          <a:ln/>
        </p:spPr>
        <p:txBody>
          <a:bodyPr wrap="square" lIns="0" tIns="0" rIns="0" bIns="0" rtlCol="0" anchor="ctr"/>
          <a:lstStyle/>
          <a:p>
            <a:pPr marL="0" indent="0">
              <a:buNone/>
            </a:pPr>
            <a:r>
              <a:rPr lang="en-US" sz="2200" dirty="0">
                <a:solidFill>
                  <a:srgbClr val="2C2C2C"/>
                </a:solidFill>
                <a:latin typeface="Calibri" pitchFamily="34" charset="0"/>
                <a:ea typeface="Calibri" pitchFamily="34" charset="-122"/>
                <a:cs typeface="Calibri" pitchFamily="34" charset="-120"/>
              </a:rPr>
              <a:t>5.  Start with one simple read skill. Add write or pay later.</a:t>
            </a:r>
            <a:endParaRPr lang="en-US" sz="2200" dirty="0"/>
          </a:p>
        </p:txBody>
      </p:sp>
      <p:sp>
        <p:nvSpPr>
          <p:cNvPr id="8" name="Text 6"/>
          <p:cNvSpPr/>
          <p:nvPr/>
        </p:nvSpPr>
        <p:spPr>
          <a:xfrm>
            <a:off x="502920" y="5166360"/>
            <a:ext cx="11155680" cy="749808"/>
          </a:xfrm>
          <a:prstGeom prst="rect">
            <a:avLst/>
          </a:prstGeom>
          <a:noFill/>
          <a:ln/>
        </p:spPr>
        <p:txBody>
          <a:bodyPr wrap="square" lIns="0" tIns="0" rIns="0" bIns="0" rtlCol="0" anchor="ctr"/>
          <a:lstStyle/>
          <a:p>
            <a:pPr marL="0" indent="0">
              <a:buNone/>
            </a:pPr>
            <a:r>
              <a:rPr lang="en-US" sz="2200" dirty="0">
                <a:solidFill>
                  <a:srgbClr val="2C2C2C"/>
                </a:solidFill>
                <a:latin typeface="Calibri" pitchFamily="34" charset="0"/>
                <a:ea typeface="Calibri" pitchFamily="34" charset="-122"/>
                <a:cs typeface="Calibri" pitchFamily="34" charset="-120"/>
              </a:rPr>
              <a:t>6.  Read agent2agent.info and the enterprise ready page.</a:t>
            </a:r>
            <a:endParaRPr lang="en-US" sz="2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1051560"/>
            <a:ext cx="11064240" cy="731520"/>
          </a:xfrm>
          <a:prstGeom prst="rect">
            <a:avLst/>
          </a:prstGeom>
          <a:noFill/>
          <a:ln/>
        </p:spPr>
        <p:txBody>
          <a:bodyPr wrap="square" lIns="0" tIns="0" rIns="0" bIns="0" rtlCol="0" anchor="ctr"/>
          <a:lstStyle/>
          <a:p>
            <a:pPr marL="0" indent="0">
              <a:buNone/>
            </a:pPr>
            <a:r>
              <a:rPr lang="en-US" sz="3400" dirty="0">
                <a:solidFill>
                  <a:srgbClr val="2C2C2C"/>
                </a:solidFill>
                <a:latin typeface="Calibri" pitchFamily="34" charset="0"/>
                <a:ea typeface="Calibri" pitchFamily="34" charset="-122"/>
                <a:cs typeface="Calibri" pitchFamily="34" charset="-120"/>
              </a:rPr>
              <a:t>Let agents work with other agents</a:t>
            </a:r>
            <a:endParaRPr lang="en-US" sz="3400" dirty="0"/>
          </a:p>
        </p:txBody>
      </p:sp>
      <p:sp>
        <p:nvSpPr>
          <p:cNvPr id="3" name="Text 1"/>
          <p:cNvSpPr/>
          <p:nvPr/>
        </p:nvSpPr>
        <p:spPr>
          <a:xfrm>
            <a:off x="548640" y="1920240"/>
            <a:ext cx="11064240" cy="1234440"/>
          </a:xfrm>
          <a:prstGeom prst="rect">
            <a:avLst/>
          </a:prstGeom>
          <a:noFill/>
          <a:ln/>
        </p:spPr>
        <p:txBody>
          <a:bodyPr wrap="square" lIns="0" tIns="0" rIns="0" bIns="0" rtlCol="0" anchor="ctr"/>
          <a:lstStyle/>
          <a:p>
            <a:pPr marL="0" indent="0">
              <a:buNone/>
            </a:pPr>
            <a:r>
              <a:rPr lang="en-US" sz="2200" dirty="0">
                <a:solidFill>
                  <a:srgbClr val="4A4A4A"/>
                </a:solidFill>
                <a:latin typeface="Calibri" pitchFamily="34" charset="0"/>
                <a:ea typeface="Calibri" pitchFamily="34" charset="-122"/>
                <a:cs typeface="Calibri" pitchFamily="34" charset="-120"/>
              </a:rPr>
              <a:t>A2A is the shared language. Use it when the other agent is not yours. Send the job. Take the result. Prove who you are before the work starts.</a:t>
            </a:r>
            <a:endParaRPr lang="en-US" sz="2200" dirty="0"/>
          </a:p>
        </p:txBody>
      </p:sp>
      <p:sp>
        <p:nvSpPr>
          <p:cNvPr id="4" name="Shape 2"/>
          <p:cNvSpPr/>
          <p:nvPr/>
        </p:nvSpPr>
        <p:spPr>
          <a:xfrm>
            <a:off x="502920" y="3383280"/>
            <a:ext cx="2176272" cy="1051560"/>
          </a:xfrm>
          <a:prstGeom prst="roundRect">
            <a:avLst>
              <a:gd name="adj" fmla="val 6957"/>
            </a:avLst>
          </a:prstGeom>
          <a:solidFill>
            <a:srgbClr val="C5DDF0"/>
          </a:solidFill>
          <a:ln/>
        </p:spPr>
        <p:txBody>
          <a:bodyPr/>
          <a:lstStyle/>
          <a:p>
            <a:endParaRPr lang="en-GB"/>
          </a:p>
        </p:txBody>
      </p:sp>
      <p:sp>
        <p:nvSpPr>
          <p:cNvPr id="5" name="Text 3"/>
          <p:cNvSpPr/>
          <p:nvPr/>
        </p:nvSpPr>
        <p:spPr>
          <a:xfrm>
            <a:off x="502920" y="3383280"/>
            <a:ext cx="2176272" cy="1051560"/>
          </a:xfrm>
          <a:prstGeom prst="rect">
            <a:avLst/>
          </a:prstGeom>
          <a:noFill/>
          <a:ln/>
        </p:spPr>
        <p:txBody>
          <a:bodyPr wrap="square" lIns="0" tIns="0" rIns="0" bIns="0" rtlCol="0" anchor="ctr"/>
          <a:lstStyle/>
          <a:p>
            <a:pPr marL="0" indent="0" algn="ctr">
              <a:buNone/>
            </a:pPr>
            <a:r>
              <a:rPr lang="en-US" sz="2000" dirty="0">
                <a:solidFill>
                  <a:srgbClr val="2C2C2C"/>
                </a:solidFill>
                <a:latin typeface="Calibri" pitchFamily="34" charset="0"/>
                <a:ea typeface="Calibri" pitchFamily="34" charset="-122"/>
                <a:cs typeface="Calibri" pitchFamily="34" charset="-120"/>
              </a:rPr>
              <a:t>Find</a:t>
            </a:r>
            <a:endParaRPr lang="en-US" sz="2000" dirty="0"/>
          </a:p>
        </p:txBody>
      </p:sp>
      <p:sp>
        <p:nvSpPr>
          <p:cNvPr id="6" name="Shape 4"/>
          <p:cNvSpPr/>
          <p:nvPr/>
        </p:nvSpPr>
        <p:spPr>
          <a:xfrm>
            <a:off x="2807208" y="3383280"/>
            <a:ext cx="2176272" cy="1051560"/>
          </a:xfrm>
          <a:prstGeom prst="roundRect">
            <a:avLst>
              <a:gd name="adj" fmla="val 6957"/>
            </a:avLst>
          </a:prstGeom>
          <a:solidFill>
            <a:srgbClr val="C9E6D0"/>
          </a:solidFill>
          <a:ln/>
        </p:spPr>
        <p:txBody>
          <a:bodyPr/>
          <a:lstStyle/>
          <a:p>
            <a:endParaRPr lang="en-GB"/>
          </a:p>
        </p:txBody>
      </p:sp>
      <p:sp>
        <p:nvSpPr>
          <p:cNvPr id="7" name="Text 5"/>
          <p:cNvSpPr/>
          <p:nvPr/>
        </p:nvSpPr>
        <p:spPr>
          <a:xfrm>
            <a:off x="2807208" y="3383280"/>
            <a:ext cx="2176272" cy="1051560"/>
          </a:xfrm>
          <a:prstGeom prst="rect">
            <a:avLst/>
          </a:prstGeom>
          <a:noFill/>
          <a:ln/>
        </p:spPr>
        <p:txBody>
          <a:bodyPr wrap="square" lIns="0" tIns="0" rIns="0" bIns="0" rtlCol="0" anchor="ctr"/>
          <a:lstStyle/>
          <a:p>
            <a:pPr marL="0" indent="0" algn="ctr">
              <a:buNone/>
            </a:pPr>
            <a:r>
              <a:rPr lang="en-US" sz="2000" dirty="0">
                <a:solidFill>
                  <a:srgbClr val="2C2C2C"/>
                </a:solidFill>
                <a:latin typeface="Calibri" pitchFamily="34" charset="0"/>
                <a:ea typeface="Calibri" pitchFamily="34" charset="-122"/>
                <a:cs typeface="Calibri" pitchFamily="34" charset="-120"/>
              </a:rPr>
              <a:t>Log in</a:t>
            </a:r>
            <a:endParaRPr lang="en-US" sz="2000" dirty="0"/>
          </a:p>
        </p:txBody>
      </p:sp>
      <p:sp>
        <p:nvSpPr>
          <p:cNvPr id="8" name="Shape 6"/>
          <p:cNvSpPr/>
          <p:nvPr/>
        </p:nvSpPr>
        <p:spPr>
          <a:xfrm>
            <a:off x="5111496" y="3383280"/>
            <a:ext cx="2176272" cy="1051560"/>
          </a:xfrm>
          <a:prstGeom prst="roundRect">
            <a:avLst>
              <a:gd name="adj" fmla="val 6957"/>
            </a:avLst>
          </a:prstGeom>
          <a:solidFill>
            <a:srgbClr val="F6D6C6"/>
          </a:solidFill>
          <a:ln/>
        </p:spPr>
        <p:txBody>
          <a:bodyPr/>
          <a:lstStyle/>
          <a:p>
            <a:endParaRPr lang="en-GB"/>
          </a:p>
        </p:txBody>
      </p:sp>
      <p:sp>
        <p:nvSpPr>
          <p:cNvPr id="9" name="Text 7"/>
          <p:cNvSpPr/>
          <p:nvPr/>
        </p:nvSpPr>
        <p:spPr>
          <a:xfrm>
            <a:off x="5111496" y="3383280"/>
            <a:ext cx="2176272" cy="1051560"/>
          </a:xfrm>
          <a:prstGeom prst="rect">
            <a:avLst/>
          </a:prstGeom>
          <a:noFill/>
          <a:ln/>
        </p:spPr>
        <p:txBody>
          <a:bodyPr wrap="square" lIns="0" tIns="0" rIns="0" bIns="0" rtlCol="0" anchor="ctr"/>
          <a:lstStyle/>
          <a:p>
            <a:pPr marL="0" indent="0" algn="ctr">
              <a:buNone/>
            </a:pPr>
            <a:r>
              <a:rPr lang="en-US" sz="2000" dirty="0">
                <a:solidFill>
                  <a:srgbClr val="2C2C2C"/>
                </a:solidFill>
                <a:latin typeface="Calibri" pitchFamily="34" charset="0"/>
                <a:ea typeface="Calibri" pitchFamily="34" charset="-122"/>
                <a:cs typeface="Calibri" pitchFamily="34" charset="-120"/>
              </a:rPr>
              <a:t>Send job</a:t>
            </a:r>
            <a:endParaRPr lang="en-US" sz="2000" dirty="0"/>
          </a:p>
        </p:txBody>
      </p:sp>
      <p:sp>
        <p:nvSpPr>
          <p:cNvPr id="10" name="Shape 8"/>
          <p:cNvSpPr/>
          <p:nvPr/>
        </p:nvSpPr>
        <p:spPr>
          <a:xfrm>
            <a:off x="7415784" y="3383280"/>
            <a:ext cx="2176272" cy="1051560"/>
          </a:xfrm>
          <a:prstGeom prst="roundRect">
            <a:avLst>
              <a:gd name="adj" fmla="val 6957"/>
            </a:avLst>
          </a:prstGeom>
          <a:solidFill>
            <a:srgbClr val="DDD0EE"/>
          </a:solidFill>
          <a:ln/>
        </p:spPr>
        <p:txBody>
          <a:bodyPr/>
          <a:lstStyle/>
          <a:p>
            <a:endParaRPr lang="en-GB"/>
          </a:p>
        </p:txBody>
      </p:sp>
      <p:sp>
        <p:nvSpPr>
          <p:cNvPr id="11" name="Text 9"/>
          <p:cNvSpPr/>
          <p:nvPr/>
        </p:nvSpPr>
        <p:spPr>
          <a:xfrm>
            <a:off x="7415784" y="3383280"/>
            <a:ext cx="2176272" cy="1051560"/>
          </a:xfrm>
          <a:prstGeom prst="rect">
            <a:avLst/>
          </a:prstGeom>
          <a:noFill/>
          <a:ln/>
        </p:spPr>
        <p:txBody>
          <a:bodyPr wrap="square" lIns="0" tIns="0" rIns="0" bIns="0" rtlCol="0" anchor="ctr"/>
          <a:lstStyle/>
          <a:p>
            <a:pPr marL="0" indent="0" algn="ctr">
              <a:buNone/>
            </a:pPr>
            <a:r>
              <a:rPr lang="en-US" sz="2000" dirty="0">
                <a:solidFill>
                  <a:srgbClr val="2C2C2C"/>
                </a:solidFill>
                <a:latin typeface="Calibri" pitchFamily="34" charset="0"/>
                <a:ea typeface="Calibri" pitchFamily="34" charset="-122"/>
                <a:cs typeface="Calibri" pitchFamily="34" charset="-120"/>
              </a:rPr>
              <a:t>Work</a:t>
            </a:r>
            <a:endParaRPr lang="en-US" sz="2000" dirty="0"/>
          </a:p>
        </p:txBody>
      </p:sp>
      <p:sp>
        <p:nvSpPr>
          <p:cNvPr id="12" name="Shape 10"/>
          <p:cNvSpPr/>
          <p:nvPr/>
        </p:nvSpPr>
        <p:spPr>
          <a:xfrm>
            <a:off x="9720072" y="3383280"/>
            <a:ext cx="2176272" cy="1051560"/>
          </a:xfrm>
          <a:prstGeom prst="roundRect">
            <a:avLst>
              <a:gd name="adj" fmla="val 6957"/>
            </a:avLst>
          </a:prstGeom>
          <a:solidFill>
            <a:srgbClr val="F3E6B8"/>
          </a:solidFill>
          <a:ln/>
        </p:spPr>
        <p:txBody>
          <a:bodyPr/>
          <a:lstStyle/>
          <a:p>
            <a:endParaRPr lang="en-GB"/>
          </a:p>
        </p:txBody>
      </p:sp>
      <p:sp>
        <p:nvSpPr>
          <p:cNvPr id="13" name="Text 11"/>
          <p:cNvSpPr/>
          <p:nvPr/>
        </p:nvSpPr>
        <p:spPr>
          <a:xfrm>
            <a:off x="9720072" y="3383280"/>
            <a:ext cx="2176272" cy="1051560"/>
          </a:xfrm>
          <a:prstGeom prst="rect">
            <a:avLst/>
          </a:prstGeom>
          <a:noFill/>
          <a:ln/>
        </p:spPr>
        <p:txBody>
          <a:bodyPr wrap="square" lIns="0" tIns="0" rIns="0" bIns="0" rtlCol="0" anchor="ctr"/>
          <a:lstStyle/>
          <a:p>
            <a:pPr marL="0" indent="0" algn="ctr">
              <a:buNone/>
            </a:pPr>
            <a:r>
              <a:rPr lang="en-US" sz="2000" dirty="0">
                <a:solidFill>
                  <a:srgbClr val="2C2C2C"/>
                </a:solidFill>
                <a:latin typeface="Calibri" pitchFamily="34" charset="0"/>
                <a:ea typeface="Calibri" pitchFamily="34" charset="-122"/>
                <a:cs typeface="Calibri" pitchFamily="34" charset="-120"/>
              </a:rPr>
              <a:t>Result</a:t>
            </a:r>
            <a:endParaRPr lang="en-US" sz="2000" dirty="0"/>
          </a:p>
        </p:txBody>
      </p:sp>
      <p:sp>
        <p:nvSpPr>
          <p:cNvPr id="14" name="Text 12"/>
          <p:cNvSpPr/>
          <p:nvPr/>
        </p:nvSpPr>
        <p:spPr>
          <a:xfrm>
            <a:off x="548640" y="4709160"/>
            <a:ext cx="11064240" cy="411480"/>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Docs: agent2agent.info</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2</TotalTime>
  <Words>3812</Words>
  <Application>Microsoft Office PowerPoint</Application>
  <PresentationFormat>Widescreen</PresentationFormat>
  <Paragraphs>171</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Protocol Briefing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Agent2Agent Protocol</dc:title>
  <dc:subject>PptxGenJS Presentation</dc:subject>
  <dc:creator>A2A Briefing</dc:creator>
  <cp:lastModifiedBy>Duldulao, Devlin (DNV External)</cp:lastModifiedBy>
  <cp:revision>2</cp:revision>
  <dcterms:created xsi:type="dcterms:W3CDTF">2026-09-26T10:47:43Z</dcterms:created>
  <dcterms:modified xsi:type="dcterms:W3CDTF">2026-09-26T10:54:26Z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ies>
</file>
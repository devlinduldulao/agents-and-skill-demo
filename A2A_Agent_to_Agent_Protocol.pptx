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99" r:id="rId2"/>
    <p:sldId id="256" r:id="rId3"/>
    <p:sldId id="289" r:id="rId4"/>
    <p:sldId id="257" r:id="rId5"/>
    <p:sldId id="258" r:id="rId6"/>
    <p:sldId id="290" r:id="rId7"/>
    <p:sldId id="291" r:id="rId8"/>
    <p:sldId id="292" r:id="rId9"/>
    <p:sldId id="294" r:id="rId10"/>
    <p:sldId id="295" r:id="rId11"/>
    <p:sldId id="293" r:id="rId12"/>
    <p:sldId id="259" r:id="rId13"/>
    <p:sldId id="260" r:id="rId14"/>
    <p:sldId id="261" r:id="rId15"/>
    <p:sldId id="262" r:id="rId16"/>
    <p:sldId id="263" r:id="rId17"/>
    <p:sldId id="264" r:id="rId18"/>
    <p:sldId id="297" r:id="rId19"/>
    <p:sldId id="296" r:id="rId20"/>
    <p:sldId id="265" r:id="rId21"/>
    <p:sldId id="267" r:id="rId22"/>
    <p:sldId id="298"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86"/>
    <p:restoredTop sz="65724" autoAdjust="0"/>
  </p:normalViewPr>
  <p:slideViewPr>
    <p:cSldViewPr snapToGrid="0" snapToObjects="1">
      <p:cViewPr varScale="1">
        <p:scale>
          <a:sx n="95" d="100"/>
          <a:sy n="95" d="100"/>
        </p:scale>
        <p:origin x="2344" y="192"/>
      </p:cViewPr>
      <p:guideLst/>
    </p:cSldViewPr>
  </p:slideViewPr>
  <p:notesTextViewPr>
    <p:cViewPr>
      <p:scale>
        <a:sx n="130" d="100"/>
        <a:sy n="13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5940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653715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Thank you for coming. Today we will learn the Agent-to-Agent protocol. People also say A2A. It is not a product you buy from one vendor. It is a shared set of rules so one AI agent can work with another AI agent.
Look at the five boxes at the bottom. That is the whole story of a call. Find the other agent. Log in. Send the job. Let it work. Take the result. We will come back to this path many times.
Why does this matter now? Many teams already have an agent. The next problem is not one more model. The next problem is: how does my agent ask your agent for help when I cannot see your code, your tools, or your data? A2A is the answer we will study.
I will speak in simple words. If a word on the slide is new, I will explain it when we get there. Please save questions for the end of each part, or write them down.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more like a TL;DR of my talk in a university in Halden. Some important terminologies here, but we will focus on A2A… </a:t>
            </a:r>
            <a:r>
              <a:rPr lang="en-GB" dirty="0" err="1"/>
              <a:t>So.</a:t>
            </a:r>
            <a:endParaRPr lang="en-GB" dirty="0"/>
          </a:p>
          <a:p>
            <a:endParaRPr lang="en-GB" dirty="0"/>
          </a:p>
          <a:p>
            <a:r>
              <a:rPr lang="en-GB" dirty="0"/>
              <a:t>MCP and A2A are external workflows. Let’s imagine each one of us has a software company….</a:t>
            </a:r>
          </a:p>
          <a:p>
            <a:endParaRPr lang="en-GB" dirty="0"/>
          </a:p>
          <a:p>
            <a:r>
              <a:rPr lang="en-GB" dirty="0"/>
              <a:t>a lot of us are already familiar with </a:t>
            </a:r>
            <a:r>
              <a:rPr lang="en-GB" dirty="0" err="1"/>
              <a:t>AGENTS.md</a:t>
            </a:r>
            <a:r>
              <a:rPr lang="en-GB" dirty="0"/>
              <a:t> and agent skills md files.</a:t>
            </a:r>
          </a:p>
          <a:p>
            <a:endParaRPr lang="en-GB" dirty="0"/>
          </a:p>
          <a:p>
            <a:r>
              <a:rPr lang="en-GB" dirty="0"/>
              <a:t>Subagents is just for your own solution. It is an internal workflow. You own it, you control it. You have a parent model here who decides where to delegate a task to its subagent.</a:t>
            </a:r>
          </a:p>
          <a:p>
            <a:endParaRPr lang="en-GB" dirty="0"/>
          </a:p>
          <a:p>
            <a:r>
              <a:rPr lang="en-GB" dirty="0"/>
              <a:t>Agentic harness is the term for the app that you are using where you can select a model you prefer.</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98946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map of the short presentation. First I will say what A2A is, and I will also say what it is not, because people mix it with tools and with chat products.
Second, the problem. I will use a trip example. A user asks one assistant to plan a trip. That job needs other agents that the assistant does not own.
Third, benefits and when to use it. A2A is not for every job. If you only need your own database, you do not need A2A.
Fourth, the pieces: Agent Card, task, message, result. Then the five step path.
Fifth, MCP. MCP is for tools inside your company. A2A is for agents you do not run.
Sixth, login and permission. This part matters because the other agent often belongs to another company.
Seventh, what you can. A card, a trusted list, one sample call.
If we run short on time, we will not skip the path slide or the login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to Agent. A2A.
It is an open standard. Google published it last year. Many companies joined. The work now sits with the Linux Foundation, so it is not only a Google tool.
Look at the four boxes. One, find. You read a small public file called an Agent Card. That file says who the agent is, what it can do, where to send work, and how to log in.
Two, talk. The talk uses normal web technology. HTTP. JSON-RPC. Live updates if the job is long. Your team already knows these.
Three, do the job. The unit of work is a task. A task has an id and a status. It can finish in one second or run for hours.
Four, stay private. The other agent is a black box. You get the result. You do not get their prompts, their tool list, or their customer database.
What A2A is not: it is not ChatGPT. It is not a model. It is not MCP. MCP is how a model uses tools. A2A is how one agent talks to another agent.
You can build the agent with LangGraph, Dotnet Agent Framework, Eve in Vercel, Google ADK, or your own code but I would not recommend that.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748047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i="0" kern="1200" dirty="0">
                <a:solidFill>
                  <a:schemeClr val="tx1"/>
                </a:solidFill>
                <a:effectLst/>
                <a:latin typeface="+mn-lt"/>
                <a:ea typeface="+mn-ea"/>
                <a:cs typeface="+mn-cs"/>
              </a:rPr>
              <a:t>A call to your “work URL” looks like this shape.</a:t>
            </a:r>
          </a:p>
          <a:p>
            <a:br>
              <a:rPr lang="en-US" dirty="0"/>
            </a:br>
            <a:r>
              <a:rPr lang="en-US" sz="1200" b="0" i="0" kern="1200" dirty="0">
                <a:solidFill>
                  <a:schemeClr val="tx1"/>
                </a:solidFill>
                <a:effectLst/>
                <a:latin typeface="+mn-lt"/>
                <a:ea typeface="+mn-ea"/>
                <a:cs typeface="+mn-cs"/>
              </a:rPr>
              <a:t>Your server answers with a task or a result. That reply is also JSON.</a:t>
            </a:r>
          </a:p>
        </p:txBody>
      </p:sp>
    </p:spTree>
    <p:extLst>
      <p:ext uri="{BB962C8B-B14F-4D97-AF65-F5344CB8AC3E}">
        <p14:creationId xmlns:p14="http://schemas.microsoft.com/office/powerpoint/2010/main" val="2148728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picture is the problem. The yellow box is your assistant. The user asked it to plan a trip. The assistant is good at talk, but it does not own flights, hotels, currency, or local tickets.
Those four specialists live in other companies. They use other software. They have other rules. Today, with no shared standard, your team would build four private connections. Next year a fifth vendor appears, and you build again.
Three extra problems hide here.
First, people wrap an agent as a simple tool. A tool returns a number and stops. A real agent may need to ask: which dates? what budget? A tool cannot do that well.
Second, custom links often skip login, or they put a password inside the message body. That is how leaks start.
Third, there is no common job ticket. When something fails, your log and their log do not share an id. Nobody can find the same call.
A2A exists to give those four boxes one shared path up to the assistant.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benefits. I will give one sentence for each.
Work across teams. Your flight agent and their hotel agent do not need the same programming language.
Less glue code. Without A2A, every new partner is a new project. With A2A, the partner publishes a card and you already know how to call it.
Long jobs are normal. Booking a trip is not one click. A2A can stream status: still searching, need your passport number, done.
Many kinds of content. Not only chat text. A form. A PDF. A table.
Inner work stays home. This is a business benefit and a safety benefit. You do not hand over your secret process.
Same safety steps. Your security team learns one pattern. They do not review a new private API every month.
So again, A2A lets us work with agents we do not own, without opening our system.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and where to use A2A. 
Use A2A when the other agent does not live in your process. That includes another team in your company if they refuse to share their runtime. It also includes a vendor.
Do not use A2A when you only need Postgres, a file folder, or a calculator you already run. That is MCP. MCP is closer, simpler, and should stay inside your network.
Good places: an order that needs pricing, legal, and shipping. A trip. Two hospitals that must pass one record. Or an inside specialist that must stay locked, for example a tax engine that may not leave a secure room.
You can use MCP and A2A together. MCP under your agent. A2A between agents.
A common mistake: wrapping a foreign agent as a local MCP tool. That hides login and pulls too much context across the company line. Do not do that.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created color-coded boxes here to separate things.</a:t>
            </a:r>
          </a:p>
          <a:p>
            <a:r>
              <a:rPr lang="en-US" dirty="0"/>
              <a:t>
Yellow is data. It never crosses by default.
Green is MCP. That is how an agent uses tools next to its own data. Each company has its own MCP layer. There is no arrow between the green boxes.
Purple is A2A. That is the only layer that crosses the company line. Your agent sends a job. Their agent sends a result.
If someone says we already have MCP so we do not need A2A, show this slide. MCP does not solve the crossing. A2A does not replace MCP. They stack.
The crossing is also why login belongs in A2A. You are leaving your wall.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pieces on the top row. 
Agent Card. A JSON file, often at slash dot well-known slash agent-card.json. It is a name tag and a shop sign. It lists skills and the login method. Do not put passwords in this file.
Task. One unit of work. It has an id both companies can write in their logs. That id is how you debug later.
Message. One turn. Role is user or agent. Inside a message you can put text, a file, or structured data.
Result. The docs also say artifact. I will say result. It is the thing you wanted: a booked plan, a report, a table.
Bottom row: life of a task. Submitted means they accepted the job. Working means they are busy. Needs input is important. That is how the other agent asks a question instead of guessing. Done means you can take the result. Failed means stop and read the error. There is also canceled, if someone stops the job.
A very short answer can be only a message, with no task. A long job should always be a task so you can follow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I will walk it slowly.
Step one, find. Your agent loads the Agent Card from a known web path, or from a private list your company keeps.
Step two, log in. The card says how. Maybe OpenID. Maybe a bearer token. Maybe an API key. You get that proof from a login server, not from the card file. You send the proof in the HTTP header, not inside the job text.
Step three, check rights. A valid login is not a free pass. Their server asks: may this caller start this skill? Read a price is not the same as pay a bill. If the answer is no, you get 401 or 403. Stop. Do not send the job.
Step four, send work. You send a message. If the work is long, they create a task and you follow the task id.
Step five, get the result. Status becomes done. You take the output. You do not take their inner steps.
You can wait in three ways. One reply if the job is fast. Live updates if you keep a connection open. A later notice to a web address you give them, if you cannot stay connected.
Three roles. The user sets the goal. Your agent is the client. Their agent is the server. Tomorrow the roles can flip. Then you must check their token the same way.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effectLst/>
              </a:rPr>
              <a:t>If 5–7 fail, the handler should not run. Return 401 or 403.</a:t>
            </a:r>
          </a:p>
          <a:p>
            <a:endParaRPr lang="en-US" dirty="0">
              <a:effectLst/>
            </a:endParaRPr>
          </a:p>
          <a:p>
            <a:r>
              <a:rPr lang="en-US" dirty="0">
                <a:effectLst/>
              </a:rPr>
              <a:t>You can put 5–7 in an API gateway so the work URL handler never sees a bad call. Same pattern as a locked REST API. A2A just adds the card and the task envelope around that.</a:t>
            </a:r>
          </a:p>
          <a:p>
            <a:endParaRPr lang="en-US" dirty="0"/>
          </a:p>
        </p:txBody>
      </p:sp>
    </p:spTree>
    <p:extLst>
      <p:ext uri="{BB962C8B-B14F-4D97-AF65-F5344CB8AC3E}">
        <p14:creationId xmlns:p14="http://schemas.microsoft.com/office/powerpoint/2010/main" val="1980409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6DAE6-B17A-F29A-E142-4686069FB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2A56B-27EE-85B2-FFED-B47BF7B36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648D1-58D5-36E9-6162-36019CF0A414}"/>
              </a:ext>
            </a:extLst>
          </p:cNvPr>
          <p:cNvSpPr>
            <a:spLocks noGrp="1"/>
          </p:cNvSpPr>
          <p:nvPr>
            <p:ph type="body" idx="1"/>
          </p:nvPr>
        </p:nvSpPr>
        <p:spPr/>
        <p:txBody>
          <a:bodyPr/>
          <a:lstStyle/>
          <a:p>
            <a:r>
              <a:rPr lang="en-US" dirty="0"/>
              <a:t>This is the path. I will walk it slowly.
Step one, find. Your agent loads the Agent Card from a known web path, or from a private list your company keeps.
Step two, log in. The card says how. Maybe OpenID. Maybe a bearer token. Maybe an API key. You get that proof from a login server, not from the card file. You send the proof in the HTTP header, not inside the job text.
Step three, check rights. A valid login is not a free pass. Their server asks: may this caller start this skill? Read a price is not the same as pay a bill. If the answer is no, you get 401 or 403. Stop. Do not send the job.
Step four, send work. You send a message. If the work is long, they create a task and you follow the task id.
Step five, get the result. Status becomes done. You take the output. You do not take their inner steps.
You can wait in three ways. One reply if the job is fast. Live updates if you keep a connection open. A later notice to a web address you give them, if you cannot stay connected.
There are three roles in this process. The user sets the goal. Your agent is the client. Their agent is the server. </a:t>
            </a:r>
          </a:p>
        </p:txBody>
      </p:sp>
      <p:sp>
        <p:nvSpPr>
          <p:cNvPr id="4" name="Slide Number Placeholder 3">
            <a:extLst>
              <a:ext uri="{FF2B5EF4-FFF2-40B4-BE49-F238E27FC236}">
                <a16:creationId xmlns:a16="http://schemas.microsoft.com/office/drawing/2014/main" id="{DEB4FE01-5096-F632-874D-1CAFA70CAE13}"/>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61903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is you. Peach is them. Purple in the middle is A2A.
This is the hard case, and it is the case A2A was built for. You cannot review their source. You cannot join their user directory. You should not copy their tools into your agent.
So the protocol must do three things that a random private API often forgets.
One, a standard way to prove who is calling.
Two, a standard way for the owner to say this caller may start this skill, but not that skill.
Three, a narrow path. Only the job and the result cross. Your agent’s template prompts and tool lists and customer data will not be exposed to the other agents sending requests.
If your partner cannot meet those three, do not connect. A2A does not replace your login system. It tells both agents how to use the login system you already have.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actions you can take for a proof-of-concept.
One. Publish a card. Put a real login method on it. A sample card that allows anyone is fine on a laptop. It is not fine in production.
Two. Make a private list of partners. That list is your allow list.
Three. Keep Entra-ID or whatever you use. A2A only says how to present the token.
Four. Run your agent. Fetch the card with a simple GET. Send one message. Then turn on live updates so you feel a long job.
Five. First skill should be read only. A quote. A search. Not a payment. Add write skills after the path is proven.
Six. Read the official docs a2a-protocol.org and community maintained learning website agent2agent.info.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31171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A79BBF-3F49-2B82-A869-3C1F64F19F15}"/>
              </a:ext>
            </a:extLst>
          </p:cNvPr>
          <p:cNvSpPr txBox="1"/>
          <p:nvPr userDrawn="1">
            <p:extLst>
              <p:ext uri="{1162E1C5-73C7-4A58-AE30-91384D911F3F}">
                <p184:classification xmlns:p184="http://schemas.microsoft.com/office/powerpoint/2018/4/main" val="ftr"/>
              </p:ext>
            </p:extLst>
          </p:nvPr>
        </p:nvSpPr>
        <p:spPr>
          <a:xfrm>
            <a:off x="63500" y="6642100"/>
            <a:ext cx="73025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Internal Only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descr="Agent2Agent Protocol Logo">
            <a:extLst>
              <a:ext uri="{FF2B5EF4-FFF2-40B4-BE49-F238E27FC236}">
                <a16:creationId xmlns:a16="http://schemas.microsoft.com/office/drawing/2014/main" id="{D081ACF5-8724-8051-59F2-E1963BEE91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22189" y="443753"/>
            <a:ext cx="7569200" cy="1879600"/>
          </a:xfrm>
          <a:prstGeom prst="rect">
            <a:avLst/>
          </a:prstGeom>
        </p:spPr>
      </p:pic>
      <p:pic>
        <p:nvPicPr>
          <p:cNvPr id="6" name="Picture 5">
            <a:extLst>
              <a:ext uri="{FF2B5EF4-FFF2-40B4-BE49-F238E27FC236}">
                <a16:creationId xmlns:a16="http://schemas.microsoft.com/office/drawing/2014/main" id="{C5514D41-25AC-8D7C-4C86-4A367195A143}"/>
              </a:ext>
            </a:extLst>
          </p:cNvPr>
          <p:cNvPicPr>
            <a:picLocks noChangeAspect="1"/>
          </p:cNvPicPr>
          <p:nvPr/>
        </p:nvPicPr>
        <p:blipFill>
          <a:blip r:embed="rId4"/>
          <a:stretch>
            <a:fillRect/>
          </a:stretch>
        </p:blipFill>
        <p:spPr>
          <a:xfrm>
            <a:off x="4419600" y="1627974"/>
            <a:ext cx="7772400" cy="5230026"/>
          </a:xfrm>
          <a:prstGeom prst="rect">
            <a:avLst/>
          </a:prstGeom>
        </p:spPr>
      </p:pic>
      <p:sp>
        <p:nvSpPr>
          <p:cNvPr id="8" name="TextBox 7">
            <a:extLst>
              <a:ext uri="{FF2B5EF4-FFF2-40B4-BE49-F238E27FC236}">
                <a16:creationId xmlns:a16="http://schemas.microsoft.com/office/drawing/2014/main" id="{43FF63D3-472B-1225-264E-DFF794723F46}"/>
              </a:ext>
            </a:extLst>
          </p:cNvPr>
          <p:cNvSpPr txBox="1"/>
          <p:nvPr/>
        </p:nvSpPr>
        <p:spPr>
          <a:xfrm>
            <a:off x="7835901" y="1152720"/>
            <a:ext cx="5311587" cy="461665"/>
          </a:xfrm>
          <a:prstGeom prst="rect">
            <a:avLst/>
          </a:prstGeom>
          <a:noFill/>
        </p:spPr>
        <p:txBody>
          <a:bodyPr wrap="square">
            <a:spAutoFit/>
          </a:bodyPr>
          <a:lstStyle/>
          <a:p>
            <a:pPr algn="ctr"/>
            <a:r>
              <a:rPr lang="en-US" sz="2400" dirty="0"/>
              <a:t>a2a-protocol.org</a:t>
            </a:r>
          </a:p>
        </p:txBody>
      </p:sp>
    </p:spTree>
    <p:extLst>
      <p:ext uri="{BB962C8B-B14F-4D97-AF65-F5344CB8AC3E}">
        <p14:creationId xmlns:p14="http://schemas.microsoft.com/office/powerpoint/2010/main" val="256748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74920"/>
            <a:ext cx="2176272" cy="685800"/>
          </a:xfrm>
          <a:prstGeom prst="roundRect">
            <a:avLst>
              <a:gd name="adj" fmla="val 10667"/>
            </a:avLst>
          </a:prstGeom>
          <a:solidFill>
            <a:srgbClr val="C5DDF0"/>
          </a:solidFill>
          <a:ln/>
        </p:spPr>
        <p:txBody>
          <a:bodyPr/>
          <a:lstStyle/>
          <a:p>
            <a:endParaRPr lang="en-GB"/>
          </a:p>
        </p:txBody>
      </p:sp>
      <p:sp>
        <p:nvSpPr>
          <p:cNvPr id="3" name="Text 1"/>
          <p:cNvSpPr/>
          <p:nvPr/>
        </p:nvSpPr>
        <p:spPr>
          <a:xfrm>
            <a:off x="502920" y="5074920"/>
            <a:ext cx="2176272" cy="685800"/>
          </a:xfrm>
          <a:prstGeom prst="rect">
            <a:avLst/>
          </a:prstGeom>
          <a:noFill/>
          <a:ln/>
        </p:spPr>
        <p:txBody>
          <a:bodyPr wrap="square" lIns="0" tIns="0" rIns="0" bIns="0" rtlCol="0" anchor="ctr"/>
          <a:lstStyle/>
          <a:p>
            <a:pPr marL="0" indent="0" algn="ctr">
              <a:buNone/>
            </a:pPr>
            <a:r>
              <a:rPr lang="en-US" sz="1800" dirty="0">
                <a:solidFill>
                  <a:srgbClr val="2C2C2C"/>
                </a:solidFill>
                <a:latin typeface="Calibri" pitchFamily="34" charset="0"/>
                <a:ea typeface="Calibri" pitchFamily="34" charset="-122"/>
                <a:cs typeface="Calibri" pitchFamily="34" charset="-120"/>
              </a:rPr>
              <a:t>Find</a:t>
            </a:r>
            <a:endParaRPr lang="en-US" sz="1800" dirty="0"/>
          </a:p>
        </p:txBody>
      </p:sp>
      <p:sp>
        <p:nvSpPr>
          <p:cNvPr id="4" name="Shape 2"/>
          <p:cNvSpPr/>
          <p:nvPr/>
        </p:nvSpPr>
        <p:spPr>
          <a:xfrm>
            <a:off x="2807208" y="5074920"/>
            <a:ext cx="2176272" cy="685800"/>
          </a:xfrm>
          <a:prstGeom prst="roundRect">
            <a:avLst>
              <a:gd name="adj" fmla="val 10667"/>
            </a:avLst>
          </a:prstGeom>
          <a:solidFill>
            <a:srgbClr val="C9E6D0"/>
          </a:solidFill>
          <a:ln/>
        </p:spPr>
        <p:txBody>
          <a:bodyPr/>
          <a:lstStyle/>
          <a:p>
            <a:endParaRPr lang="en-GB"/>
          </a:p>
        </p:txBody>
      </p:sp>
      <p:sp>
        <p:nvSpPr>
          <p:cNvPr id="5" name="Text 3"/>
          <p:cNvSpPr/>
          <p:nvPr/>
        </p:nvSpPr>
        <p:spPr>
          <a:xfrm>
            <a:off x="2807208" y="5074920"/>
            <a:ext cx="2176272" cy="685800"/>
          </a:xfrm>
          <a:prstGeom prst="rect">
            <a:avLst/>
          </a:prstGeom>
          <a:noFill/>
          <a:ln/>
        </p:spPr>
        <p:txBody>
          <a:bodyPr wrap="square" lIns="0" tIns="0" rIns="0" bIns="0" rtlCol="0" anchor="ctr"/>
          <a:lstStyle/>
          <a:p>
            <a:pPr marL="0" indent="0" algn="ctr">
              <a:buNone/>
            </a:pPr>
            <a:r>
              <a:rPr lang="en-US" sz="1800" dirty="0">
                <a:solidFill>
                  <a:srgbClr val="2C2C2C"/>
                </a:solidFill>
                <a:latin typeface="Calibri" pitchFamily="34" charset="0"/>
                <a:ea typeface="Calibri" pitchFamily="34" charset="-122"/>
                <a:cs typeface="Calibri" pitchFamily="34" charset="-120"/>
              </a:rPr>
              <a:t>Log in</a:t>
            </a:r>
            <a:endParaRPr lang="en-US" sz="1800" dirty="0"/>
          </a:p>
        </p:txBody>
      </p:sp>
      <p:sp>
        <p:nvSpPr>
          <p:cNvPr id="6" name="Shape 4"/>
          <p:cNvSpPr/>
          <p:nvPr/>
        </p:nvSpPr>
        <p:spPr>
          <a:xfrm>
            <a:off x="5111496" y="5074920"/>
            <a:ext cx="2176272" cy="685800"/>
          </a:xfrm>
          <a:prstGeom prst="roundRect">
            <a:avLst>
              <a:gd name="adj" fmla="val 10667"/>
            </a:avLst>
          </a:prstGeom>
          <a:solidFill>
            <a:srgbClr val="F6D6C6"/>
          </a:solidFill>
          <a:ln/>
        </p:spPr>
        <p:txBody>
          <a:bodyPr/>
          <a:lstStyle/>
          <a:p>
            <a:endParaRPr lang="en-GB"/>
          </a:p>
        </p:txBody>
      </p:sp>
      <p:sp>
        <p:nvSpPr>
          <p:cNvPr id="7" name="Text 5"/>
          <p:cNvSpPr/>
          <p:nvPr/>
        </p:nvSpPr>
        <p:spPr>
          <a:xfrm>
            <a:off x="5111496" y="5074920"/>
            <a:ext cx="2176272" cy="685800"/>
          </a:xfrm>
          <a:prstGeom prst="rect">
            <a:avLst/>
          </a:prstGeom>
          <a:noFill/>
          <a:ln/>
        </p:spPr>
        <p:txBody>
          <a:bodyPr wrap="square" lIns="0" tIns="0" rIns="0" bIns="0" rtlCol="0" anchor="ctr"/>
          <a:lstStyle/>
          <a:p>
            <a:pPr marL="0" indent="0" algn="ctr">
              <a:buNone/>
            </a:pPr>
            <a:r>
              <a:rPr lang="en-US" sz="1800" dirty="0">
                <a:solidFill>
                  <a:srgbClr val="2C2C2C"/>
                </a:solidFill>
                <a:latin typeface="Calibri" pitchFamily="34" charset="0"/>
                <a:ea typeface="Calibri" pitchFamily="34" charset="-122"/>
                <a:cs typeface="Calibri" pitchFamily="34" charset="-120"/>
              </a:rPr>
              <a:t>Send job</a:t>
            </a:r>
            <a:endParaRPr lang="en-US" sz="1800" dirty="0"/>
          </a:p>
        </p:txBody>
      </p:sp>
      <p:sp>
        <p:nvSpPr>
          <p:cNvPr id="8" name="Shape 6"/>
          <p:cNvSpPr/>
          <p:nvPr/>
        </p:nvSpPr>
        <p:spPr>
          <a:xfrm>
            <a:off x="7415784" y="5074920"/>
            <a:ext cx="2176272" cy="685800"/>
          </a:xfrm>
          <a:prstGeom prst="roundRect">
            <a:avLst>
              <a:gd name="adj" fmla="val 10667"/>
            </a:avLst>
          </a:prstGeom>
          <a:solidFill>
            <a:srgbClr val="DDD0EE"/>
          </a:solidFill>
          <a:ln/>
        </p:spPr>
        <p:txBody>
          <a:bodyPr/>
          <a:lstStyle/>
          <a:p>
            <a:endParaRPr lang="en-GB"/>
          </a:p>
        </p:txBody>
      </p:sp>
      <p:sp>
        <p:nvSpPr>
          <p:cNvPr id="9" name="Text 7"/>
          <p:cNvSpPr/>
          <p:nvPr/>
        </p:nvSpPr>
        <p:spPr>
          <a:xfrm>
            <a:off x="7415784" y="5074920"/>
            <a:ext cx="2176272" cy="685800"/>
          </a:xfrm>
          <a:prstGeom prst="rect">
            <a:avLst/>
          </a:prstGeom>
          <a:noFill/>
          <a:ln/>
        </p:spPr>
        <p:txBody>
          <a:bodyPr wrap="square" lIns="0" tIns="0" rIns="0" bIns="0" rtlCol="0" anchor="ctr"/>
          <a:lstStyle/>
          <a:p>
            <a:pPr marL="0" indent="0" algn="ctr">
              <a:buNone/>
            </a:pPr>
            <a:r>
              <a:rPr lang="en-US" sz="1800" dirty="0">
                <a:solidFill>
                  <a:srgbClr val="2C2C2C"/>
                </a:solidFill>
                <a:latin typeface="Calibri" pitchFamily="34" charset="0"/>
                <a:ea typeface="Calibri" pitchFamily="34" charset="-122"/>
                <a:cs typeface="Calibri" pitchFamily="34" charset="-120"/>
              </a:rPr>
              <a:t>Work</a:t>
            </a:r>
            <a:endParaRPr lang="en-US" sz="1800" dirty="0"/>
          </a:p>
        </p:txBody>
      </p:sp>
      <p:sp>
        <p:nvSpPr>
          <p:cNvPr id="10" name="Shape 8"/>
          <p:cNvSpPr/>
          <p:nvPr/>
        </p:nvSpPr>
        <p:spPr>
          <a:xfrm>
            <a:off x="9720072" y="5074920"/>
            <a:ext cx="2176272" cy="685800"/>
          </a:xfrm>
          <a:prstGeom prst="roundRect">
            <a:avLst>
              <a:gd name="adj" fmla="val 10667"/>
            </a:avLst>
          </a:prstGeom>
          <a:solidFill>
            <a:srgbClr val="F3E6B8"/>
          </a:solidFill>
          <a:ln/>
        </p:spPr>
        <p:txBody>
          <a:bodyPr/>
          <a:lstStyle/>
          <a:p>
            <a:endParaRPr lang="en-GB"/>
          </a:p>
        </p:txBody>
      </p:sp>
      <p:sp>
        <p:nvSpPr>
          <p:cNvPr id="11" name="Text 9"/>
          <p:cNvSpPr/>
          <p:nvPr/>
        </p:nvSpPr>
        <p:spPr>
          <a:xfrm>
            <a:off x="9720072" y="5074920"/>
            <a:ext cx="2176272" cy="685800"/>
          </a:xfrm>
          <a:prstGeom prst="rect">
            <a:avLst/>
          </a:prstGeom>
          <a:noFill/>
          <a:ln/>
        </p:spPr>
        <p:txBody>
          <a:bodyPr wrap="square" lIns="0" tIns="0" rIns="0" bIns="0" rtlCol="0" anchor="ctr"/>
          <a:lstStyle/>
          <a:p>
            <a:pPr marL="0" indent="0" algn="ctr">
              <a:buNone/>
            </a:pPr>
            <a:r>
              <a:rPr lang="en-US" sz="1800" dirty="0">
                <a:solidFill>
                  <a:srgbClr val="2C2C2C"/>
                </a:solidFill>
                <a:latin typeface="Calibri" pitchFamily="34" charset="0"/>
                <a:ea typeface="Calibri" pitchFamily="34" charset="-122"/>
                <a:cs typeface="Calibri" pitchFamily="34" charset="-120"/>
              </a:rPr>
              <a:t>Result</a:t>
            </a:r>
            <a:endParaRPr lang="en-US" sz="1800" dirty="0"/>
          </a:p>
        </p:txBody>
      </p:sp>
      <p:sp>
        <p:nvSpPr>
          <p:cNvPr id="12" name="Text 10"/>
          <p:cNvSpPr/>
          <p:nvPr/>
        </p:nvSpPr>
        <p:spPr>
          <a:xfrm>
            <a:off x="548640" y="1691640"/>
            <a:ext cx="11064240" cy="777240"/>
          </a:xfrm>
          <a:prstGeom prst="rect">
            <a:avLst/>
          </a:prstGeom>
          <a:noFill/>
          <a:ln/>
        </p:spPr>
        <p:txBody>
          <a:bodyPr wrap="square" lIns="0" tIns="0" rIns="0" bIns="0" rtlCol="0" anchor="ctr"/>
          <a:lstStyle/>
          <a:p>
            <a:pPr marL="0" indent="0">
              <a:buNone/>
            </a:pPr>
            <a:r>
              <a:rPr lang="en-US" sz="4200" dirty="0">
                <a:solidFill>
                  <a:srgbClr val="2C2C2C"/>
                </a:solidFill>
                <a:latin typeface="Calibri" pitchFamily="34" charset="0"/>
                <a:ea typeface="Calibri" pitchFamily="34" charset="-122"/>
                <a:cs typeface="Calibri" pitchFamily="34" charset="-120"/>
              </a:rPr>
              <a:t>Agent to Agent Protocol</a:t>
            </a:r>
            <a:endParaRPr lang="en-US" sz="4200" dirty="0"/>
          </a:p>
        </p:txBody>
      </p:sp>
      <p:sp>
        <p:nvSpPr>
          <p:cNvPr id="13" name="Text 11"/>
          <p:cNvSpPr/>
          <p:nvPr/>
        </p:nvSpPr>
        <p:spPr>
          <a:xfrm>
            <a:off x="548640" y="2606040"/>
            <a:ext cx="11064240" cy="1234440"/>
          </a:xfrm>
          <a:prstGeom prst="rect">
            <a:avLst/>
          </a:prstGeom>
          <a:noFill/>
          <a:ln/>
        </p:spPr>
        <p:txBody>
          <a:bodyPr wrap="square" lIns="0" tIns="0" rIns="0" bIns="0" rtlCol="0" anchor="ctr"/>
          <a:lstStyle/>
          <a:p>
            <a:pPr marL="0" indent="0">
              <a:buNone/>
            </a:pPr>
            <a:r>
              <a:rPr lang="en-US" sz="2200" dirty="0">
                <a:solidFill>
                  <a:srgbClr val="4A4A4A"/>
                </a:solidFill>
                <a:latin typeface="Calibri" pitchFamily="34" charset="0"/>
                <a:ea typeface="Calibri" pitchFamily="34" charset="-122"/>
                <a:cs typeface="Calibri" pitchFamily="34" charset="-120"/>
              </a:rPr>
              <a:t>A shared way for AI agents to find each other, send a job, and share the result. Even when different companies built them.</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427775-09B3-215E-15F8-D4CC1B0124EA}"/>
              </a:ext>
            </a:extLst>
          </p:cNvPr>
          <p:cNvSpPr txBox="1"/>
          <p:nvPr/>
        </p:nvSpPr>
        <p:spPr>
          <a:xfrm>
            <a:off x="606552" y="507751"/>
            <a:ext cx="11234928"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MCP</a:t>
            </a:r>
            <a:r>
              <a:rPr lang="en-US" sz="2800" b="0" i="0" dirty="0">
                <a:solidFill>
                  <a:srgbClr val="0B0B0B"/>
                </a:solidFill>
                <a:effectLst/>
                <a:latin typeface="anthropic-sans"/>
              </a:rPr>
              <a:t> and </a:t>
            </a:r>
            <a:r>
              <a:rPr lang="en-US" sz="2800" b="1" i="0" dirty="0">
                <a:solidFill>
                  <a:srgbClr val="0B0B0B"/>
                </a:solidFill>
                <a:effectLst/>
                <a:latin typeface="anthropic-sans"/>
              </a:rPr>
              <a:t>A2A</a:t>
            </a:r>
            <a:r>
              <a:rPr lang="en-US" sz="2800" b="0" i="0" dirty="0">
                <a:solidFill>
                  <a:srgbClr val="0B0B0B"/>
                </a:solidFill>
                <a:effectLst/>
                <a:latin typeface="anthropic-sans"/>
              </a:rPr>
              <a:t> are </a:t>
            </a:r>
            <a:r>
              <a:rPr lang="en-US" sz="2800" b="0" i="0" u="sng" dirty="0">
                <a:solidFill>
                  <a:srgbClr val="0B0B0B"/>
                </a:solidFill>
                <a:effectLst/>
                <a:latin typeface="anthropic-sans"/>
              </a:rPr>
              <a:t>open protocols and specifications</a:t>
            </a:r>
            <a:r>
              <a:rPr lang="en-US" sz="2800" b="0" i="0" dirty="0">
                <a:solidFill>
                  <a:srgbClr val="0B0B0B"/>
                </a:solidFill>
                <a:effectLst/>
                <a:latin typeface="anthropic-sans"/>
              </a:rPr>
              <a:t>. </a:t>
            </a:r>
            <a:endParaRPr lang="en-US" sz="2800" dirty="0">
              <a:solidFill>
                <a:srgbClr val="0B0B0B"/>
              </a:solidFill>
              <a:latin typeface="anthropic-sans"/>
            </a:endParaRPr>
          </a:p>
          <a:p>
            <a:pPr marL="914400" lvl="1" indent="-457200">
              <a:lnSpc>
                <a:spcPct val="150000"/>
              </a:lnSpc>
              <a:buFont typeface="Courier New" panose="02070309020205020404" pitchFamily="49" charset="0"/>
              <a:buChar char="o"/>
            </a:pPr>
            <a:r>
              <a:rPr lang="en-US" sz="2800" b="0" i="0" dirty="0">
                <a:solidFill>
                  <a:srgbClr val="0B0B0B"/>
                </a:solidFill>
                <a:effectLst/>
                <a:latin typeface="anthropic-sans"/>
              </a:rPr>
              <a:t>MCP is agent to tool, A2A is agent to agent. </a:t>
            </a: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AGENTS.md</a:t>
            </a:r>
            <a:r>
              <a:rPr lang="en-US" sz="2800" b="0" i="0" dirty="0">
                <a:solidFill>
                  <a:srgbClr val="0B0B0B"/>
                </a:solidFill>
                <a:effectLst/>
                <a:latin typeface="anthropic-sans"/>
              </a:rPr>
              <a:t> is a </a:t>
            </a:r>
            <a:r>
              <a:rPr lang="en-US" sz="2800" b="0" i="0" u="sng" dirty="0">
                <a:solidFill>
                  <a:srgbClr val="0B0B0B"/>
                </a:solidFill>
                <a:effectLst/>
                <a:latin typeface="anthropic-sans"/>
              </a:rPr>
              <a:t>config file</a:t>
            </a:r>
            <a:r>
              <a:rPr lang="en-US" sz="2800" b="0" i="0" dirty="0">
                <a:solidFill>
                  <a:srgbClr val="0B0B0B"/>
                </a:solidFill>
                <a:effectLst/>
                <a:latin typeface="anthropic-sans"/>
              </a:rPr>
              <a:t>. Always loaded, so keep it short. </a:t>
            </a: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SKILL.md</a:t>
            </a:r>
            <a:r>
              <a:rPr lang="en-US" sz="2800" b="0" i="0" dirty="0">
                <a:solidFill>
                  <a:srgbClr val="0B0B0B"/>
                </a:solidFill>
                <a:effectLst/>
                <a:latin typeface="anthropic-sans"/>
              </a:rPr>
              <a:t> is a plugin format file. Schema plus folder, loaded on demand. </a:t>
            </a: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Subagents</a:t>
            </a:r>
            <a:r>
              <a:rPr lang="en-US" sz="2800" b="0" i="0" dirty="0">
                <a:solidFill>
                  <a:srgbClr val="0B0B0B"/>
                </a:solidFill>
                <a:effectLst/>
                <a:latin typeface="anthropic-sans"/>
              </a:rPr>
              <a:t> </a:t>
            </a:r>
            <a:r>
              <a:rPr lang="en-US" sz="2800" dirty="0">
                <a:solidFill>
                  <a:srgbClr val="0B0B0B"/>
                </a:solidFill>
                <a:latin typeface="anthropic-sans"/>
              </a:rPr>
              <a:t>is an</a:t>
            </a:r>
            <a:r>
              <a:rPr lang="en-US" sz="2800" b="0" i="0" dirty="0">
                <a:solidFill>
                  <a:srgbClr val="0B0B0B"/>
                </a:solidFill>
                <a:effectLst/>
                <a:latin typeface="anthropic-sans"/>
              </a:rPr>
              <a:t> </a:t>
            </a:r>
            <a:r>
              <a:rPr lang="en-US" sz="2800" b="0" i="0" u="sng" dirty="0">
                <a:solidFill>
                  <a:srgbClr val="0B0B0B"/>
                </a:solidFill>
                <a:effectLst/>
                <a:latin typeface="anthropic-sans"/>
              </a:rPr>
              <a:t>architectural design pattern</a:t>
            </a:r>
            <a:r>
              <a:rPr lang="en-US" sz="2800" b="0" i="0" dirty="0">
                <a:solidFill>
                  <a:srgbClr val="0B0B0B"/>
                </a:solidFill>
                <a:effectLst/>
                <a:latin typeface="anthropic-sans"/>
              </a:rPr>
              <a:t>. No spec, so every vendor does it differently.</a:t>
            </a:r>
          </a:p>
          <a:p>
            <a:pPr marL="457200" indent="-457200">
              <a:lnSpc>
                <a:spcPct val="150000"/>
              </a:lnSpc>
              <a:buFont typeface="Arial" panose="020B0604020202020204" pitchFamily="34" charset="0"/>
              <a:buChar char="•"/>
            </a:pPr>
            <a:r>
              <a:rPr lang="en-US" sz="2800" b="1" dirty="0">
                <a:solidFill>
                  <a:srgbClr val="0B0B0B"/>
                </a:solidFill>
                <a:latin typeface="anthropic-sans"/>
              </a:rPr>
              <a:t>Agentic harness </a:t>
            </a:r>
            <a:r>
              <a:rPr lang="en-US" sz="2800" dirty="0">
                <a:solidFill>
                  <a:srgbClr val="0B0B0B"/>
                </a:solidFill>
                <a:latin typeface="anthropic-sans"/>
              </a:rPr>
              <a:t>is a wrapper for a model that must have </a:t>
            </a:r>
            <a:r>
              <a:rPr lang="en-US" sz="2800" i="1" dirty="0">
                <a:solidFill>
                  <a:srgbClr val="0B0B0B"/>
                </a:solidFill>
                <a:latin typeface="anthropic-sans"/>
              </a:rPr>
              <a:t>tools</a:t>
            </a:r>
            <a:r>
              <a:rPr lang="en-US" sz="2800" dirty="0">
                <a:solidFill>
                  <a:srgbClr val="0B0B0B"/>
                </a:solidFill>
                <a:latin typeface="anthropic-sans"/>
              </a:rPr>
              <a:t>, </a:t>
            </a:r>
            <a:r>
              <a:rPr lang="en-US" sz="2800" i="1" dirty="0">
                <a:solidFill>
                  <a:srgbClr val="0B0B0B"/>
                </a:solidFill>
                <a:latin typeface="anthropic-sans"/>
              </a:rPr>
              <a:t>memory</a:t>
            </a:r>
            <a:r>
              <a:rPr lang="en-US" sz="2800" dirty="0">
                <a:solidFill>
                  <a:srgbClr val="0B0B0B"/>
                </a:solidFill>
                <a:latin typeface="anthropic-sans"/>
              </a:rPr>
              <a:t>, and </a:t>
            </a:r>
            <a:r>
              <a:rPr lang="en-US" sz="2800" i="1" dirty="0">
                <a:solidFill>
                  <a:srgbClr val="0B0B0B"/>
                </a:solidFill>
                <a:latin typeface="anthropic-sans"/>
              </a:rPr>
              <a:t>agentic loop</a:t>
            </a:r>
            <a:r>
              <a:rPr lang="en-US" sz="2800" dirty="0">
                <a:solidFill>
                  <a:srgbClr val="0B0B0B"/>
                </a:solidFill>
                <a:latin typeface="anthropic-sans"/>
              </a:rPr>
              <a:t>. Use a </a:t>
            </a:r>
            <a:r>
              <a:rPr lang="en-US" sz="2800" u="sng" dirty="0">
                <a:solidFill>
                  <a:srgbClr val="0B0B0B"/>
                </a:solidFill>
                <a:latin typeface="anthropic-sans"/>
              </a:rPr>
              <a:t>framework</a:t>
            </a:r>
            <a:r>
              <a:rPr lang="en-US" sz="2800" dirty="0">
                <a:solidFill>
                  <a:srgbClr val="0B0B0B"/>
                </a:solidFill>
                <a:latin typeface="anthropic-sans"/>
              </a:rPr>
              <a:t>. Don’t implement this yourself.</a:t>
            </a:r>
            <a:endParaRPr lang="en-GB" sz="2800" dirty="0"/>
          </a:p>
        </p:txBody>
      </p:sp>
    </p:spTree>
    <p:extLst>
      <p:ext uri="{BB962C8B-B14F-4D97-AF65-F5344CB8AC3E}">
        <p14:creationId xmlns:p14="http://schemas.microsoft.com/office/powerpoint/2010/main" val="2071303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02920"/>
          </a:xfrm>
          <a:prstGeom prst="rect">
            <a:avLst/>
          </a:prstGeom>
          <a:noFill/>
          <a:ln/>
        </p:spPr>
        <p:txBody>
          <a:bodyPr wrap="square" lIns="0" tIns="0" rIns="0" bIns="0" rtlCol="0" anchor="ctr"/>
          <a:lstStyle/>
          <a:p>
            <a:pPr marL="0" indent="0">
              <a:buNone/>
            </a:pPr>
            <a:r>
              <a:rPr lang="en-US" sz="3400" dirty="0">
                <a:solidFill>
                  <a:srgbClr val="2C2C2C"/>
                </a:solidFill>
                <a:latin typeface="Calibri" pitchFamily="34" charset="0"/>
                <a:ea typeface="Calibri" pitchFamily="34" charset="-122"/>
                <a:cs typeface="Calibri" pitchFamily="34" charset="-120"/>
              </a:rPr>
              <a:t>What we will talk about</a:t>
            </a:r>
            <a:endParaRPr lang="en-US" sz="3400" dirty="0"/>
          </a:p>
        </p:txBody>
      </p:sp>
      <p:sp>
        <p:nvSpPr>
          <p:cNvPr id="3" name="Text 1"/>
          <p:cNvSpPr/>
          <p:nvPr/>
        </p:nvSpPr>
        <p:spPr>
          <a:xfrm>
            <a:off x="548640" y="1005840"/>
            <a:ext cx="11064240" cy="621792"/>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1.  What A2A is, and what it is not</a:t>
            </a:r>
            <a:endParaRPr lang="en-US" sz="2400" dirty="0"/>
          </a:p>
        </p:txBody>
      </p:sp>
      <p:sp>
        <p:nvSpPr>
          <p:cNvPr id="4" name="Text 2"/>
          <p:cNvSpPr/>
          <p:nvPr/>
        </p:nvSpPr>
        <p:spPr>
          <a:xfrm>
            <a:off x="548640" y="1719072"/>
            <a:ext cx="11064240" cy="621792"/>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2.  The problem: agents that cannot talk</a:t>
            </a:r>
            <a:endParaRPr lang="en-US" sz="2400" dirty="0"/>
          </a:p>
        </p:txBody>
      </p:sp>
      <p:sp>
        <p:nvSpPr>
          <p:cNvPr id="5" name="Text 3"/>
          <p:cNvSpPr/>
          <p:nvPr/>
        </p:nvSpPr>
        <p:spPr>
          <a:xfrm>
            <a:off x="548640" y="2432304"/>
            <a:ext cx="11064240" cy="621792"/>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3.  Benefits, and when to use it</a:t>
            </a:r>
            <a:endParaRPr lang="en-US" sz="2400" dirty="0"/>
          </a:p>
        </p:txBody>
      </p:sp>
      <p:sp>
        <p:nvSpPr>
          <p:cNvPr id="6" name="Text 4"/>
          <p:cNvSpPr/>
          <p:nvPr/>
        </p:nvSpPr>
        <p:spPr>
          <a:xfrm>
            <a:off x="548640" y="3145536"/>
            <a:ext cx="11064240" cy="621792"/>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4.  The main pieces and the call path</a:t>
            </a:r>
            <a:endParaRPr lang="en-US" sz="2400" dirty="0"/>
          </a:p>
        </p:txBody>
      </p:sp>
      <p:sp>
        <p:nvSpPr>
          <p:cNvPr id="7" name="Text 5"/>
          <p:cNvSpPr/>
          <p:nvPr/>
        </p:nvSpPr>
        <p:spPr>
          <a:xfrm>
            <a:off x="548640" y="3858768"/>
            <a:ext cx="11064240" cy="621792"/>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5.  A2A next to MCP</a:t>
            </a:r>
            <a:endParaRPr lang="en-US" sz="2400" dirty="0"/>
          </a:p>
        </p:txBody>
      </p:sp>
      <p:sp>
        <p:nvSpPr>
          <p:cNvPr id="8" name="Text 6"/>
          <p:cNvSpPr/>
          <p:nvPr/>
        </p:nvSpPr>
        <p:spPr>
          <a:xfrm>
            <a:off x="548640" y="4572000"/>
            <a:ext cx="11064240" cy="621792"/>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6.  Login and permission across companies</a:t>
            </a:r>
            <a:endParaRPr lang="en-US" sz="2400" dirty="0"/>
          </a:p>
        </p:txBody>
      </p:sp>
      <p:sp>
        <p:nvSpPr>
          <p:cNvPr id="9" name="Text 7"/>
          <p:cNvSpPr/>
          <p:nvPr/>
        </p:nvSpPr>
        <p:spPr>
          <a:xfrm>
            <a:off x="548640" y="5285232"/>
            <a:ext cx="11064240" cy="621792"/>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7.  How your team can start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11064240" cy="457200"/>
          </a:xfrm>
          <a:prstGeom prst="rect">
            <a:avLst/>
          </a:prstGeom>
          <a:noFill/>
          <a:ln/>
        </p:spPr>
        <p:txBody>
          <a:bodyPr wrap="square" lIns="0" tIns="0" rIns="0" bIns="0" rtlCol="0" anchor="ctr"/>
          <a:lstStyle/>
          <a:p>
            <a:pPr marL="0" indent="0">
              <a:buNone/>
            </a:pPr>
            <a:r>
              <a:rPr lang="en-US" sz="3400" dirty="0">
                <a:solidFill>
                  <a:srgbClr val="2C2C2C"/>
                </a:solidFill>
                <a:latin typeface="Calibri" pitchFamily="34" charset="0"/>
                <a:ea typeface="Calibri" pitchFamily="34" charset="-122"/>
                <a:cs typeface="Calibri" pitchFamily="34" charset="-120"/>
              </a:rPr>
              <a:t>What A2A is</a:t>
            </a:r>
            <a:endParaRPr lang="en-US" sz="3400" dirty="0"/>
          </a:p>
        </p:txBody>
      </p:sp>
      <p:sp>
        <p:nvSpPr>
          <p:cNvPr id="3" name="Text 1"/>
          <p:cNvSpPr/>
          <p:nvPr/>
        </p:nvSpPr>
        <p:spPr>
          <a:xfrm>
            <a:off x="548640" y="731520"/>
            <a:ext cx="11064240" cy="548640"/>
          </a:xfrm>
          <a:prstGeom prst="rect">
            <a:avLst/>
          </a:prstGeom>
          <a:noFill/>
          <a:ln/>
        </p:spPr>
        <p:txBody>
          <a:bodyPr wrap="square" lIns="0" tIns="0" rIns="0" bIns="0" rtlCol="0" anchor="ctr"/>
          <a:lstStyle/>
          <a:p>
            <a:pPr marL="0" indent="0">
              <a:buNone/>
            </a:pPr>
            <a:r>
              <a:rPr lang="en-US" sz="1800" dirty="0">
                <a:solidFill>
                  <a:srgbClr val="4A4A4A"/>
                </a:solidFill>
                <a:latin typeface="Calibri" pitchFamily="34" charset="0"/>
                <a:ea typeface="Calibri" pitchFamily="34" charset="-122"/>
                <a:cs typeface="Calibri" pitchFamily="34" charset="-120"/>
              </a:rPr>
              <a:t>An open standard. Google started it. Many partners joined. It now lives with the Linux Foundation.</a:t>
            </a:r>
            <a:endParaRPr lang="en-US" sz="1800" dirty="0"/>
          </a:p>
        </p:txBody>
      </p:sp>
      <p:sp>
        <p:nvSpPr>
          <p:cNvPr id="4" name="Shape 2"/>
          <p:cNvSpPr/>
          <p:nvPr/>
        </p:nvSpPr>
        <p:spPr>
          <a:xfrm>
            <a:off x="502920" y="1417320"/>
            <a:ext cx="2743200" cy="2331720"/>
          </a:xfrm>
          <a:prstGeom prst="roundRect">
            <a:avLst>
              <a:gd name="adj" fmla="val 3137"/>
            </a:avLst>
          </a:prstGeom>
          <a:solidFill>
            <a:srgbClr val="C5DDF0"/>
          </a:solidFill>
          <a:ln/>
        </p:spPr>
        <p:txBody>
          <a:bodyPr/>
          <a:lstStyle/>
          <a:p>
            <a:endParaRPr lang="en-GB"/>
          </a:p>
        </p:txBody>
      </p:sp>
      <p:sp>
        <p:nvSpPr>
          <p:cNvPr id="5" name="Text 3"/>
          <p:cNvSpPr/>
          <p:nvPr/>
        </p:nvSpPr>
        <p:spPr>
          <a:xfrm>
            <a:off x="667512" y="1545336"/>
            <a:ext cx="2414016" cy="420624"/>
          </a:xfrm>
          <a:prstGeom prst="rect">
            <a:avLst/>
          </a:prstGeom>
          <a:noFill/>
          <a:ln/>
        </p:spPr>
        <p:txBody>
          <a:bodyPr wrap="square" lIns="0" tIns="0" rIns="0" bIns="0" rtlCol="0" anchor="ctr"/>
          <a:lstStyle/>
          <a:p>
            <a:pPr marL="0" indent="0">
              <a:buNone/>
            </a:pPr>
            <a:r>
              <a:rPr lang="en-US" sz="2000" dirty="0">
                <a:solidFill>
                  <a:srgbClr val="2C2C2C"/>
                </a:solidFill>
                <a:latin typeface="Calibri" pitchFamily="34" charset="0"/>
                <a:ea typeface="Calibri" pitchFamily="34" charset="-122"/>
                <a:cs typeface="Calibri" pitchFamily="34" charset="-120"/>
              </a:rPr>
              <a:t>1 Find</a:t>
            </a:r>
            <a:endParaRPr lang="en-US" sz="2000" dirty="0"/>
          </a:p>
        </p:txBody>
      </p:sp>
      <p:sp>
        <p:nvSpPr>
          <p:cNvPr id="6" name="Text 4"/>
          <p:cNvSpPr/>
          <p:nvPr/>
        </p:nvSpPr>
        <p:spPr>
          <a:xfrm>
            <a:off x="667512" y="1984248"/>
            <a:ext cx="2414016" cy="1600200"/>
          </a:xfrm>
          <a:prstGeom prst="rect">
            <a:avLst/>
          </a:prstGeom>
          <a:noFill/>
          <a:ln/>
        </p:spPr>
        <p:txBody>
          <a:bodyPr wrap="square" lIns="0" tIns="0" rIns="0" bIns="0" rtlCol="0" anchor="ctr"/>
          <a:lstStyle/>
          <a:p>
            <a:pPr marL="0" indent="0">
              <a:buNone/>
            </a:pPr>
            <a:r>
              <a:rPr lang="en-US" sz="1600" dirty="0">
                <a:solidFill>
                  <a:srgbClr val="4A4A4A"/>
                </a:solidFill>
                <a:latin typeface="Calibri" pitchFamily="34" charset="0"/>
                <a:ea typeface="Calibri" pitchFamily="34" charset="-122"/>
                <a:cs typeface="Calibri" pitchFamily="34" charset="-120"/>
              </a:rPr>
              <a:t>Read the Agent Card. Learn skills and the web address.</a:t>
            </a:r>
            <a:endParaRPr lang="en-US" sz="1600" dirty="0"/>
          </a:p>
        </p:txBody>
      </p:sp>
      <p:sp>
        <p:nvSpPr>
          <p:cNvPr id="7" name="Shape 5"/>
          <p:cNvSpPr/>
          <p:nvPr/>
        </p:nvSpPr>
        <p:spPr>
          <a:xfrm>
            <a:off x="3264408" y="2468880"/>
            <a:ext cx="329184" cy="182880"/>
          </a:xfrm>
          <a:prstGeom prst="rightArrow">
            <a:avLst/>
          </a:prstGeom>
          <a:solidFill>
            <a:srgbClr val="C8C2B8"/>
          </a:solidFill>
          <a:ln/>
        </p:spPr>
        <p:txBody>
          <a:bodyPr/>
          <a:lstStyle/>
          <a:p>
            <a:endParaRPr lang="en-GB"/>
          </a:p>
        </p:txBody>
      </p:sp>
      <p:sp>
        <p:nvSpPr>
          <p:cNvPr id="8" name="Shape 6"/>
          <p:cNvSpPr/>
          <p:nvPr/>
        </p:nvSpPr>
        <p:spPr>
          <a:xfrm>
            <a:off x="3410712" y="1417320"/>
            <a:ext cx="2743200" cy="2331720"/>
          </a:xfrm>
          <a:prstGeom prst="roundRect">
            <a:avLst>
              <a:gd name="adj" fmla="val 3137"/>
            </a:avLst>
          </a:prstGeom>
          <a:solidFill>
            <a:srgbClr val="C9E6D0"/>
          </a:solidFill>
          <a:ln/>
        </p:spPr>
        <p:txBody>
          <a:bodyPr/>
          <a:lstStyle/>
          <a:p>
            <a:endParaRPr lang="en-GB"/>
          </a:p>
        </p:txBody>
      </p:sp>
      <p:sp>
        <p:nvSpPr>
          <p:cNvPr id="9" name="Text 7"/>
          <p:cNvSpPr/>
          <p:nvPr/>
        </p:nvSpPr>
        <p:spPr>
          <a:xfrm>
            <a:off x="3575304" y="1545336"/>
            <a:ext cx="2414016" cy="420624"/>
          </a:xfrm>
          <a:prstGeom prst="rect">
            <a:avLst/>
          </a:prstGeom>
          <a:noFill/>
          <a:ln/>
        </p:spPr>
        <p:txBody>
          <a:bodyPr wrap="square" lIns="0" tIns="0" rIns="0" bIns="0" rtlCol="0" anchor="ctr"/>
          <a:lstStyle/>
          <a:p>
            <a:pPr marL="0" indent="0">
              <a:buNone/>
            </a:pPr>
            <a:r>
              <a:rPr lang="en-US" sz="2000" dirty="0">
                <a:solidFill>
                  <a:srgbClr val="2C2C2C"/>
                </a:solidFill>
                <a:latin typeface="Calibri" pitchFamily="34" charset="0"/>
                <a:ea typeface="Calibri" pitchFamily="34" charset="-122"/>
                <a:cs typeface="Calibri" pitchFamily="34" charset="-120"/>
              </a:rPr>
              <a:t>2 Talk</a:t>
            </a:r>
            <a:endParaRPr lang="en-US" sz="2000" dirty="0"/>
          </a:p>
        </p:txBody>
      </p:sp>
      <p:sp>
        <p:nvSpPr>
          <p:cNvPr id="10" name="Text 8"/>
          <p:cNvSpPr/>
          <p:nvPr/>
        </p:nvSpPr>
        <p:spPr>
          <a:xfrm>
            <a:off x="3575304" y="1984248"/>
            <a:ext cx="2414016" cy="1600200"/>
          </a:xfrm>
          <a:prstGeom prst="rect">
            <a:avLst/>
          </a:prstGeom>
          <a:noFill/>
          <a:ln/>
        </p:spPr>
        <p:txBody>
          <a:bodyPr wrap="square" lIns="0" tIns="0" rIns="0" bIns="0" rtlCol="0" anchor="ctr"/>
          <a:lstStyle/>
          <a:p>
            <a:pPr marL="0" indent="0">
              <a:buNone/>
            </a:pPr>
            <a:r>
              <a:rPr lang="en-US" sz="1600" dirty="0">
                <a:solidFill>
                  <a:srgbClr val="4A4A4A"/>
                </a:solidFill>
                <a:latin typeface="Calibri" pitchFamily="34" charset="0"/>
                <a:ea typeface="Calibri" pitchFamily="34" charset="-122"/>
                <a:cs typeface="Calibri" pitchFamily="34" charset="-120"/>
              </a:rPr>
              <a:t>Use normal web calls. HTTP, JSON-RPC, live updates.</a:t>
            </a:r>
            <a:endParaRPr lang="en-US" sz="1600" dirty="0"/>
          </a:p>
        </p:txBody>
      </p:sp>
      <p:sp>
        <p:nvSpPr>
          <p:cNvPr id="11" name="Shape 9"/>
          <p:cNvSpPr/>
          <p:nvPr/>
        </p:nvSpPr>
        <p:spPr>
          <a:xfrm>
            <a:off x="6172200" y="2468880"/>
            <a:ext cx="329184" cy="182880"/>
          </a:xfrm>
          <a:prstGeom prst="rightArrow">
            <a:avLst/>
          </a:prstGeom>
          <a:solidFill>
            <a:srgbClr val="C8C2B8"/>
          </a:solidFill>
          <a:ln/>
        </p:spPr>
        <p:txBody>
          <a:bodyPr/>
          <a:lstStyle/>
          <a:p>
            <a:endParaRPr lang="en-GB"/>
          </a:p>
        </p:txBody>
      </p:sp>
      <p:sp>
        <p:nvSpPr>
          <p:cNvPr id="12" name="Shape 10"/>
          <p:cNvSpPr/>
          <p:nvPr/>
        </p:nvSpPr>
        <p:spPr>
          <a:xfrm>
            <a:off x="6318504" y="1417320"/>
            <a:ext cx="2743200" cy="2331720"/>
          </a:xfrm>
          <a:prstGeom prst="roundRect">
            <a:avLst>
              <a:gd name="adj" fmla="val 3137"/>
            </a:avLst>
          </a:prstGeom>
          <a:solidFill>
            <a:srgbClr val="F6D6C6"/>
          </a:solidFill>
          <a:ln/>
        </p:spPr>
        <p:txBody>
          <a:bodyPr/>
          <a:lstStyle/>
          <a:p>
            <a:endParaRPr lang="en-GB"/>
          </a:p>
        </p:txBody>
      </p:sp>
      <p:sp>
        <p:nvSpPr>
          <p:cNvPr id="13" name="Text 11"/>
          <p:cNvSpPr/>
          <p:nvPr/>
        </p:nvSpPr>
        <p:spPr>
          <a:xfrm>
            <a:off x="6483096" y="1545336"/>
            <a:ext cx="2414016" cy="420624"/>
          </a:xfrm>
          <a:prstGeom prst="rect">
            <a:avLst/>
          </a:prstGeom>
          <a:noFill/>
          <a:ln/>
        </p:spPr>
        <p:txBody>
          <a:bodyPr wrap="square" lIns="0" tIns="0" rIns="0" bIns="0" rtlCol="0" anchor="ctr"/>
          <a:lstStyle/>
          <a:p>
            <a:pPr marL="0" indent="0">
              <a:buNone/>
            </a:pPr>
            <a:r>
              <a:rPr lang="en-US" sz="2000" dirty="0">
                <a:solidFill>
                  <a:srgbClr val="2C2C2C"/>
                </a:solidFill>
                <a:latin typeface="Calibri" pitchFamily="34" charset="0"/>
                <a:ea typeface="Calibri" pitchFamily="34" charset="-122"/>
                <a:cs typeface="Calibri" pitchFamily="34" charset="-120"/>
              </a:rPr>
              <a:t>3 Do the job</a:t>
            </a:r>
            <a:endParaRPr lang="en-US" sz="2000" dirty="0"/>
          </a:p>
        </p:txBody>
      </p:sp>
      <p:sp>
        <p:nvSpPr>
          <p:cNvPr id="14" name="Text 12"/>
          <p:cNvSpPr/>
          <p:nvPr/>
        </p:nvSpPr>
        <p:spPr>
          <a:xfrm>
            <a:off x="6483096" y="1984248"/>
            <a:ext cx="2414016" cy="1600200"/>
          </a:xfrm>
          <a:prstGeom prst="rect">
            <a:avLst/>
          </a:prstGeom>
          <a:noFill/>
          <a:ln/>
        </p:spPr>
        <p:txBody>
          <a:bodyPr wrap="square" lIns="0" tIns="0" rIns="0" bIns="0" rtlCol="0" anchor="ctr"/>
          <a:lstStyle/>
          <a:p>
            <a:pPr marL="0" indent="0">
              <a:buNone/>
            </a:pPr>
            <a:r>
              <a:rPr lang="en-US" sz="1600" dirty="0">
                <a:solidFill>
                  <a:srgbClr val="4A4A4A"/>
                </a:solidFill>
                <a:latin typeface="Calibri" pitchFamily="34" charset="0"/>
                <a:ea typeface="Calibri" pitchFamily="34" charset="-122"/>
                <a:cs typeface="Calibri" pitchFamily="34" charset="-120"/>
              </a:rPr>
              <a:t>A task can be short or long. Status can change.</a:t>
            </a:r>
            <a:endParaRPr lang="en-US" sz="1600" dirty="0"/>
          </a:p>
        </p:txBody>
      </p:sp>
      <p:sp>
        <p:nvSpPr>
          <p:cNvPr id="15" name="Shape 13"/>
          <p:cNvSpPr/>
          <p:nvPr/>
        </p:nvSpPr>
        <p:spPr>
          <a:xfrm>
            <a:off x="9079992" y="2468880"/>
            <a:ext cx="329184" cy="182880"/>
          </a:xfrm>
          <a:prstGeom prst="rightArrow">
            <a:avLst/>
          </a:prstGeom>
          <a:solidFill>
            <a:srgbClr val="C8C2B8"/>
          </a:solidFill>
          <a:ln/>
        </p:spPr>
        <p:txBody>
          <a:bodyPr/>
          <a:lstStyle/>
          <a:p>
            <a:endParaRPr lang="en-GB"/>
          </a:p>
        </p:txBody>
      </p:sp>
      <p:sp>
        <p:nvSpPr>
          <p:cNvPr id="16" name="Shape 14"/>
          <p:cNvSpPr/>
          <p:nvPr/>
        </p:nvSpPr>
        <p:spPr>
          <a:xfrm>
            <a:off x="9226296" y="1417320"/>
            <a:ext cx="2743200" cy="2331720"/>
          </a:xfrm>
          <a:prstGeom prst="roundRect">
            <a:avLst>
              <a:gd name="adj" fmla="val 3137"/>
            </a:avLst>
          </a:prstGeom>
          <a:solidFill>
            <a:srgbClr val="DDD0EE"/>
          </a:solidFill>
          <a:ln/>
        </p:spPr>
        <p:txBody>
          <a:bodyPr/>
          <a:lstStyle/>
          <a:p>
            <a:endParaRPr lang="en-GB"/>
          </a:p>
        </p:txBody>
      </p:sp>
      <p:sp>
        <p:nvSpPr>
          <p:cNvPr id="17" name="Text 15"/>
          <p:cNvSpPr/>
          <p:nvPr/>
        </p:nvSpPr>
        <p:spPr>
          <a:xfrm>
            <a:off x="9390888" y="1545336"/>
            <a:ext cx="2414016" cy="420624"/>
          </a:xfrm>
          <a:prstGeom prst="rect">
            <a:avLst/>
          </a:prstGeom>
          <a:noFill/>
          <a:ln/>
        </p:spPr>
        <p:txBody>
          <a:bodyPr wrap="square" lIns="0" tIns="0" rIns="0" bIns="0" rtlCol="0" anchor="ctr"/>
          <a:lstStyle/>
          <a:p>
            <a:pPr marL="0" indent="0">
              <a:buNone/>
            </a:pPr>
            <a:r>
              <a:rPr lang="en-US" sz="2000" dirty="0">
                <a:solidFill>
                  <a:srgbClr val="2C2C2C"/>
                </a:solidFill>
                <a:latin typeface="Calibri" pitchFamily="34" charset="0"/>
                <a:ea typeface="Calibri" pitchFamily="34" charset="-122"/>
                <a:cs typeface="Calibri" pitchFamily="34" charset="-120"/>
              </a:rPr>
              <a:t>4 Stay private</a:t>
            </a:r>
            <a:endParaRPr lang="en-US" sz="2000" dirty="0"/>
          </a:p>
        </p:txBody>
      </p:sp>
      <p:sp>
        <p:nvSpPr>
          <p:cNvPr id="18" name="Text 16"/>
          <p:cNvSpPr/>
          <p:nvPr/>
        </p:nvSpPr>
        <p:spPr>
          <a:xfrm>
            <a:off x="9390888" y="1984248"/>
            <a:ext cx="2414016" cy="1600200"/>
          </a:xfrm>
          <a:prstGeom prst="rect">
            <a:avLst/>
          </a:prstGeom>
          <a:noFill/>
          <a:ln/>
        </p:spPr>
        <p:txBody>
          <a:bodyPr wrap="square" lIns="0" tIns="0" rIns="0" bIns="0" rtlCol="0" anchor="ctr"/>
          <a:lstStyle/>
          <a:p>
            <a:pPr marL="0" indent="0">
              <a:buNone/>
            </a:pPr>
            <a:r>
              <a:rPr lang="en-US" sz="1600" dirty="0">
                <a:solidFill>
                  <a:srgbClr val="4A4A4A"/>
                </a:solidFill>
                <a:latin typeface="Calibri" pitchFamily="34" charset="0"/>
                <a:ea typeface="Calibri" pitchFamily="34" charset="-122"/>
                <a:cs typeface="Calibri" pitchFamily="34" charset="-120"/>
              </a:rPr>
              <a:t>Share the result. Do not share inner tools.</a:t>
            </a:r>
            <a:endParaRPr lang="en-US" sz="1600" dirty="0"/>
          </a:p>
        </p:txBody>
      </p:sp>
      <p:sp>
        <p:nvSpPr>
          <p:cNvPr id="19" name="Text 17"/>
          <p:cNvSpPr/>
          <p:nvPr/>
        </p:nvSpPr>
        <p:spPr>
          <a:xfrm>
            <a:off x="548640" y="3977640"/>
            <a:ext cx="11064240" cy="502920"/>
          </a:xfrm>
          <a:prstGeom prst="rect">
            <a:avLst/>
          </a:prstGeom>
          <a:noFill/>
          <a:ln/>
        </p:spPr>
        <p:txBody>
          <a:bodyPr wrap="square" lIns="0" tIns="0" rIns="0" bIns="0" rtlCol="0" anchor="ctr"/>
          <a:lstStyle/>
          <a:p>
            <a:pPr marL="0" indent="0">
              <a:buNone/>
            </a:pPr>
            <a:r>
              <a:rPr lang="en-US" sz="1800" dirty="0">
                <a:solidFill>
                  <a:srgbClr val="4A4A4A"/>
                </a:solidFill>
                <a:latin typeface="Calibri" pitchFamily="34" charset="0"/>
                <a:ea typeface="Calibri" pitchFamily="34" charset="-122"/>
                <a:cs typeface="Calibri" pitchFamily="34" charset="-120"/>
              </a:rPr>
              <a:t>Works with LangGraph, CrewAI, ADK, and custom code. You do not need the same stack.</a:t>
            </a:r>
            <a:endParaRPr lang="en-US" sz="1800" dirty="0"/>
          </a:p>
        </p:txBody>
      </p:sp>
      <p:sp>
        <p:nvSpPr>
          <p:cNvPr id="20" name="Text 18"/>
          <p:cNvSpPr/>
          <p:nvPr/>
        </p:nvSpPr>
        <p:spPr>
          <a:xfrm>
            <a:off x="548640" y="4572000"/>
            <a:ext cx="11064240" cy="640080"/>
          </a:xfrm>
          <a:prstGeom prst="rect">
            <a:avLst/>
          </a:prstGeom>
          <a:noFill/>
          <a:ln/>
        </p:spPr>
        <p:txBody>
          <a:bodyPr wrap="square" lIns="0" tIns="0" rIns="0" bIns="0" rtlCol="0" anchor="ctr"/>
          <a:lstStyle/>
          <a:p>
            <a:pPr marL="0" indent="0">
              <a:buNone/>
            </a:pPr>
            <a:r>
              <a:rPr lang="en-US" sz="1800" dirty="0">
                <a:solidFill>
                  <a:srgbClr val="4A4A4A"/>
                </a:solidFill>
                <a:latin typeface="Calibri" pitchFamily="34" charset="0"/>
                <a:ea typeface="Calibri" pitchFamily="34" charset="-122"/>
                <a:cs typeface="Calibri" pitchFamily="34" charset="-120"/>
              </a:rPr>
              <a:t>A2A is not a model, not a chatbot app, and not MCP. It is the shared language between agents.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845586-1CD6-3E82-9AE7-B585DA92A16A}"/>
              </a:ext>
            </a:extLst>
          </p:cNvPr>
          <p:cNvSpPr txBox="1"/>
          <p:nvPr/>
        </p:nvSpPr>
        <p:spPr>
          <a:xfrm>
            <a:off x="418214" y="151179"/>
            <a:ext cx="11355571" cy="6555641"/>
          </a:xfrm>
          <a:prstGeom prst="rect">
            <a:avLst/>
          </a:prstGeom>
          <a:noFill/>
        </p:spPr>
        <p:txBody>
          <a:bodyPr wrap="square">
            <a:spAutoFit/>
          </a:bodyPr>
          <a:lstStyle/>
          <a:p>
            <a:pPr>
              <a:buNone/>
            </a:pPr>
            <a:r>
              <a:rPr lang="en-US" sz="2800" dirty="0">
                <a:effectLst/>
              </a:rPr>
              <a:t>The public file is the </a:t>
            </a:r>
            <a:r>
              <a:rPr lang="en-US" sz="2800" b="1" dirty="0">
                <a:effectLst/>
              </a:rPr>
              <a:t>Agent Card</a:t>
            </a:r>
            <a:r>
              <a:rPr lang="en-US" sz="2800" dirty="0">
                <a:effectLst/>
              </a:rPr>
              <a:t>. It is how other agents find yours.</a:t>
            </a:r>
          </a:p>
          <a:p>
            <a:pPr>
              <a:buNone/>
            </a:pPr>
            <a:endParaRPr lang="en-US" sz="2800" dirty="0">
              <a:effectLst/>
            </a:endParaRPr>
          </a:p>
          <a:p>
            <a:pPr>
              <a:buNone/>
            </a:pPr>
            <a:r>
              <a:rPr lang="en-US" sz="2800" b="1" dirty="0">
                <a:effectLst/>
              </a:rPr>
              <a:t>What it is</a:t>
            </a:r>
            <a:br>
              <a:rPr lang="en-US" sz="2800" dirty="0">
                <a:effectLst/>
              </a:rPr>
            </a:br>
            <a:r>
              <a:rPr lang="en-US" sz="2800" dirty="0">
                <a:effectLst/>
              </a:rPr>
              <a:t>A small public description of the agent. Who it is, what skills it has, where to send work, and how to log in. It is not the agent code. It is not the customer data. Think of it as a name tag plus a shop sign.</a:t>
            </a:r>
          </a:p>
          <a:p>
            <a:pPr>
              <a:buNone/>
            </a:pPr>
            <a:endParaRPr lang="en-US" sz="2800" dirty="0">
              <a:effectLst/>
            </a:endParaRPr>
          </a:p>
          <a:p>
            <a:pPr>
              <a:buNone/>
            </a:pPr>
            <a:r>
              <a:rPr lang="en-US" sz="2800" b="1" dirty="0">
                <a:effectLst/>
              </a:rPr>
              <a:t>File name and place</a:t>
            </a:r>
            <a:endParaRPr lang="en-US" sz="2800" dirty="0">
              <a:effectLst/>
            </a:endParaRPr>
          </a:p>
          <a:p>
            <a:pPr marL="342900" lvl="0" indent="-342900">
              <a:buFont typeface="Arial" panose="020B0604020202020204" pitchFamily="34" charset="0"/>
              <a:buChar char="•"/>
            </a:pPr>
            <a:r>
              <a:rPr lang="en-US" sz="2800" dirty="0"/>
              <a:t>File name: agent-</a:t>
            </a:r>
            <a:r>
              <a:rPr lang="en-US" sz="2800" dirty="0" err="1"/>
              <a:t>card.json</a:t>
            </a:r>
            <a:endParaRPr lang="en-US" sz="2800" dirty="0"/>
          </a:p>
          <a:p>
            <a:pPr marL="342900" lvl="0" indent="-342900">
              <a:buFont typeface="Arial" panose="020B0604020202020204" pitchFamily="34" charset="0"/>
              <a:buChar char="•"/>
            </a:pPr>
            <a:r>
              <a:rPr lang="en-US" sz="2800" dirty="0"/>
              <a:t>Usual public URL: https://your-</a:t>
            </a:r>
            <a:r>
              <a:rPr lang="en-US" sz="2800" dirty="0" err="1"/>
              <a:t>agent.example.com</a:t>
            </a:r>
            <a:r>
              <a:rPr lang="en-US" sz="2800" dirty="0"/>
              <a:t>/.well-known/agent-</a:t>
            </a:r>
            <a:r>
              <a:rPr lang="en-US" sz="2800" dirty="0" err="1"/>
              <a:t>card.json</a:t>
            </a:r>
            <a:endParaRPr lang="en-US" sz="2800" dirty="0"/>
          </a:p>
          <a:p>
            <a:pPr marL="342900" lvl="0" indent="-342900">
              <a:buFont typeface="Arial" panose="020B0604020202020204" pitchFamily="34" charset="0"/>
              <a:buChar char="•"/>
            </a:pPr>
            <a:r>
              <a:rPr lang="en-US" sz="2800" dirty="0"/>
              <a:t>Older clients may also look for /.well-known/</a:t>
            </a:r>
            <a:r>
              <a:rPr lang="en-US" sz="2800" dirty="0" err="1"/>
              <a:t>agent.json</a:t>
            </a:r>
            <a:endParaRPr lang="en-US" sz="2800" dirty="0"/>
          </a:p>
          <a:p>
            <a:pPr marL="342900" lvl="0" indent="-342900">
              <a:buFont typeface="Arial" panose="020B0604020202020204" pitchFamily="34" charset="0"/>
              <a:buChar char="•"/>
            </a:pPr>
            <a:r>
              <a:rPr lang="en-US" sz="2800" dirty="0"/>
              <a:t>HTTP GET. Response type is JSON (application/</a:t>
            </a:r>
            <a:r>
              <a:rPr lang="en-US" sz="2800" dirty="0" err="1"/>
              <a:t>json</a:t>
            </a:r>
            <a:r>
              <a:rPr lang="en-US" sz="2800" dirty="0"/>
              <a:t>, some stacks say application/a2a+json)</a:t>
            </a:r>
          </a:p>
          <a:p>
            <a:pPr>
              <a:buNone/>
            </a:pPr>
            <a:endParaRPr lang="en-US" sz="2800" dirty="0">
              <a:effectLst/>
            </a:endParaRPr>
          </a:p>
        </p:txBody>
      </p:sp>
    </p:spTree>
    <p:extLst>
      <p:ext uri="{BB962C8B-B14F-4D97-AF65-F5344CB8AC3E}">
        <p14:creationId xmlns:p14="http://schemas.microsoft.com/office/powerpoint/2010/main" val="3460564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342445-EAD9-6B6B-6898-761BC18B7F17}"/>
              </a:ext>
            </a:extLst>
          </p:cNvPr>
          <p:cNvSpPr txBox="1"/>
          <p:nvPr/>
        </p:nvSpPr>
        <p:spPr>
          <a:xfrm>
            <a:off x="689344" y="1659285"/>
            <a:ext cx="10813311" cy="3539430"/>
          </a:xfrm>
          <a:prstGeom prst="rect">
            <a:avLst/>
          </a:prstGeom>
          <a:noFill/>
        </p:spPr>
        <p:txBody>
          <a:bodyPr wrap="square">
            <a:spAutoFit/>
          </a:bodyPr>
          <a:lstStyle/>
          <a:p>
            <a:pPr>
              <a:buNone/>
            </a:pPr>
            <a:r>
              <a:rPr lang="en-US" sz="2800" b="1" dirty="0">
                <a:effectLst/>
              </a:rPr>
              <a:t>Format</a:t>
            </a:r>
            <a:br>
              <a:rPr lang="en-US" sz="2800" dirty="0">
                <a:effectLst/>
              </a:rPr>
            </a:br>
            <a:endParaRPr lang="en-US" sz="2800" dirty="0">
              <a:effectLst/>
            </a:endParaRPr>
          </a:p>
          <a:p>
            <a:pPr>
              <a:buNone/>
            </a:pPr>
            <a:r>
              <a:rPr lang="en-US" sz="2800" dirty="0">
                <a:effectLst/>
              </a:rPr>
              <a:t>JSON. Not YAML. Not XML. Not .env.</a:t>
            </a:r>
          </a:p>
          <a:p>
            <a:pPr>
              <a:buNone/>
            </a:pPr>
            <a:endParaRPr lang="en-US" sz="2800" b="1" dirty="0">
              <a:effectLst/>
            </a:endParaRPr>
          </a:p>
          <a:p>
            <a:pPr>
              <a:buNone/>
            </a:pPr>
            <a:r>
              <a:rPr lang="en-US" sz="2800" b="1" dirty="0">
                <a:effectLst/>
              </a:rPr>
              <a:t>Do not put secrets in it.</a:t>
            </a:r>
            <a:r>
              <a:rPr lang="en-US" sz="2800" dirty="0">
                <a:effectLst/>
              </a:rPr>
              <a:t> List the login </a:t>
            </a:r>
            <a:r>
              <a:rPr lang="en-US" sz="2800" i="1" dirty="0">
                <a:effectLst/>
              </a:rPr>
              <a:t>method</a:t>
            </a:r>
            <a:r>
              <a:rPr lang="en-US" sz="2800" dirty="0">
                <a:effectLst/>
              </a:rPr>
              <a:t> only. Tokens go in HTTP headers later.</a:t>
            </a:r>
          </a:p>
          <a:p>
            <a:pPr>
              <a:buNone/>
            </a:pPr>
            <a:endParaRPr lang="en-US" sz="2800" dirty="0">
              <a:effectLst/>
            </a:endParaRPr>
          </a:p>
          <a:p>
            <a:pPr>
              <a:buNone/>
            </a:pPr>
            <a:r>
              <a:rPr lang="en-US" sz="2800" dirty="0">
                <a:effectLst/>
              </a:rPr>
              <a:t>Here is a sample you could serve at /.well-known/agent-</a:t>
            </a:r>
            <a:r>
              <a:rPr lang="en-US" sz="2800" dirty="0" err="1">
                <a:effectLst/>
              </a:rPr>
              <a:t>card.json</a:t>
            </a:r>
            <a:r>
              <a:rPr lang="en-US" sz="2800" dirty="0">
                <a:effectLst/>
              </a:rPr>
              <a:t>:</a:t>
            </a:r>
          </a:p>
        </p:txBody>
      </p:sp>
    </p:spTree>
    <p:extLst>
      <p:ext uri="{BB962C8B-B14F-4D97-AF65-F5344CB8AC3E}">
        <p14:creationId xmlns:p14="http://schemas.microsoft.com/office/powerpoint/2010/main" val="1355470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FB9C7CB-9EE4-088F-3606-2BE80A545A2B}"/>
              </a:ext>
            </a:extLst>
          </p:cNvPr>
          <p:cNvSpPr txBox="1"/>
          <p:nvPr/>
        </p:nvSpPr>
        <p:spPr>
          <a:xfrm>
            <a:off x="1637414" y="1212112"/>
            <a:ext cx="184731" cy="369332"/>
          </a:xfrm>
          <a:prstGeom prst="rect">
            <a:avLst/>
          </a:prstGeom>
          <a:noFill/>
        </p:spPr>
        <p:txBody>
          <a:bodyPr wrap="none" rtlCol="0">
            <a:spAutoFit/>
          </a:bodyPr>
          <a:lstStyle/>
          <a:p>
            <a:endParaRPr lang="en-US" dirty="0"/>
          </a:p>
        </p:txBody>
      </p:sp>
      <p:sp>
        <p:nvSpPr>
          <p:cNvPr id="20" name="TextBox 19">
            <a:extLst>
              <a:ext uri="{FF2B5EF4-FFF2-40B4-BE49-F238E27FC236}">
                <a16:creationId xmlns:a16="http://schemas.microsoft.com/office/drawing/2014/main" id="{8CA82E55-0867-3CE1-51C6-E671C9600BDE}"/>
              </a:ext>
            </a:extLst>
          </p:cNvPr>
          <p:cNvSpPr txBox="1"/>
          <p:nvPr/>
        </p:nvSpPr>
        <p:spPr>
          <a:xfrm>
            <a:off x="3094074" y="1945758"/>
            <a:ext cx="184731" cy="369332"/>
          </a:xfrm>
          <a:prstGeom prst="rect">
            <a:avLst/>
          </a:prstGeom>
          <a:noFill/>
        </p:spPr>
        <p:txBody>
          <a:bodyPr wrap="none" rtlCol="0">
            <a:spAutoFit/>
          </a:bodyPr>
          <a:lstStyle/>
          <a:p>
            <a:endParaRPr lang="en-US" dirty="0"/>
          </a:p>
        </p:txBody>
      </p:sp>
      <p:pic>
        <p:nvPicPr>
          <p:cNvPr id="21" name="Picture 20">
            <a:extLst>
              <a:ext uri="{FF2B5EF4-FFF2-40B4-BE49-F238E27FC236}">
                <a16:creationId xmlns:a16="http://schemas.microsoft.com/office/drawing/2014/main" id="{6F9DCB05-2E81-662C-C1D7-5F9330C61DDD}"/>
              </a:ext>
            </a:extLst>
          </p:cNvPr>
          <p:cNvPicPr>
            <a:picLocks noChangeAspect="1"/>
          </p:cNvPicPr>
          <p:nvPr/>
        </p:nvPicPr>
        <p:blipFill>
          <a:blip r:embed="rId3"/>
          <a:stretch>
            <a:fillRect/>
          </a:stretch>
        </p:blipFill>
        <p:spPr>
          <a:xfrm>
            <a:off x="806301" y="0"/>
            <a:ext cx="11004700" cy="6858000"/>
          </a:xfrm>
          <a:prstGeom prst="rect">
            <a:avLst/>
          </a:prstGeom>
        </p:spPr>
      </p:pic>
    </p:spTree>
    <p:extLst>
      <p:ext uri="{BB962C8B-B14F-4D97-AF65-F5344CB8AC3E}">
        <p14:creationId xmlns:p14="http://schemas.microsoft.com/office/powerpoint/2010/main" val="2188977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F3E039-84D2-322F-9BE4-67462B271236}"/>
              </a:ext>
            </a:extLst>
          </p:cNvPr>
          <p:cNvPicPr>
            <a:picLocks noChangeAspect="1"/>
          </p:cNvPicPr>
          <p:nvPr/>
        </p:nvPicPr>
        <p:blipFill>
          <a:blip r:embed="rId2"/>
          <a:stretch>
            <a:fillRect/>
          </a:stretch>
        </p:blipFill>
        <p:spPr>
          <a:xfrm>
            <a:off x="0" y="1840827"/>
            <a:ext cx="12102128" cy="3176346"/>
          </a:xfrm>
          <a:prstGeom prst="rect">
            <a:avLst/>
          </a:prstGeom>
        </p:spPr>
      </p:pic>
    </p:spTree>
    <p:extLst>
      <p:ext uri="{BB962C8B-B14F-4D97-AF65-F5344CB8AC3E}">
        <p14:creationId xmlns:p14="http://schemas.microsoft.com/office/powerpoint/2010/main" val="8013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14E45E-C956-93DC-C0F1-CA91D6979BAB}"/>
              </a:ext>
            </a:extLst>
          </p:cNvPr>
          <p:cNvPicPr>
            <a:picLocks noChangeAspect="1"/>
          </p:cNvPicPr>
          <p:nvPr/>
        </p:nvPicPr>
        <p:blipFill>
          <a:blip r:embed="rId3"/>
          <a:stretch>
            <a:fillRect/>
          </a:stretch>
        </p:blipFill>
        <p:spPr>
          <a:xfrm>
            <a:off x="622451" y="877186"/>
            <a:ext cx="10947097" cy="5103628"/>
          </a:xfrm>
          <a:prstGeom prst="rect">
            <a:avLst/>
          </a:prstGeom>
        </p:spPr>
      </p:pic>
    </p:spTree>
    <p:extLst>
      <p:ext uri="{BB962C8B-B14F-4D97-AF65-F5344CB8AC3E}">
        <p14:creationId xmlns:p14="http://schemas.microsoft.com/office/powerpoint/2010/main" val="2429323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A079D8-5963-555F-8899-D0A69370204D}"/>
              </a:ext>
            </a:extLst>
          </p:cNvPr>
          <p:cNvPicPr>
            <a:picLocks noChangeAspect="1"/>
          </p:cNvPicPr>
          <p:nvPr/>
        </p:nvPicPr>
        <p:blipFill>
          <a:blip r:embed="rId2"/>
          <a:stretch>
            <a:fillRect/>
          </a:stretch>
        </p:blipFill>
        <p:spPr>
          <a:xfrm>
            <a:off x="0" y="-1"/>
            <a:ext cx="10249786" cy="6879781"/>
          </a:xfrm>
          <a:prstGeom prst="rect">
            <a:avLst/>
          </a:prstGeom>
        </p:spPr>
      </p:pic>
    </p:spTree>
    <p:extLst>
      <p:ext uri="{BB962C8B-B14F-4D97-AF65-F5344CB8AC3E}">
        <p14:creationId xmlns:p14="http://schemas.microsoft.com/office/powerpoint/2010/main" val="1744552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11064240" cy="438912"/>
          </a:xfrm>
          <a:prstGeom prst="rect">
            <a:avLst/>
          </a:prstGeom>
          <a:noFill/>
          <a:ln/>
        </p:spPr>
        <p:txBody>
          <a:bodyPr wrap="square" lIns="0" tIns="0" rIns="0" bIns="0" rtlCol="0" anchor="ctr"/>
          <a:lstStyle/>
          <a:p>
            <a:pPr marL="0" indent="0">
              <a:buNone/>
            </a:pPr>
            <a:r>
              <a:rPr lang="en-US" sz="3200" dirty="0">
                <a:solidFill>
                  <a:srgbClr val="2C2C2C"/>
                </a:solidFill>
                <a:latin typeface="Calibri" pitchFamily="34" charset="0"/>
                <a:ea typeface="Calibri" pitchFamily="34" charset="-122"/>
                <a:cs typeface="Calibri" pitchFamily="34" charset="-120"/>
              </a:rPr>
              <a:t>The problem without A2A</a:t>
            </a:r>
            <a:endParaRPr lang="en-US" sz="3200" dirty="0"/>
          </a:p>
        </p:txBody>
      </p:sp>
      <p:sp>
        <p:nvSpPr>
          <p:cNvPr id="3" name="Text 1"/>
          <p:cNvSpPr/>
          <p:nvPr/>
        </p:nvSpPr>
        <p:spPr>
          <a:xfrm>
            <a:off x="548640" y="685800"/>
            <a:ext cx="11064240" cy="384048"/>
          </a:xfrm>
          <a:prstGeom prst="rect">
            <a:avLst/>
          </a:prstGeom>
          <a:noFill/>
          <a:ln/>
        </p:spPr>
        <p:txBody>
          <a:bodyPr wrap="square" lIns="0" tIns="0" rIns="0" bIns="0" rtlCol="0" anchor="ctr"/>
          <a:lstStyle/>
          <a:p>
            <a:pPr marL="0" indent="0">
              <a:buNone/>
            </a:pPr>
            <a:r>
              <a:rPr lang="en-US" sz="1800" dirty="0">
                <a:solidFill>
                  <a:srgbClr val="4A4A4A"/>
                </a:solidFill>
                <a:latin typeface="Calibri" pitchFamily="34" charset="0"/>
                <a:ea typeface="Calibri" pitchFamily="34" charset="-122"/>
                <a:cs typeface="Calibri" pitchFamily="34" charset="-120"/>
              </a:rPr>
              <a:t>A user says: plan my trip. One assistant cannot do it alone.</a:t>
            </a:r>
            <a:endParaRPr lang="en-US" sz="1800" dirty="0"/>
          </a:p>
        </p:txBody>
      </p:sp>
      <p:sp>
        <p:nvSpPr>
          <p:cNvPr id="4" name="Shape 2"/>
          <p:cNvSpPr/>
          <p:nvPr/>
        </p:nvSpPr>
        <p:spPr>
          <a:xfrm>
            <a:off x="4160520" y="1188720"/>
            <a:ext cx="3840480" cy="1143000"/>
          </a:xfrm>
          <a:prstGeom prst="roundRect">
            <a:avLst>
              <a:gd name="adj" fmla="val 6400"/>
            </a:avLst>
          </a:prstGeom>
          <a:solidFill>
            <a:srgbClr val="F3E6B8"/>
          </a:solidFill>
          <a:ln/>
        </p:spPr>
        <p:txBody>
          <a:bodyPr/>
          <a:lstStyle/>
          <a:p>
            <a:endParaRPr lang="en-GB"/>
          </a:p>
        </p:txBody>
      </p:sp>
      <p:sp>
        <p:nvSpPr>
          <p:cNvPr id="5" name="Text 3"/>
          <p:cNvSpPr/>
          <p:nvPr/>
        </p:nvSpPr>
        <p:spPr>
          <a:xfrm>
            <a:off x="4325112" y="1316736"/>
            <a:ext cx="3511296" cy="420624"/>
          </a:xfrm>
          <a:prstGeom prst="rect">
            <a:avLst/>
          </a:prstGeom>
          <a:noFill/>
          <a:ln/>
        </p:spPr>
        <p:txBody>
          <a:bodyPr wrap="square" lIns="0" tIns="0" rIns="0" bIns="0" rtlCol="0" anchor="ctr"/>
          <a:lstStyle/>
          <a:p>
            <a:pPr marL="0" indent="0">
              <a:buNone/>
            </a:pPr>
            <a:r>
              <a:rPr lang="en-US" sz="2000" dirty="0">
                <a:solidFill>
                  <a:srgbClr val="2C2C2C"/>
                </a:solidFill>
                <a:latin typeface="Calibri" pitchFamily="34" charset="0"/>
                <a:ea typeface="Calibri" pitchFamily="34" charset="-122"/>
                <a:cs typeface="Calibri" pitchFamily="34" charset="-120"/>
              </a:rPr>
              <a:t>Your assistant</a:t>
            </a:r>
            <a:endParaRPr lang="en-US" sz="2000" dirty="0"/>
          </a:p>
        </p:txBody>
      </p:sp>
      <p:sp>
        <p:nvSpPr>
          <p:cNvPr id="6" name="Text 4"/>
          <p:cNvSpPr/>
          <p:nvPr/>
        </p:nvSpPr>
        <p:spPr>
          <a:xfrm>
            <a:off x="4325112" y="1755648"/>
            <a:ext cx="3511296" cy="411480"/>
          </a:xfrm>
          <a:prstGeom prst="rect">
            <a:avLst/>
          </a:prstGeom>
          <a:noFill/>
          <a:ln/>
        </p:spPr>
        <p:txBody>
          <a:bodyPr wrap="square" lIns="0" tIns="0" rIns="0" bIns="0" rtlCol="0" anchor="ctr"/>
          <a:lstStyle/>
          <a:p>
            <a:pPr marL="0" indent="0">
              <a:buNone/>
            </a:pPr>
            <a:r>
              <a:rPr lang="en-US" sz="1600" dirty="0">
                <a:solidFill>
                  <a:srgbClr val="4A4A4A"/>
                </a:solidFill>
                <a:latin typeface="Calibri" pitchFamily="34" charset="0"/>
                <a:ea typeface="Calibri" pitchFamily="34" charset="-122"/>
                <a:cs typeface="Calibri" pitchFamily="34" charset="-120"/>
              </a:rPr>
              <a:t>Has the user goal. Needs help.</a:t>
            </a:r>
            <a:endParaRPr lang="en-US" sz="1600" dirty="0"/>
          </a:p>
        </p:txBody>
      </p:sp>
      <p:sp>
        <p:nvSpPr>
          <p:cNvPr id="7" name="Shape 5"/>
          <p:cNvSpPr/>
          <p:nvPr/>
        </p:nvSpPr>
        <p:spPr>
          <a:xfrm>
            <a:off x="502920" y="4160520"/>
            <a:ext cx="2423160" cy="1965960"/>
          </a:xfrm>
          <a:prstGeom prst="roundRect">
            <a:avLst>
              <a:gd name="adj" fmla="val 3721"/>
            </a:avLst>
          </a:prstGeom>
          <a:solidFill>
            <a:srgbClr val="C5DDF0"/>
          </a:solidFill>
          <a:ln/>
        </p:spPr>
        <p:txBody>
          <a:bodyPr/>
          <a:lstStyle/>
          <a:p>
            <a:endParaRPr lang="en-GB"/>
          </a:p>
        </p:txBody>
      </p:sp>
      <p:sp>
        <p:nvSpPr>
          <p:cNvPr id="8" name="Text 6"/>
          <p:cNvSpPr/>
          <p:nvPr/>
        </p:nvSpPr>
        <p:spPr>
          <a:xfrm>
            <a:off x="594360" y="4434840"/>
            <a:ext cx="2240280" cy="50292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Flight</a:t>
            </a:r>
            <a:endParaRPr lang="en-US" sz="2200" dirty="0"/>
          </a:p>
        </p:txBody>
      </p:sp>
      <p:sp>
        <p:nvSpPr>
          <p:cNvPr id="9" name="Text 7"/>
          <p:cNvSpPr/>
          <p:nvPr/>
        </p:nvSpPr>
        <p:spPr>
          <a:xfrm>
            <a:off x="594360" y="4983480"/>
            <a:ext cx="2240280" cy="640080"/>
          </a:xfrm>
          <a:prstGeom prst="rect">
            <a:avLst/>
          </a:prstGeom>
          <a:noFill/>
          <a:ln/>
        </p:spPr>
        <p:txBody>
          <a:bodyPr wrap="square" lIns="0" tIns="0" rIns="0" bIns="0" rtlCol="0" anchor="ctr"/>
          <a:lstStyle/>
          <a:p>
            <a:pPr marL="0" indent="0" algn="ctr">
              <a:buNone/>
            </a:pPr>
            <a:r>
              <a:rPr lang="en-US" sz="1600" dirty="0">
                <a:solidFill>
                  <a:srgbClr val="4A4A4A"/>
                </a:solidFill>
                <a:latin typeface="Calibri" pitchFamily="34" charset="0"/>
                <a:ea typeface="Calibri" pitchFamily="34" charset="-122"/>
                <a:cs typeface="Calibri" pitchFamily="34" charset="-120"/>
              </a:rPr>
              <a:t>Other vendor</a:t>
            </a:r>
            <a:endParaRPr lang="en-US" sz="1600" dirty="0"/>
          </a:p>
        </p:txBody>
      </p:sp>
      <p:sp>
        <p:nvSpPr>
          <p:cNvPr id="10" name="Shape 8"/>
          <p:cNvSpPr/>
          <p:nvPr/>
        </p:nvSpPr>
        <p:spPr>
          <a:xfrm>
            <a:off x="3429000" y="4160520"/>
            <a:ext cx="2423160" cy="1965960"/>
          </a:xfrm>
          <a:prstGeom prst="roundRect">
            <a:avLst>
              <a:gd name="adj" fmla="val 3721"/>
            </a:avLst>
          </a:prstGeom>
          <a:solidFill>
            <a:srgbClr val="C9E6D0"/>
          </a:solidFill>
          <a:ln/>
        </p:spPr>
        <p:txBody>
          <a:bodyPr/>
          <a:lstStyle/>
          <a:p>
            <a:endParaRPr lang="en-GB"/>
          </a:p>
        </p:txBody>
      </p:sp>
      <p:sp>
        <p:nvSpPr>
          <p:cNvPr id="11" name="Text 9"/>
          <p:cNvSpPr/>
          <p:nvPr/>
        </p:nvSpPr>
        <p:spPr>
          <a:xfrm>
            <a:off x="3520440" y="4434840"/>
            <a:ext cx="2240280" cy="50292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Hotel</a:t>
            </a:r>
            <a:endParaRPr lang="en-US" sz="2200" dirty="0"/>
          </a:p>
        </p:txBody>
      </p:sp>
      <p:sp>
        <p:nvSpPr>
          <p:cNvPr id="12" name="Text 10"/>
          <p:cNvSpPr/>
          <p:nvPr/>
        </p:nvSpPr>
        <p:spPr>
          <a:xfrm>
            <a:off x="3520440" y="4983480"/>
            <a:ext cx="2240280" cy="640080"/>
          </a:xfrm>
          <a:prstGeom prst="rect">
            <a:avLst/>
          </a:prstGeom>
          <a:noFill/>
          <a:ln/>
        </p:spPr>
        <p:txBody>
          <a:bodyPr wrap="square" lIns="0" tIns="0" rIns="0" bIns="0" rtlCol="0" anchor="ctr"/>
          <a:lstStyle/>
          <a:p>
            <a:pPr marL="0" indent="0" algn="ctr">
              <a:buNone/>
            </a:pPr>
            <a:r>
              <a:rPr lang="en-US" sz="1600" dirty="0">
                <a:solidFill>
                  <a:srgbClr val="4A4A4A"/>
                </a:solidFill>
                <a:latin typeface="Calibri" pitchFamily="34" charset="0"/>
                <a:ea typeface="Calibri" pitchFamily="34" charset="-122"/>
                <a:cs typeface="Calibri" pitchFamily="34" charset="-120"/>
              </a:rPr>
              <a:t>Other vendor</a:t>
            </a:r>
            <a:endParaRPr lang="en-US" sz="1600" dirty="0"/>
          </a:p>
        </p:txBody>
      </p:sp>
      <p:sp>
        <p:nvSpPr>
          <p:cNvPr id="13" name="Shape 11"/>
          <p:cNvSpPr/>
          <p:nvPr/>
        </p:nvSpPr>
        <p:spPr>
          <a:xfrm>
            <a:off x="6355080" y="4160520"/>
            <a:ext cx="2423160" cy="1965960"/>
          </a:xfrm>
          <a:prstGeom prst="roundRect">
            <a:avLst>
              <a:gd name="adj" fmla="val 3721"/>
            </a:avLst>
          </a:prstGeom>
          <a:solidFill>
            <a:srgbClr val="F6D6C6"/>
          </a:solidFill>
          <a:ln/>
        </p:spPr>
        <p:txBody>
          <a:bodyPr/>
          <a:lstStyle/>
          <a:p>
            <a:endParaRPr lang="en-GB"/>
          </a:p>
        </p:txBody>
      </p:sp>
      <p:sp>
        <p:nvSpPr>
          <p:cNvPr id="14" name="Text 12"/>
          <p:cNvSpPr/>
          <p:nvPr/>
        </p:nvSpPr>
        <p:spPr>
          <a:xfrm>
            <a:off x="6446520" y="4434840"/>
            <a:ext cx="2240280" cy="50292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Money</a:t>
            </a:r>
            <a:endParaRPr lang="en-US" sz="2200" dirty="0"/>
          </a:p>
        </p:txBody>
      </p:sp>
      <p:sp>
        <p:nvSpPr>
          <p:cNvPr id="15" name="Text 13"/>
          <p:cNvSpPr/>
          <p:nvPr/>
        </p:nvSpPr>
        <p:spPr>
          <a:xfrm>
            <a:off x="6446520" y="4983480"/>
            <a:ext cx="2240280" cy="640080"/>
          </a:xfrm>
          <a:prstGeom prst="rect">
            <a:avLst/>
          </a:prstGeom>
          <a:noFill/>
          <a:ln/>
        </p:spPr>
        <p:txBody>
          <a:bodyPr wrap="square" lIns="0" tIns="0" rIns="0" bIns="0" rtlCol="0" anchor="ctr"/>
          <a:lstStyle/>
          <a:p>
            <a:pPr marL="0" indent="0" algn="ctr">
              <a:buNone/>
            </a:pPr>
            <a:r>
              <a:rPr lang="en-US" sz="1600" dirty="0">
                <a:solidFill>
                  <a:srgbClr val="4A4A4A"/>
                </a:solidFill>
                <a:latin typeface="Calibri" pitchFamily="34" charset="0"/>
                <a:ea typeface="Calibri" pitchFamily="34" charset="-122"/>
                <a:cs typeface="Calibri" pitchFamily="34" charset="-120"/>
              </a:rPr>
              <a:t>Other vendor</a:t>
            </a:r>
            <a:endParaRPr lang="en-US" sz="1600" dirty="0"/>
          </a:p>
        </p:txBody>
      </p:sp>
      <p:sp>
        <p:nvSpPr>
          <p:cNvPr id="16" name="Shape 14"/>
          <p:cNvSpPr/>
          <p:nvPr/>
        </p:nvSpPr>
        <p:spPr>
          <a:xfrm>
            <a:off x="9281160" y="4160520"/>
            <a:ext cx="2423160" cy="1965960"/>
          </a:xfrm>
          <a:prstGeom prst="roundRect">
            <a:avLst>
              <a:gd name="adj" fmla="val 3721"/>
            </a:avLst>
          </a:prstGeom>
          <a:solidFill>
            <a:srgbClr val="DDD0EE"/>
          </a:solidFill>
          <a:ln/>
        </p:spPr>
        <p:txBody>
          <a:bodyPr/>
          <a:lstStyle/>
          <a:p>
            <a:endParaRPr lang="en-GB"/>
          </a:p>
        </p:txBody>
      </p:sp>
      <p:sp>
        <p:nvSpPr>
          <p:cNvPr id="17" name="Text 15"/>
          <p:cNvSpPr/>
          <p:nvPr/>
        </p:nvSpPr>
        <p:spPr>
          <a:xfrm>
            <a:off x="9372600" y="4434840"/>
            <a:ext cx="2240280" cy="50292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Local</a:t>
            </a:r>
            <a:endParaRPr lang="en-US" sz="2200" dirty="0"/>
          </a:p>
        </p:txBody>
      </p:sp>
      <p:sp>
        <p:nvSpPr>
          <p:cNvPr id="18" name="Text 16"/>
          <p:cNvSpPr/>
          <p:nvPr/>
        </p:nvSpPr>
        <p:spPr>
          <a:xfrm>
            <a:off x="9372600" y="4983480"/>
            <a:ext cx="2240280" cy="640080"/>
          </a:xfrm>
          <a:prstGeom prst="rect">
            <a:avLst/>
          </a:prstGeom>
          <a:noFill/>
          <a:ln/>
        </p:spPr>
        <p:txBody>
          <a:bodyPr wrap="square" lIns="0" tIns="0" rIns="0" bIns="0" rtlCol="0" anchor="ctr"/>
          <a:lstStyle/>
          <a:p>
            <a:pPr marL="0" indent="0" algn="ctr">
              <a:buNone/>
            </a:pPr>
            <a:r>
              <a:rPr lang="en-US" sz="1600" dirty="0">
                <a:solidFill>
                  <a:srgbClr val="4A4A4A"/>
                </a:solidFill>
                <a:latin typeface="Calibri" pitchFamily="34" charset="0"/>
                <a:ea typeface="Calibri" pitchFamily="34" charset="-122"/>
                <a:cs typeface="Calibri" pitchFamily="34" charset="-120"/>
              </a:rPr>
              <a:t>Other vendor</a:t>
            </a:r>
            <a:endParaRPr lang="en-US" sz="1600" dirty="0"/>
          </a:p>
        </p:txBody>
      </p:sp>
      <p:sp>
        <p:nvSpPr>
          <p:cNvPr id="19" name="Text 17"/>
          <p:cNvSpPr/>
          <p:nvPr/>
        </p:nvSpPr>
        <p:spPr>
          <a:xfrm>
            <a:off x="548640" y="2514600"/>
            <a:ext cx="11064240" cy="128016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No shared path. Each pair needs a custom link. That is slow, costly, and often unsafe.</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11064240" cy="457200"/>
          </a:xfrm>
          <a:prstGeom prst="rect">
            <a:avLst/>
          </a:prstGeom>
          <a:noFill/>
          <a:ln/>
        </p:spPr>
        <p:txBody>
          <a:bodyPr wrap="square" lIns="0" tIns="0" rIns="0" bIns="0" rtlCol="0" anchor="ctr"/>
          <a:lstStyle/>
          <a:p>
            <a:pPr marL="0" indent="0">
              <a:buNone/>
            </a:pPr>
            <a:r>
              <a:rPr lang="en-US" sz="3400" dirty="0">
                <a:solidFill>
                  <a:srgbClr val="2C2C2C"/>
                </a:solidFill>
                <a:latin typeface="Calibri" pitchFamily="34" charset="0"/>
                <a:ea typeface="Calibri" pitchFamily="34" charset="-122"/>
                <a:cs typeface="Calibri" pitchFamily="34" charset="-120"/>
              </a:rPr>
              <a:t>Why A2A helps</a:t>
            </a:r>
            <a:endParaRPr lang="en-US" sz="3400" dirty="0"/>
          </a:p>
        </p:txBody>
      </p:sp>
      <p:sp>
        <p:nvSpPr>
          <p:cNvPr id="3" name="Shape 1"/>
          <p:cNvSpPr/>
          <p:nvPr/>
        </p:nvSpPr>
        <p:spPr>
          <a:xfrm>
            <a:off x="502920" y="868680"/>
            <a:ext cx="5623560" cy="1737360"/>
          </a:xfrm>
          <a:prstGeom prst="roundRect">
            <a:avLst>
              <a:gd name="adj" fmla="val 4211"/>
            </a:avLst>
          </a:prstGeom>
          <a:solidFill>
            <a:srgbClr val="C5DDF0"/>
          </a:solidFill>
          <a:ln/>
        </p:spPr>
        <p:txBody>
          <a:bodyPr/>
          <a:lstStyle/>
          <a:p>
            <a:endParaRPr lang="en-GB"/>
          </a:p>
        </p:txBody>
      </p:sp>
      <p:sp>
        <p:nvSpPr>
          <p:cNvPr id="4" name="Text 2"/>
          <p:cNvSpPr/>
          <p:nvPr/>
        </p:nvSpPr>
        <p:spPr>
          <a:xfrm>
            <a:off x="667512" y="996696"/>
            <a:ext cx="529437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Work across teams</a:t>
            </a:r>
            <a:endParaRPr lang="en-US" sz="2800" dirty="0"/>
          </a:p>
        </p:txBody>
      </p:sp>
      <p:sp>
        <p:nvSpPr>
          <p:cNvPr id="5" name="Text 3"/>
          <p:cNvSpPr/>
          <p:nvPr/>
        </p:nvSpPr>
        <p:spPr>
          <a:xfrm>
            <a:off x="667512" y="1435608"/>
            <a:ext cx="5294376" cy="100584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Agents from different vendors can join one job without a shared runtime.</a:t>
            </a:r>
            <a:endParaRPr lang="en-US" sz="2400" dirty="0"/>
          </a:p>
        </p:txBody>
      </p:sp>
      <p:sp>
        <p:nvSpPr>
          <p:cNvPr id="6" name="Shape 4"/>
          <p:cNvSpPr/>
          <p:nvPr/>
        </p:nvSpPr>
        <p:spPr>
          <a:xfrm>
            <a:off x="6355080" y="868680"/>
            <a:ext cx="5623560" cy="1737360"/>
          </a:xfrm>
          <a:prstGeom prst="roundRect">
            <a:avLst>
              <a:gd name="adj" fmla="val 4211"/>
            </a:avLst>
          </a:prstGeom>
          <a:solidFill>
            <a:srgbClr val="C9E6D0"/>
          </a:solidFill>
          <a:ln/>
        </p:spPr>
        <p:txBody>
          <a:bodyPr/>
          <a:lstStyle/>
          <a:p>
            <a:endParaRPr lang="en-GB"/>
          </a:p>
        </p:txBody>
      </p:sp>
      <p:sp>
        <p:nvSpPr>
          <p:cNvPr id="7" name="Text 5"/>
          <p:cNvSpPr/>
          <p:nvPr/>
        </p:nvSpPr>
        <p:spPr>
          <a:xfrm>
            <a:off x="6519672" y="996696"/>
            <a:ext cx="529437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Less glue code</a:t>
            </a:r>
            <a:endParaRPr lang="en-US" sz="2800" dirty="0"/>
          </a:p>
        </p:txBody>
      </p:sp>
      <p:sp>
        <p:nvSpPr>
          <p:cNvPr id="8" name="Text 6"/>
          <p:cNvSpPr/>
          <p:nvPr/>
        </p:nvSpPr>
        <p:spPr>
          <a:xfrm>
            <a:off x="6519672" y="1435608"/>
            <a:ext cx="5294376" cy="100584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You write the agent once. Partners speak the same rules.</a:t>
            </a:r>
            <a:endParaRPr lang="en-US" sz="2400" dirty="0"/>
          </a:p>
        </p:txBody>
      </p:sp>
      <p:sp>
        <p:nvSpPr>
          <p:cNvPr id="9" name="Shape 7"/>
          <p:cNvSpPr/>
          <p:nvPr/>
        </p:nvSpPr>
        <p:spPr>
          <a:xfrm>
            <a:off x="502920" y="2743200"/>
            <a:ext cx="5623560" cy="1737360"/>
          </a:xfrm>
          <a:prstGeom prst="roundRect">
            <a:avLst>
              <a:gd name="adj" fmla="val 4211"/>
            </a:avLst>
          </a:prstGeom>
          <a:solidFill>
            <a:srgbClr val="F6D6C6"/>
          </a:solidFill>
          <a:ln/>
        </p:spPr>
        <p:txBody>
          <a:bodyPr/>
          <a:lstStyle/>
          <a:p>
            <a:endParaRPr lang="en-GB"/>
          </a:p>
        </p:txBody>
      </p:sp>
      <p:sp>
        <p:nvSpPr>
          <p:cNvPr id="10" name="Text 8"/>
          <p:cNvSpPr/>
          <p:nvPr/>
        </p:nvSpPr>
        <p:spPr>
          <a:xfrm>
            <a:off x="667512" y="2871216"/>
            <a:ext cx="529437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Long jobs are normal</a:t>
            </a:r>
            <a:endParaRPr lang="en-US" sz="2800" dirty="0"/>
          </a:p>
        </p:txBody>
      </p:sp>
      <p:sp>
        <p:nvSpPr>
          <p:cNvPr id="11" name="Text 9"/>
          <p:cNvSpPr/>
          <p:nvPr/>
        </p:nvSpPr>
        <p:spPr>
          <a:xfrm>
            <a:off x="667512" y="3310128"/>
            <a:ext cx="5294376" cy="100584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A task can run a long time and send status while it works.</a:t>
            </a:r>
            <a:endParaRPr lang="en-US" sz="2400" dirty="0"/>
          </a:p>
        </p:txBody>
      </p:sp>
      <p:sp>
        <p:nvSpPr>
          <p:cNvPr id="12" name="Shape 10"/>
          <p:cNvSpPr/>
          <p:nvPr/>
        </p:nvSpPr>
        <p:spPr>
          <a:xfrm>
            <a:off x="6355080" y="2743200"/>
            <a:ext cx="5623560" cy="1737360"/>
          </a:xfrm>
          <a:prstGeom prst="roundRect">
            <a:avLst>
              <a:gd name="adj" fmla="val 4211"/>
            </a:avLst>
          </a:prstGeom>
          <a:solidFill>
            <a:srgbClr val="DDD0EE"/>
          </a:solidFill>
          <a:ln/>
        </p:spPr>
        <p:txBody>
          <a:bodyPr/>
          <a:lstStyle/>
          <a:p>
            <a:endParaRPr lang="en-GB"/>
          </a:p>
        </p:txBody>
      </p:sp>
      <p:sp>
        <p:nvSpPr>
          <p:cNvPr id="13" name="Text 11"/>
          <p:cNvSpPr/>
          <p:nvPr/>
        </p:nvSpPr>
        <p:spPr>
          <a:xfrm>
            <a:off x="6519672" y="2871216"/>
            <a:ext cx="529437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Many kinds of content</a:t>
            </a:r>
            <a:endParaRPr lang="en-US" sz="2800" dirty="0"/>
          </a:p>
        </p:txBody>
      </p:sp>
      <p:sp>
        <p:nvSpPr>
          <p:cNvPr id="14" name="Text 12"/>
          <p:cNvSpPr/>
          <p:nvPr/>
        </p:nvSpPr>
        <p:spPr>
          <a:xfrm>
            <a:off x="6519672" y="3310128"/>
            <a:ext cx="5294376" cy="100584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Text, forms, files. Later also sound or video.</a:t>
            </a:r>
            <a:endParaRPr lang="en-US" sz="2400" dirty="0"/>
          </a:p>
        </p:txBody>
      </p:sp>
      <p:sp>
        <p:nvSpPr>
          <p:cNvPr id="15" name="Shape 13"/>
          <p:cNvSpPr/>
          <p:nvPr/>
        </p:nvSpPr>
        <p:spPr>
          <a:xfrm>
            <a:off x="502920" y="4617720"/>
            <a:ext cx="5623560" cy="1737360"/>
          </a:xfrm>
          <a:prstGeom prst="roundRect">
            <a:avLst>
              <a:gd name="adj" fmla="val 4211"/>
            </a:avLst>
          </a:prstGeom>
          <a:solidFill>
            <a:srgbClr val="F3E6B8"/>
          </a:solidFill>
          <a:ln/>
        </p:spPr>
        <p:txBody>
          <a:bodyPr/>
          <a:lstStyle/>
          <a:p>
            <a:endParaRPr lang="en-GB"/>
          </a:p>
        </p:txBody>
      </p:sp>
      <p:sp>
        <p:nvSpPr>
          <p:cNvPr id="16" name="Text 14"/>
          <p:cNvSpPr/>
          <p:nvPr/>
        </p:nvSpPr>
        <p:spPr>
          <a:xfrm>
            <a:off x="667512" y="4745736"/>
            <a:ext cx="5294376" cy="420624"/>
          </a:xfrm>
          <a:prstGeom prst="rect">
            <a:avLst/>
          </a:prstGeom>
          <a:noFill/>
          <a:ln/>
        </p:spPr>
        <p:txBody>
          <a:bodyPr wrap="square" lIns="0" tIns="0" rIns="0" bIns="0" rtlCol="0" anchor="ctr"/>
          <a:lstStyle/>
          <a:p>
            <a:pPr marL="0" indent="0">
              <a:buNone/>
            </a:pPr>
            <a:r>
              <a:rPr lang="en-US" sz="3200" dirty="0">
                <a:solidFill>
                  <a:srgbClr val="2C2C2C"/>
                </a:solidFill>
                <a:latin typeface="Calibri" pitchFamily="34" charset="0"/>
                <a:ea typeface="Calibri" pitchFamily="34" charset="-122"/>
                <a:cs typeface="Calibri" pitchFamily="34" charset="-120"/>
              </a:rPr>
              <a:t>Inner work stays home</a:t>
            </a:r>
            <a:endParaRPr lang="en-US" sz="3200" dirty="0"/>
          </a:p>
        </p:txBody>
      </p:sp>
      <p:sp>
        <p:nvSpPr>
          <p:cNvPr id="17" name="Text 15"/>
          <p:cNvSpPr/>
          <p:nvPr/>
        </p:nvSpPr>
        <p:spPr>
          <a:xfrm>
            <a:off x="667512" y="5184648"/>
            <a:ext cx="5294376" cy="100584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You send the job. You get the result. Tools stay inside.</a:t>
            </a:r>
            <a:endParaRPr lang="en-US" sz="2400" dirty="0"/>
          </a:p>
        </p:txBody>
      </p:sp>
      <p:sp>
        <p:nvSpPr>
          <p:cNvPr id="18" name="Shape 16"/>
          <p:cNvSpPr/>
          <p:nvPr/>
        </p:nvSpPr>
        <p:spPr>
          <a:xfrm>
            <a:off x="6355080" y="4617720"/>
            <a:ext cx="5623560" cy="1737360"/>
          </a:xfrm>
          <a:prstGeom prst="roundRect">
            <a:avLst>
              <a:gd name="adj" fmla="val 4211"/>
            </a:avLst>
          </a:prstGeom>
          <a:solidFill>
            <a:srgbClr val="F3D0DC"/>
          </a:solidFill>
          <a:ln/>
        </p:spPr>
        <p:txBody>
          <a:bodyPr/>
          <a:lstStyle/>
          <a:p>
            <a:endParaRPr lang="en-GB"/>
          </a:p>
        </p:txBody>
      </p:sp>
      <p:sp>
        <p:nvSpPr>
          <p:cNvPr id="19" name="Text 17"/>
          <p:cNvSpPr/>
          <p:nvPr/>
        </p:nvSpPr>
        <p:spPr>
          <a:xfrm>
            <a:off x="6519672" y="4745736"/>
            <a:ext cx="529437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Same safety steps</a:t>
            </a:r>
            <a:endParaRPr lang="en-US" sz="2800" dirty="0"/>
          </a:p>
        </p:txBody>
      </p:sp>
      <p:sp>
        <p:nvSpPr>
          <p:cNvPr id="20" name="Text 18"/>
          <p:cNvSpPr/>
          <p:nvPr/>
        </p:nvSpPr>
        <p:spPr>
          <a:xfrm>
            <a:off x="6519672" y="5184648"/>
            <a:ext cx="5294376" cy="100584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Every partner uses the same login pattern and the same job id.</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11064240" cy="457200"/>
          </a:xfrm>
          <a:prstGeom prst="rect">
            <a:avLst/>
          </a:prstGeom>
          <a:noFill/>
          <a:ln/>
        </p:spPr>
        <p:txBody>
          <a:bodyPr wrap="square" lIns="0" tIns="0" rIns="0" bIns="0" rtlCol="0" anchor="ctr"/>
          <a:lstStyle/>
          <a:p>
            <a:pPr marL="0" indent="0">
              <a:buNone/>
            </a:pPr>
            <a:r>
              <a:rPr lang="en-US" sz="3200" dirty="0">
                <a:solidFill>
                  <a:srgbClr val="2C2C2C"/>
                </a:solidFill>
                <a:latin typeface="Calibri" pitchFamily="34" charset="0"/>
                <a:ea typeface="Calibri" pitchFamily="34" charset="-122"/>
                <a:cs typeface="Calibri" pitchFamily="34" charset="-120"/>
              </a:rPr>
              <a:t>When and where to use A2A</a:t>
            </a:r>
            <a:endParaRPr lang="en-US" sz="3200" dirty="0"/>
          </a:p>
        </p:txBody>
      </p:sp>
      <p:sp>
        <p:nvSpPr>
          <p:cNvPr id="3" name="Shape 1"/>
          <p:cNvSpPr/>
          <p:nvPr/>
        </p:nvSpPr>
        <p:spPr>
          <a:xfrm>
            <a:off x="502920" y="868680"/>
            <a:ext cx="5623560" cy="2651760"/>
          </a:xfrm>
          <a:prstGeom prst="roundRect">
            <a:avLst>
              <a:gd name="adj" fmla="val 2759"/>
            </a:avLst>
          </a:prstGeom>
          <a:solidFill>
            <a:srgbClr val="C9E6D0"/>
          </a:solidFill>
          <a:ln/>
        </p:spPr>
        <p:txBody>
          <a:bodyPr/>
          <a:lstStyle/>
          <a:p>
            <a:endParaRPr lang="en-GB"/>
          </a:p>
        </p:txBody>
      </p:sp>
      <p:sp>
        <p:nvSpPr>
          <p:cNvPr id="4" name="Text 2"/>
          <p:cNvSpPr/>
          <p:nvPr/>
        </p:nvSpPr>
        <p:spPr>
          <a:xfrm>
            <a:off x="667512" y="996696"/>
            <a:ext cx="529437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Use A2A when</a:t>
            </a:r>
            <a:endParaRPr lang="en-US" sz="2800" dirty="0"/>
          </a:p>
        </p:txBody>
      </p:sp>
      <p:sp>
        <p:nvSpPr>
          <p:cNvPr id="5" name="Text 3"/>
          <p:cNvSpPr/>
          <p:nvPr/>
        </p:nvSpPr>
        <p:spPr>
          <a:xfrm>
            <a:off x="667512" y="1435608"/>
            <a:ext cx="5294376" cy="192024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The other agent is outside your process. Another team, another company, or another tool. You need a job done, not a copy of their system.</a:t>
            </a:r>
            <a:endParaRPr lang="en-US" sz="2400" dirty="0"/>
          </a:p>
        </p:txBody>
      </p:sp>
      <p:sp>
        <p:nvSpPr>
          <p:cNvPr id="6" name="Shape 4"/>
          <p:cNvSpPr/>
          <p:nvPr/>
        </p:nvSpPr>
        <p:spPr>
          <a:xfrm>
            <a:off x="6309360" y="868680"/>
            <a:ext cx="5394960" cy="2651760"/>
          </a:xfrm>
          <a:prstGeom prst="roundRect">
            <a:avLst>
              <a:gd name="adj" fmla="val 2759"/>
            </a:avLst>
          </a:prstGeom>
          <a:solidFill>
            <a:srgbClr val="F6D6C6"/>
          </a:solidFill>
          <a:ln/>
        </p:spPr>
        <p:txBody>
          <a:bodyPr/>
          <a:lstStyle/>
          <a:p>
            <a:endParaRPr lang="en-GB"/>
          </a:p>
        </p:txBody>
      </p:sp>
      <p:sp>
        <p:nvSpPr>
          <p:cNvPr id="7" name="Text 5"/>
          <p:cNvSpPr/>
          <p:nvPr/>
        </p:nvSpPr>
        <p:spPr>
          <a:xfrm>
            <a:off x="6473952" y="996696"/>
            <a:ext cx="506577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Do not use A2A when</a:t>
            </a:r>
            <a:endParaRPr lang="en-US" sz="2800" dirty="0"/>
          </a:p>
        </p:txBody>
      </p:sp>
      <p:sp>
        <p:nvSpPr>
          <p:cNvPr id="8" name="Text 6"/>
          <p:cNvSpPr/>
          <p:nvPr/>
        </p:nvSpPr>
        <p:spPr>
          <a:xfrm>
            <a:off x="6473952" y="1435608"/>
            <a:ext cx="5065776" cy="192024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You only need your model to read your own database or files. That is a local tool job. Use MCP there.</a:t>
            </a:r>
            <a:endParaRPr lang="en-US" sz="2400" dirty="0"/>
          </a:p>
        </p:txBody>
      </p:sp>
      <p:sp>
        <p:nvSpPr>
          <p:cNvPr id="9" name="Shape 7"/>
          <p:cNvSpPr/>
          <p:nvPr/>
        </p:nvSpPr>
        <p:spPr>
          <a:xfrm>
            <a:off x="502920" y="3703320"/>
            <a:ext cx="5623560" cy="2606040"/>
          </a:xfrm>
          <a:prstGeom prst="roundRect">
            <a:avLst>
              <a:gd name="adj" fmla="val 2807"/>
            </a:avLst>
          </a:prstGeom>
          <a:solidFill>
            <a:srgbClr val="C5DDF0"/>
          </a:solidFill>
          <a:ln/>
        </p:spPr>
        <p:txBody>
          <a:bodyPr/>
          <a:lstStyle/>
          <a:p>
            <a:endParaRPr lang="en-GB"/>
          </a:p>
        </p:txBody>
      </p:sp>
      <p:sp>
        <p:nvSpPr>
          <p:cNvPr id="10" name="Text 8"/>
          <p:cNvSpPr/>
          <p:nvPr/>
        </p:nvSpPr>
        <p:spPr>
          <a:xfrm>
            <a:off x="667512" y="3831336"/>
            <a:ext cx="529437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Good places</a:t>
            </a:r>
            <a:endParaRPr lang="en-US" sz="2800" dirty="0"/>
          </a:p>
        </p:txBody>
      </p:sp>
      <p:sp>
        <p:nvSpPr>
          <p:cNvPr id="11" name="Text 9"/>
          <p:cNvSpPr/>
          <p:nvPr/>
        </p:nvSpPr>
        <p:spPr>
          <a:xfrm>
            <a:off x="667512" y="4270248"/>
            <a:ext cx="5294376" cy="187452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An order across pricing and shipping. Travel across vendors. Health records between providers. A locked specialist inside your own company.</a:t>
            </a:r>
            <a:endParaRPr lang="en-US" sz="2400" dirty="0"/>
          </a:p>
        </p:txBody>
      </p:sp>
      <p:sp>
        <p:nvSpPr>
          <p:cNvPr id="12" name="Shape 10"/>
          <p:cNvSpPr/>
          <p:nvPr/>
        </p:nvSpPr>
        <p:spPr>
          <a:xfrm>
            <a:off x="6309360" y="3703320"/>
            <a:ext cx="5394960" cy="2606040"/>
          </a:xfrm>
          <a:prstGeom prst="roundRect">
            <a:avLst>
              <a:gd name="adj" fmla="val 2807"/>
            </a:avLst>
          </a:prstGeom>
          <a:solidFill>
            <a:srgbClr val="DDD0EE"/>
          </a:solidFill>
          <a:ln/>
        </p:spPr>
        <p:txBody>
          <a:bodyPr/>
          <a:lstStyle/>
          <a:p>
            <a:endParaRPr lang="en-GB"/>
          </a:p>
        </p:txBody>
      </p:sp>
      <p:sp>
        <p:nvSpPr>
          <p:cNvPr id="13" name="Text 11"/>
          <p:cNvSpPr/>
          <p:nvPr/>
        </p:nvSpPr>
        <p:spPr>
          <a:xfrm>
            <a:off x="6473952" y="3831336"/>
            <a:ext cx="506577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Who builds with it</a:t>
            </a:r>
            <a:endParaRPr lang="en-US" sz="2800" dirty="0"/>
          </a:p>
        </p:txBody>
      </p:sp>
      <p:sp>
        <p:nvSpPr>
          <p:cNvPr id="14" name="Text 12"/>
          <p:cNvSpPr/>
          <p:nvPr/>
        </p:nvSpPr>
        <p:spPr>
          <a:xfrm>
            <a:off x="6473952" y="4270248"/>
            <a:ext cx="5065776" cy="1874520"/>
          </a:xfrm>
          <a:prstGeom prst="rect">
            <a:avLst/>
          </a:prstGeom>
          <a:noFill/>
          <a:ln/>
        </p:spPr>
        <p:txBody>
          <a:bodyPr wrap="square" lIns="0" tIns="0" rIns="0" bIns="0" rtlCol="0" anchor="ctr"/>
          <a:lstStyle/>
          <a:p>
            <a:pPr marL="0" indent="0">
              <a:buNone/>
            </a:pPr>
            <a:r>
              <a:rPr lang="en-US" sz="2400" dirty="0">
                <a:solidFill>
                  <a:srgbClr val="4A4A4A"/>
                </a:solidFill>
                <a:latin typeface="Calibri" pitchFamily="34" charset="0"/>
                <a:ea typeface="Calibri" pitchFamily="34" charset="-122"/>
                <a:cs typeface="Calibri" pitchFamily="34" charset="-120"/>
              </a:rPr>
              <a:t>Teams on LangGraph, CrewAI, Google ADK, or custom code. SDKs exist for Python, JavaScript, Java, Go, and more.</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11064240" cy="438912"/>
          </a:xfrm>
          <a:prstGeom prst="rect">
            <a:avLst/>
          </a:prstGeom>
          <a:noFill/>
          <a:ln/>
        </p:spPr>
        <p:txBody>
          <a:bodyPr wrap="square" lIns="0" tIns="0" rIns="0" bIns="0" rtlCol="0" anchor="ctr"/>
          <a:lstStyle/>
          <a:p>
            <a:pPr marL="0" indent="0">
              <a:buNone/>
            </a:pPr>
            <a:r>
              <a:rPr lang="en-US" sz="3000" dirty="0">
                <a:solidFill>
                  <a:srgbClr val="2C2C2C"/>
                </a:solidFill>
                <a:latin typeface="Calibri" pitchFamily="34" charset="0"/>
                <a:ea typeface="Calibri" pitchFamily="34" charset="-122"/>
                <a:cs typeface="Calibri" pitchFamily="34" charset="-120"/>
              </a:rPr>
              <a:t>A2A and MCP do different jobs</a:t>
            </a:r>
            <a:endParaRPr lang="en-US" sz="3000" dirty="0"/>
          </a:p>
        </p:txBody>
      </p:sp>
      <p:sp>
        <p:nvSpPr>
          <p:cNvPr id="3" name="Text 1"/>
          <p:cNvSpPr/>
          <p:nvPr/>
        </p:nvSpPr>
        <p:spPr>
          <a:xfrm>
            <a:off x="502920" y="731520"/>
            <a:ext cx="5212080" cy="347472"/>
          </a:xfrm>
          <a:prstGeom prst="rect">
            <a:avLst/>
          </a:prstGeom>
          <a:noFill/>
          <a:ln/>
        </p:spPr>
        <p:txBody>
          <a:bodyPr wrap="square" lIns="0" tIns="0" rIns="0" bIns="0" rtlCol="0" anchor="ctr"/>
          <a:lstStyle/>
          <a:p>
            <a:pPr marL="0" indent="0" algn="ctr">
              <a:buNone/>
            </a:pPr>
            <a:r>
              <a:rPr lang="en-US" sz="2000" dirty="0">
                <a:solidFill>
                  <a:srgbClr val="2C2C2C"/>
                </a:solidFill>
                <a:latin typeface="Calibri" pitchFamily="34" charset="0"/>
                <a:ea typeface="Calibri" pitchFamily="34" charset="-122"/>
                <a:cs typeface="Calibri" pitchFamily="34" charset="-120"/>
              </a:rPr>
              <a:t>Your company</a:t>
            </a:r>
            <a:endParaRPr lang="en-US" sz="2000" dirty="0"/>
          </a:p>
        </p:txBody>
      </p:sp>
      <p:sp>
        <p:nvSpPr>
          <p:cNvPr id="4" name="Text 2"/>
          <p:cNvSpPr/>
          <p:nvPr/>
        </p:nvSpPr>
        <p:spPr>
          <a:xfrm>
            <a:off x="6492240" y="731520"/>
            <a:ext cx="5212080" cy="347472"/>
          </a:xfrm>
          <a:prstGeom prst="rect">
            <a:avLst/>
          </a:prstGeom>
          <a:noFill/>
          <a:ln/>
        </p:spPr>
        <p:txBody>
          <a:bodyPr wrap="square" lIns="0" tIns="0" rIns="0" bIns="0" rtlCol="0" anchor="ctr"/>
          <a:lstStyle/>
          <a:p>
            <a:pPr marL="0" indent="0" algn="ctr">
              <a:buNone/>
            </a:pPr>
            <a:r>
              <a:rPr lang="en-US" sz="2000" dirty="0">
                <a:solidFill>
                  <a:srgbClr val="2C2C2C"/>
                </a:solidFill>
                <a:latin typeface="Calibri" pitchFamily="34" charset="0"/>
                <a:ea typeface="Calibri" pitchFamily="34" charset="-122"/>
                <a:cs typeface="Calibri" pitchFamily="34" charset="-120"/>
              </a:rPr>
              <a:t>Their company</a:t>
            </a:r>
            <a:endParaRPr lang="en-US" sz="2000" dirty="0"/>
          </a:p>
        </p:txBody>
      </p:sp>
      <p:sp>
        <p:nvSpPr>
          <p:cNvPr id="5" name="Shape 3"/>
          <p:cNvSpPr/>
          <p:nvPr/>
        </p:nvSpPr>
        <p:spPr>
          <a:xfrm>
            <a:off x="502920" y="1143000"/>
            <a:ext cx="5212080" cy="1371600"/>
          </a:xfrm>
          <a:prstGeom prst="roundRect">
            <a:avLst>
              <a:gd name="adj" fmla="val 5333"/>
            </a:avLst>
          </a:prstGeom>
          <a:solidFill>
            <a:srgbClr val="DDD0EE"/>
          </a:solidFill>
          <a:ln/>
        </p:spPr>
        <p:txBody>
          <a:bodyPr/>
          <a:lstStyle/>
          <a:p>
            <a:endParaRPr lang="en-GB"/>
          </a:p>
        </p:txBody>
      </p:sp>
      <p:sp>
        <p:nvSpPr>
          <p:cNvPr id="6" name="Text 4"/>
          <p:cNvSpPr/>
          <p:nvPr/>
        </p:nvSpPr>
        <p:spPr>
          <a:xfrm>
            <a:off x="667512" y="1271016"/>
            <a:ext cx="4882896" cy="420624"/>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A2A agent</a:t>
            </a:r>
            <a:endParaRPr lang="en-US" sz="2400" dirty="0"/>
          </a:p>
        </p:txBody>
      </p:sp>
      <p:sp>
        <p:nvSpPr>
          <p:cNvPr id="7" name="Text 5"/>
          <p:cNvSpPr/>
          <p:nvPr/>
        </p:nvSpPr>
        <p:spPr>
          <a:xfrm>
            <a:off x="667512" y="1709928"/>
            <a:ext cx="4882896" cy="64008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Asks the other agent for help.</a:t>
            </a:r>
            <a:endParaRPr lang="en-US" sz="2000" dirty="0"/>
          </a:p>
        </p:txBody>
      </p:sp>
      <p:sp>
        <p:nvSpPr>
          <p:cNvPr id="8" name="Shape 6"/>
          <p:cNvSpPr/>
          <p:nvPr/>
        </p:nvSpPr>
        <p:spPr>
          <a:xfrm>
            <a:off x="6492240" y="1143000"/>
            <a:ext cx="5212080" cy="1371600"/>
          </a:xfrm>
          <a:prstGeom prst="roundRect">
            <a:avLst>
              <a:gd name="adj" fmla="val 5333"/>
            </a:avLst>
          </a:prstGeom>
          <a:solidFill>
            <a:srgbClr val="DDD0EE"/>
          </a:solidFill>
          <a:ln/>
        </p:spPr>
        <p:txBody>
          <a:bodyPr/>
          <a:lstStyle/>
          <a:p>
            <a:endParaRPr lang="en-GB"/>
          </a:p>
        </p:txBody>
      </p:sp>
      <p:sp>
        <p:nvSpPr>
          <p:cNvPr id="9" name="Text 7"/>
          <p:cNvSpPr/>
          <p:nvPr/>
        </p:nvSpPr>
        <p:spPr>
          <a:xfrm>
            <a:off x="6656832" y="1271016"/>
            <a:ext cx="4882896" cy="420624"/>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A2A agent</a:t>
            </a:r>
            <a:endParaRPr lang="en-US" sz="2400" dirty="0"/>
          </a:p>
        </p:txBody>
      </p:sp>
      <p:sp>
        <p:nvSpPr>
          <p:cNvPr id="10" name="Text 8"/>
          <p:cNvSpPr/>
          <p:nvPr/>
        </p:nvSpPr>
        <p:spPr>
          <a:xfrm>
            <a:off x="6656832" y="1709928"/>
            <a:ext cx="4882896" cy="64008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Does the work and sends the result.</a:t>
            </a:r>
            <a:endParaRPr lang="en-US" sz="2000" dirty="0"/>
          </a:p>
        </p:txBody>
      </p:sp>
      <p:sp>
        <p:nvSpPr>
          <p:cNvPr id="11" name="Shape 9"/>
          <p:cNvSpPr/>
          <p:nvPr/>
        </p:nvSpPr>
        <p:spPr>
          <a:xfrm>
            <a:off x="5806440" y="1737360"/>
            <a:ext cx="329184" cy="182880"/>
          </a:xfrm>
          <a:prstGeom prst="rightArrow">
            <a:avLst/>
          </a:prstGeom>
          <a:solidFill>
            <a:srgbClr val="C8C2B8"/>
          </a:solidFill>
          <a:ln/>
        </p:spPr>
        <p:txBody>
          <a:bodyPr/>
          <a:lstStyle/>
          <a:p>
            <a:endParaRPr lang="en-GB"/>
          </a:p>
        </p:txBody>
      </p:sp>
      <p:sp>
        <p:nvSpPr>
          <p:cNvPr id="12" name="Shape 10"/>
          <p:cNvSpPr/>
          <p:nvPr/>
        </p:nvSpPr>
        <p:spPr>
          <a:xfrm>
            <a:off x="502920" y="2697480"/>
            <a:ext cx="5212080" cy="1371600"/>
          </a:xfrm>
          <a:prstGeom prst="roundRect">
            <a:avLst>
              <a:gd name="adj" fmla="val 5333"/>
            </a:avLst>
          </a:prstGeom>
          <a:solidFill>
            <a:srgbClr val="D0EBE3"/>
          </a:solidFill>
          <a:ln/>
        </p:spPr>
        <p:txBody>
          <a:bodyPr/>
          <a:lstStyle/>
          <a:p>
            <a:endParaRPr lang="en-GB"/>
          </a:p>
        </p:txBody>
      </p:sp>
      <p:sp>
        <p:nvSpPr>
          <p:cNvPr id="13" name="Text 11"/>
          <p:cNvSpPr/>
          <p:nvPr/>
        </p:nvSpPr>
        <p:spPr>
          <a:xfrm>
            <a:off x="667512" y="2825496"/>
            <a:ext cx="4882896" cy="420624"/>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MCP tools</a:t>
            </a:r>
            <a:endParaRPr lang="en-US" sz="2400" dirty="0"/>
          </a:p>
        </p:txBody>
      </p:sp>
      <p:sp>
        <p:nvSpPr>
          <p:cNvPr id="14" name="Text 12"/>
          <p:cNvSpPr/>
          <p:nvPr/>
        </p:nvSpPr>
        <p:spPr>
          <a:xfrm>
            <a:off x="667512" y="3264408"/>
            <a:ext cx="4882896" cy="64008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Your database, files, local tools.</a:t>
            </a:r>
            <a:endParaRPr lang="en-US" sz="2000" dirty="0"/>
          </a:p>
        </p:txBody>
      </p:sp>
      <p:sp>
        <p:nvSpPr>
          <p:cNvPr id="15" name="Shape 13"/>
          <p:cNvSpPr/>
          <p:nvPr/>
        </p:nvSpPr>
        <p:spPr>
          <a:xfrm>
            <a:off x="6492240" y="2697480"/>
            <a:ext cx="5212080" cy="1371600"/>
          </a:xfrm>
          <a:prstGeom prst="roundRect">
            <a:avLst>
              <a:gd name="adj" fmla="val 5333"/>
            </a:avLst>
          </a:prstGeom>
          <a:solidFill>
            <a:srgbClr val="D0EBE3"/>
          </a:solidFill>
          <a:ln/>
        </p:spPr>
        <p:txBody>
          <a:bodyPr/>
          <a:lstStyle/>
          <a:p>
            <a:endParaRPr lang="en-GB"/>
          </a:p>
        </p:txBody>
      </p:sp>
      <p:sp>
        <p:nvSpPr>
          <p:cNvPr id="16" name="Text 14"/>
          <p:cNvSpPr/>
          <p:nvPr/>
        </p:nvSpPr>
        <p:spPr>
          <a:xfrm>
            <a:off x="6656832" y="2825496"/>
            <a:ext cx="4882896" cy="420624"/>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MCP tools</a:t>
            </a:r>
            <a:endParaRPr lang="en-US" sz="2400" dirty="0"/>
          </a:p>
        </p:txBody>
      </p:sp>
      <p:sp>
        <p:nvSpPr>
          <p:cNvPr id="17" name="Text 15"/>
          <p:cNvSpPr/>
          <p:nvPr/>
        </p:nvSpPr>
        <p:spPr>
          <a:xfrm>
            <a:off x="6656832" y="3264408"/>
            <a:ext cx="4882896" cy="64008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Their database, files, local tools.</a:t>
            </a:r>
            <a:endParaRPr lang="en-US" sz="2000" dirty="0"/>
          </a:p>
        </p:txBody>
      </p:sp>
      <p:sp>
        <p:nvSpPr>
          <p:cNvPr id="18" name="Shape 16"/>
          <p:cNvSpPr/>
          <p:nvPr/>
        </p:nvSpPr>
        <p:spPr>
          <a:xfrm>
            <a:off x="502920" y="4251960"/>
            <a:ext cx="5212080" cy="1417320"/>
          </a:xfrm>
          <a:prstGeom prst="roundRect">
            <a:avLst>
              <a:gd name="adj" fmla="val 5161"/>
            </a:avLst>
          </a:prstGeom>
          <a:solidFill>
            <a:srgbClr val="F3E6B8"/>
          </a:solidFill>
          <a:ln/>
        </p:spPr>
        <p:txBody>
          <a:bodyPr/>
          <a:lstStyle/>
          <a:p>
            <a:endParaRPr lang="en-GB"/>
          </a:p>
        </p:txBody>
      </p:sp>
      <p:sp>
        <p:nvSpPr>
          <p:cNvPr id="19" name="Text 17"/>
          <p:cNvSpPr/>
          <p:nvPr/>
        </p:nvSpPr>
        <p:spPr>
          <a:xfrm>
            <a:off x="667512" y="4379976"/>
            <a:ext cx="4882896" cy="420624"/>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Your data</a:t>
            </a:r>
            <a:endParaRPr lang="en-US" sz="2400" dirty="0"/>
          </a:p>
        </p:txBody>
      </p:sp>
      <p:sp>
        <p:nvSpPr>
          <p:cNvPr id="20" name="Text 18"/>
          <p:cNvSpPr/>
          <p:nvPr/>
        </p:nvSpPr>
        <p:spPr>
          <a:xfrm>
            <a:off x="667512" y="4818888"/>
            <a:ext cx="4882896" cy="68580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Stays inside your wall.</a:t>
            </a:r>
            <a:endParaRPr lang="en-US" sz="2000" dirty="0"/>
          </a:p>
        </p:txBody>
      </p:sp>
      <p:sp>
        <p:nvSpPr>
          <p:cNvPr id="21" name="Shape 19"/>
          <p:cNvSpPr/>
          <p:nvPr/>
        </p:nvSpPr>
        <p:spPr>
          <a:xfrm>
            <a:off x="6492240" y="4251960"/>
            <a:ext cx="5212080" cy="1417320"/>
          </a:xfrm>
          <a:prstGeom prst="roundRect">
            <a:avLst>
              <a:gd name="adj" fmla="val 5161"/>
            </a:avLst>
          </a:prstGeom>
          <a:solidFill>
            <a:srgbClr val="F3E6B8"/>
          </a:solidFill>
          <a:ln/>
        </p:spPr>
        <p:txBody>
          <a:bodyPr/>
          <a:lstStyle/>
          <a:p>
            <a:endParaRPr lang="en-GB"/>
          </a:p>
        </p:txBody>
      </p:sp>
      <p:sp>
        <p:nvSpPr>
          <p:cNvPr id="22" name="Text 20"/>
          <p:cNvSpPr/>
          <p:nvPr/>
        </p:nvSpPr>
        <p:spPr>
          <a:xfrm>
            <a:off x="6656832" y="4379976"/>
            <a:ext cx="4882896" cy="420624"/>
          </a:xfrm>
          <a:prstGeom prst="rect">
            <a:avLst/>
          </a:prstGeom>
          <a:noFill/>
          <a:ln/>
        </p:spPr>
        <p:txBody>
          <a:bodyPr wrap="square" lIns="0" tIns="0" rIns="0" bIns="0" rtlCol="0" anchor="ctr"/>
          <a:lstStyle/>
          <a:p>
            <a:pPr marL="0" indent="0">
              <a:buNone/>
            </a:pPr>
            <a:r>
              <a:rPr lang="en-US" sz="2400" dirty="0">
                <a:solidFill>
                  <a:srgbClr val="2C2C2C"/>
                </a:solidFill>
                <a:latin typeface="Calibri" pitchFamily="34" charset="0"/>
                <a:ea typeface="Calibri" pitchFamily="34" charset="-122"/>
                <a:cs typeface="Calibri" pitchFamily="34" charset="-120"/>
              </a:rPr>
              <a:t>Their data</a:t>
            </a:r>
            <a:endParaRPr lang="en-US" sz="2400" dirty="0"/>
          </a:p>
        </p:txBody>
      </p:sp>
      <p:sp>
        <p:nvSpPr>
          <p:cNvPr id="23" name="Text 21"/>
          <p:cNvSpPr/>
          <p:nvPr/>
        </p:nvSpPr>
        <p:spPr>
          <a:xfrm>
            <a:off x="6656832" y="4818888"/>
            <a:ext cx="4882896" cy="68580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Stays inside their wall.</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82880"/>
            <a:ext cx="11064240" cy="411480"/>
          </a:xfrm>
          <a:prstGeom prst="rect">
            <a:avLst/>
          </a:prstGeom>
          <a:noFill/>
          <a:ln/>
        </p:spPr>
        <p:txBody>
          <a:bodyPr wrap="square" lIns="0" tIns="0" rIns="0" bIns="0" rtlCol="0" anchor="ctr"/>
          <a:lstStyle/>
          <a:p>
            <a:pPr marL="0" indent="0">
              <a:buNone/>
            </a:pPr>
            <a:r>
              <a:rPr lang="en-US" sz="3200" dirty="0">
                <a:solidFill>
                  <a:srgbClr val="2C2C2C"/>
                </a:solidFill>
                <a:latin typeface="Calibri" pitchFamily="34" charset="0"/>
                <a:ea typeface="Calibri" pitchFamily="34" charset="-122"/>
                <a:cs typeface="Calibri" pitchFamily="34" charset="-120"/>
              </a:rPr>
              <a:t>The main pieces</a:t>
            </a:r>
            <a:endParaRPr lang="en-US" sz="3200" dirty="0"/>
          </a:p>
        </p:txBody>
      </p:sp>
      <p:sp>
        <p:nvSpPr>
          <p:cNvPr id="3" name="Shape 1"/>
          <p:cNvSpPr/>
          <p:nvPr/>
        </p:nvSpPr>
        <p:spPr>
          <a:xfrm>
            <a:off x="457200" y="731520"/>
            <a:ext cx="2761488" cy="2331720"/>
          </a:xfrm>
          <a:prstGeom prst="roundRect">
            <a:avLst>
              <a:gd name="adj" fmla="val 3137"/>
            </a:avLst>
          </a:prstGeom>
          <a:solidFill>
            <a:srgbClr val="C5DDF0"/>
          </a:solidFill>
          <a:ln/>
        </p:spPr>
        <p:txBody>
          <a:bodyPr/>
          <a:lstStyle/>
          <a:p>
            <a:endParaRPr lang="en-GB"/>
          </a:p>
        </p:txBody>
      </p:sp>
      <p:sp>
        <p:nvSpPr>
          <p:cNvPr id="4" name="Text 2"/>
          <p:cNvSpPr/>
          <p:nvPr/>
        </p:nvSpPr>
        <p:spPr>
          <a:xfrm>
            <a:off x="621792" y="859536"/>
            <a:ext cx="2432304"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Agent Card</a:t>
            </a:r>
            <a:endParaRPr lang="en-US" sz="2800" dirty="0"/>
          </a:p>
        </p:txBody>
      </p:sp>
      <p:sp>
        <p:nvSpPr>
          <p:cNvPr id="5" name="Text 3"/>
          <p:cNvSpPr/>
          <p:nvPr/>
        </p:nvSpPr>
        <p:spPr>
          <a:xfrm>
            <a:off x="621792" y="1298448"/>
            <a:ext cx="2432304" cy="160020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Who they are, what they can do, where to call, how to log in.</a:t>
            </a:r>
            <a:endParaRPr lang="en-US" sz="2000" dirty="0"/>
          </a:p>
        </p:txBody>
      </p:sp>
      <p:sp>
        <p:nvSpPr>
          <p:cNvPr id="6" name="Shape 4"/>
          <p:cNvSpPr/>
          <p:nvPr/>
        </p:nvSpPr>
        <p:spPr>
          <a:xfrm>
            <a:off x="3236976" y="1783080"/>
            <a:ext cx="329184" cy="182880"/>
          </a:xfrm>
          <a:prstGeom prst="rightArrow">
            <a:avLst/>
          </a:prstGeom>
          <a:solidFill>
            <a:srgbClr val="C8C2B8"/>
          </a:solidFill>
          <a:ln/>
        </p:spPr>
        <p:txBody>
          <a:bodyPr/>
          <a:lstStyle/>
          <a:p>
            <a:endParaRPr lang="en-GB"/>
          </a:p>
        </p:txBody>
      </p:sp>
      <p:sp>
        <p:nvSpPr>
          <p:cNvPr id="7" name="Shape 5"/>
          <p:cNvSpPr/>
          <p:nvPr/>
        </p:nvSpPr>
        <p:spPr>
          <a:xfrm>
            <a:off x="3383280" y="731520"/>
            <a:ext cx="2761488" cy="2331720"/>
          </a:xfrm>
          <a:prstGeom prst="roundRect">
            <a:avLst>
              <a:gd name="adj" fmla="val 3137"/>
            </a:avLst>
          </a:prstGeom>
          <a:solidFill>
            <a:srgbClr val="C9E6D0"/>
          </a:solidFill>
          <a:ln/>
        </p:spPr>
        <p:txBody>
          <a:bodyPr/>
          <a:lstStyle/>
          <a:p>
            <a:endParaRPr lang="en-GB"/>
          </a:p>
        </p:txBody>
      </p:sp>
      <p:sp>
        <p:nvSpPr>
          <p:cNvPr id="8" name="Text 6"/>
          <p:cNvSpPr/>
          <p:nvPr/>
        </p:nvSpPr>
        <p:spPr>
          <a:xfrm>
            <a:off x="3547872" y="859536"/>
            <a:ext cx="2432304"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Task</a:t>
            </a:r>
            <a:endParaRPr lang="en-US" sz="2800" dirty="0"/>
          </a:p>
        </p:txBody>
      </p:sp>
      <p:sp>
        <p:nvSpPr>
          <p:cNvPr id="9" name="Text 7"/>
          <p:cNvSpPr/>
          <p:nvPr/>
        </p:nvSpPr>
        <p:spPr>
          <a:xfrm>
            <a:off x="3547872" y="1298448"/>
            <a:ext cx="2432304" cy="160020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One job with an id. You can follow it over time.</a:t>
            </a:r>
            <a:endParaRPr lang="en-US" sz="2000" dirty="0"/>
          </a:p>
        </p:txBody>
      </p:sp>
      <p:sp>
        <p:nvSpPr>
          <p:cNvPr id="10" name="Shape 8"/>
          <p:cNvSpPr/>
          <p:nvPr/>
        </p:nvSpPr>
        <p:spPr>
          <a:xfrm>
            <a:off x="6163056" y="1783080"/>
            <a:ext cx="329184" cy="182880"/>
          </a:xfrm>
          <a:prstGeom prst="rightArrow">
            <a:avLst/>
          </a:prstGeom>
          <a:solidFill>
            <a:srgbClr val="C8C2B8"/>
          </a:solidFill>
          <a:ln/>
        </p:spPr>
        <p:txBody>
          <a:bodyPr/>
          <a:lstStyle/>
          <a:p>
            <a:endParaRPr lang="en-GB"/>
          </a:p>
        </p:txBody>
      </p:sp>
      <p:sp>
        <p:nvSpPr>
          <p:cNvPr id="11" name="Shape 9"/>
          <p:cNvSpPr/>
          <p:nvPr/>
        </p:nvSpPr>
        <p:spPr>
          <a:xfrm>
            <a:off x="6309360" y="731520"/>
            <a:ext cx="2761488" cy="2331720"/>
          </a:xfrm>
          <a:prstGeom prst="roundRect">
            <a:avLst>
              <a:gd name="adj" fmla="val 3137"/>
            </a:avLst>
          </a:prstGeom>
          <a:solidFill>
            <a:srgbClr val="F6D6C6"/>
          </a:solidFill>
          <a:ln/>
        </p:spPr>
        <p:txBody>
          <a:bodyPr/>
          <a:lstStyle/>
          <a:p>
            <a:endParaRPr lang="en-GB"/>
          </a:p>
        </p:txBody>
      </p:sp>
      <p:sp>
        <p:nvSpPr>
          <p:cNvPr id="12" name="Text 10"/>
          <p:cNvSpPr/>
          <p:nvPr/>
        </p:nvSpPr>
        <p:spPr>
          <a:xfrm>
            <a:off x="6473952" y="859536"/>
            <a:ext cx="2432304"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Message</a:t>
            </a:r>
            <a:endParaRPr lang="en-US" sz="2000" dirty="0"/>
          </a:p>
        </p:txBody>
      </p:sp>
      <p:sp>
        <p:nvSpPr>
          <p:cNvPr id="13" name="Text 11"/>
          <p:cNvSpPr/>
          <p:nvPr/>
        </p:nvSpPr>
        <p:spPr>
          <a:xfrm>
            <a:off x="6473952" y="1298448"/>
            <a:ext cx="2432304" cy="160020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One turn. A question, an answer, a file, a form.</a:t>
            </a:r>
            <a:endParaRPr lang="en-US" sz="2000" dirty="0"/>
          </a:p>
        </p:txBody>
      </p:sp>
      <p:sp>
        <p:nvSpPr>
          <p:cNvPr id="14" name="Shape 12"/>
          <p:cNvSpPr/>
          <p:nvPr/>
        </p:nvSpPr>
        <p:spPr>
          <a:xfrm>
            <a:off x="9089136" y="1783080"/>
            <a:ext cx="329184" cy="182880"/>
          </a:xfrm>
          <a:prstGeom prst="rightArrow">
            <a:avLst/>
          </a:prstGeom>
          <a:solidFill>
            <a:srgbClr val="C8C2B8"/>
          </a:solidFill>
          <a:ln/>
        </p:spPr>
        <p:txBody>
          <a:bodyPr/>
          <a:lstStyle/>
          <a:p>
            <a:endParaRPr lang="en-GB"/>
          </a:p>
        </p:txBody>
      </p:sp>
      <p:sp>
        <p:nvSpPr>
          <p:cNvPr id="15" name="Shape 13"/>
          <p:cNvSpPr/>
          <p:nvPr/>
        </p:nvSpPr>
        <p:spPr>
          <a:xfrm>
            <a:off x="9235440" y="731520"/>
            <a:ext cx="2761488" cy="2331720"/>
          </a:xfrm>
          <a:prstGeom prst="roundRect">
            <a:avLst>
              <a:gd name="adj" fmla="val 3137"/>
            </a:avLst>
          </a:prstGeom>
          <a:solidFill>
            <a:srgbClr val="DDD0EE"/>
          </a:solidFill>
          <a:ln/>
        </p:spPr>
        <p:txBody>
          <a:bodyPr/>
          <a:lstStyle/>
          <a:p>
            <a:endParaRPr lang="en-GB"/>
          </a:p>
        </p:txBody>
      </p:sp>
      <p:sp>
        <p:nvSpPr>
          <p:cNvPr id="16" name="Text 14"/>
          <p:cNvSpPr/>
          <p:nvPr/>
        </p:nvSpPr>
        <p:spPr>
          <a:xfrm>
            <a:off x="9400032" y="859536"/>
            <a:ext cx="2432304"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Result</a:t>
            </a:r>
            <a:endParaRPr lang="en-US" sz="2000" dirty="0"/>
          </a:p>
        </p:txBody>
      </p:sp>
      <p:sp>
        <p:nvSpPr>
          <p:cNvPr id="17" name="Text 15"/>
          <p:cNvSpPr/>
          <p:nvPr/>
        </p:nvSpPr>
        <p:spPr>
          <a:xfrm>
            <a:off x="9400032" y="1298448"/>
            <a:ext cx="2432304" cy="160020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The finished output. This is what you take home.</a:t>
            </a:r>
            <a:endParaRPr lang="en-US" sz="2000" dirty="0"/>
          </a:p>
        </p:txBody>
      </p:sp>
      <p:sp>
        <p:nvSpPr>
          <p:cNvPr id="18" name="Text 16"/>
          <p:cNvSpPr/>
          <p:nvPr/>
        </p:nvSpPr>
        <p:spPr>
          <a:xfrm>
            <a:off x="548640" y="3246120"/>
            <a:ext cx="11064240" cy="365760"/>
          </a:xfrm>
          <a:prstGeom prst="rect">
            <a:avLst/>
          </a:prstGeom>
          <a:noFill/>
          <a:ln/>
        </p:spPr>
        <p:txBody>
          <a:bodyPr wrap="square" lIns="0" tIns="0" rIns="0" bIns="0" rtlCol="0" anchor="ctr"/>
          <a:lstStyle/>
          <a:p>
            <a:pPr marL="0" indent="0">
              <a:buNone/>
            </a:pPr>
            <a:r>
              <a:rPr lang="en-US" sz="2000" dirty="0">
                <a:solidFill>
                  <a:srgbClr val="2C2C2C"/>
                </a:solidFill>
                <a:latin typeface="Calibri" pitchFamily="34" charset="0"/>
                <a:ea typeface="Calibri" pitchFamily="34" charset="-122"/>
                <a:cs typeface="Calibri" pitchFamily="34" charset="-120"/>
              </a:rPr>
              <a:t>Status of a task</a:t>
            </a:r>
            <a:endParaRPr lang="en-US" sz="2000" dirty="0"/>
          </a:p>
        </p:txBody>
      </p:sp>
      <p:sp>
        <p:nvSpPr>
          <p:cNvPr id="19" name="Shape 17"/>
          <p:cNvSpPr/>
          <p:nvPr/>
        </p:nvSpPr>
        <p:spPr>
          <a:xfrm>
            <a:off x="457200" y="3749040"/>
            <a:ext cx="2176272" cy="2286000"/>
          </a:xfrm>
          <a:prstGeom prst="roundRect">
            <a:avLst>
              <a:gd name="adj" fmla="val 3361"/>
            </a:avLst>
          </a:prstGeom>
          <a:solidFill>
            <a:srgbClr val="F3E6B8"/>
          </a:solidFill>
          <a:ln/>
        </p:spPr>
        <p:txBody>
          <a:bodyPr/>
          <a:lstStyle/>
          <a:p>
            <a:endParaRPr lang="en-GB"/>
          </a:p>
        </p:txBody>
      </p:sp>
      <p:sp>
        <p:nvSpPr>
          <p:cNvPr id="20" name="Text 18"/>
          <p:cNvSpPr/>
          <p:nvPr/>
        </p:nvSpPr>
        <p:spPr>
          <a:xfrm>
            <a:off x="530352" y="4572000"/>
            <a:ext cx="2029968" cy="640080"/>
          </a:xfrm>
          <a:prstGeom prst="rect">
            <a:avLst/>
          </a:prstGeom>
          <a:noFill/>
          <a:ln/>
        </p:spPr>
        <p:txBody>
          <a:bodyPr wrap="square" lIns="0" tIns="0" rIns="0" bIns="0" rtlCol="0" anchor="ctr"/>
          <a:lstStyle/>
          <a:p>
            <a:pPr marL="0" indent="0" algn="ctr">
              <a:buNone/>
            </a:pPr>
            <a:r>
              <a:rPr lang="en-US" sz="2800" dirty="0">
                <a:solidFill>
                  <a:srgbClr val="2C2C2C"/>
                </a:solidFill>
                <a:latin typeface="Calibri" pitchFamily="34" charset="0"/>
                <a:ea typeface="Calibri" pitchFamily="34" charset="-122"/>
                <a:cs typeface="Calibri" pitchFamily="34" charset="-120"/>
              </a:rPr>
              <a:t>Submitted</a:t>
            </a:r>
            <a:endParaRPr lang="en-US" sz="2000" dirty="0"/>
          </a:p>
        </p:txBody>
      </p:sp>
      <p:sp>
        <p:nvSpPr>
          <p:cNvPr id="21" name="Shape 19"/>
          <p:cNvSpPr/>
          <p:nvPr/>
        </p:nvSpPr>
        <p:spPr>
          <a:xfrm>
            <a:off x="2651760" y="4754880"/>
            <a:ext cx="329184" cy="182880"/>
          </a:xfrm>
          <a:prstGeom prst="rightArrow">
            <a:avLst/>
          </a:prstGeom>
          <a:solidFill>
            <a:srgbClr val="C8C2B8"/>
          </a:solidFill>
          <a:ln/>
        </p:spPr>
        <p:txBody>
          <a:bodyPr/>
          <a:lstStyle/>
          <a:p>
            <a:endParaRPr lang="en-GB"/>
          </a:p>
        </p:txBody>
      </p:sp>
      <p:sp>
        <p:nvSpPr>
          <p:cNvPr id="22" name="Shape 20"/>
          <p:cNvSpPr/>
          <p:nvPr/>
        </p:nvSpPr>
        <p:spPr>
          <a:xfrm>
            <a:off x="2761488" y="3749040"/>
            <a:ext cx="2176272" cy="2286000"/>
          </a:xfrm>
          <a:prstGeom prst="roundRect">
            <a:avLst>
              <a:gd name="adj" fmla="val 3361"/>
            </a:avLst>
          </a:prstGeom>
          <a:solidFill>
            <a:srgbClr val="C5DDF0"/>
          </a:solidFill>
          <a:ln/>
        </p:spPr>
        <p:txBody>
          <a:bodyPr/>
          <a:lstStyle/>
          <a:p>
            <a:endParaRPr lang="en-GB"/>
          </a:p>
        </p:txBody>
      </p:sp>
      <p:sp>
        <p:nvSpPr>
          <p:cNvPr id="23" name="Text 21"/>
          <p:cNvSpPr/>
          <p:nvPr/>
        </p:nvSpPr>
        <p:spPr>
          <a:xfrm>
            <a:off x="2834640" y="4572000"/>
            <a:ext cx="2029968" cy="640080"/>
          </a:xfrm>
          <a:prstGeom prst="rect">
            <a:avLst/>
          </a:prstGeom>
          <a:noFill/>
          <a:ln/>
        </p:spPr>
        <p:txBody>
          <a:bodyPr wrap="square" lIns="0" tIns="0" rIns="0" bIns="0" rtlCol="0" anchor="ctr"/>
          <a:lstStyle/>
          <a:p>
            <a:pPr marL="0" indent="0" algn="ctr">
              <a:buNone/>
            </a:pPr>
            <a:r>
              <a:rPr lang="en-US" sz="2800" dirty="0">
                <a:solidFill>
                  <a:srgbClr val="2C2C2C"/>
                </a:solidFill>
                <a:latin typeface="Calibri" pitchFamily="34" charset="0"/>
                <a:ea typeface="Calibri" pitchFamily="34" charset="-122"/>
                <a:cs typeface="Calibri" pitchFamily="34" charset="-120"/>
              </a:rPr>
              <a:t>Working</a:t>
            </a:r>
            <a:endParaRPr lang="en-US" sz="2000" dirty="0"/>
          </a:p>
        </p:txBody>
      </p:sp>
      <p:sp>
        <p:nvSpPr>
          <p:cNvPr id="24" name="Shape 22"/>
          <p:cNvSpPr/>
          <p:nvPr/>
        </p:nvSpPr>
        <p:spPr>
          <a:xfrm>
            <a:off x="4956048" y="4754880"/>
            <a:ext cx="329184" cy="182880"/>
          </a:xfrm>
          <a:prstGeom prst="rightArrow">
            <a:avLst/>
          </a:prstGeom>
          <a:solidFill>
            <a:srgbClr val="C8C2B8"/>
          </a:solidFill>
          <a:ln/>
        </p:spPr>
        <p:txBody>
          <a:bodyPr/>
          <a:lstStyle/>
          <a:p>
            <a:endParaRPr lang="en-GB"/>
          </a:p>
        </p:txBody>
      </p:sp>
      <p:sp>
        <p:nvSpPr>
          <p:cNvPr id="25" name="Shape 23"/>
          <p:cNvSpPr/>
          <p:nvPr/>
        </p:nvSpPr>
        <p:spPr>
          <a:xfrm>
            <a:off x="5065776" y="3749040"/>
            <a:ext cx="2176272" cy="2286000"/>
          </a:xfrm>
          <a:prstGeom prst="roundRect">
            <a:avLst>
              <a:gd name="adj" fmla="val 3361"/>
            </a:avLst>
          </a:prstGeom>
          <a:solidFill>
            <a:srgbClr val="F6D6C6"/>
          </a:solidFill>
          <a:ln/>
        </p:spPr>
        <p:txBody>
          <a:bodyPr/>
          <a:lstStyle/>
          <a:p>
            <a:endParaRPr lang="en-GB"/>
          </a:p>
        </p:txBody>
      </p:sp>
      <p:sp>
        <p:nvSpPr>
          <p:cNvPr id="26" name="Text 24"/>
          <p:cNvSpPr/>
          <p:nvPr/>
        </p:nvSpPr>
        <p:spPr>
          <a:xfrm>
            <a:off x="5138928" y="4572000"/>
            <a:ext cx="2029968" cy="640080"/>
          </a:xfrm>
          <a:prstGeom prst="rect">
            <a:avLst/>
          </a:prstGeom>
          <a:noFill/>
          <a:ln/>
        </p:spPr>
        <p:txBody>
          <a:bodyPr wrap="square" lIns="0" tIns="0" rIns="0" bIns="0" rtlCol="0" anchor="ctr"/>
          <a:lstStyle/>
          <a:p>
            <a:pPr marL="0" indent="0" algn="ctr">
              <a:buNone/>
            </a:pPr>
            <a:r>
              <a:rPr lang="en-US" sz="2800" dirty="0">
                <a:solidFill>
                  <a:srgbClr val="2C2C2C"/>
                </a:solidFill>
                <a:latin typeface="Calibri" pitchFamily="34" charset="0"/>
                <a:ea typeface="Calibri" pitchFamily="34" charset="-122"/>
                <a:cs typeface="Calibri" pitchFamily="34" charset="-120"/>
              </a:rPr>
              <a:t>Needs input</a:t>
            </a:r>
            <a:endParaRPr lang="en-US" sz="2800" dirty="0"/>
          </a:p>
        </p:txBody>
      </p:sp>
      <p:sp>
        <p:nvSpPr>
          <p:cNvPr id="27" name="Shape 25"/>
          <p:cNvSpPr/>
          <p:nvPr/>
        </p:nvSpPr>
        <p:spPr>
          <a:xfrm>
            <a:off x="7260336" y="4754880"/>
            <a:ext cx="329184" cy="182880"/>
          </a:xfrm>
          <a:prstGeom prst="rightArrow">
            <a:avLst/>
          </a:prstGeom>
          <a:solidFill>
            <a:srgbClr val="C8C2B8"/>
          </a:solidFill>
          <a:ln/>
        </p:spPr>
        <p:txBody>
          <a:bodyPr/>
          <a:lstStyle/>
          <a:p>
            <a:endParaRPr lang="en-GB"/>
          </a:p>
        </p:txBody>
      </p:sp>
      <p:sp>
        <p:nvSpPr>
          <p:cNvPr id="28" name="Shape 26"/>
          <p:cNvSpPr/>
          <p:nvPr/>
        </p:nvSpPr>
        <p:spPr>
          <a:xfrm>
            <a:off x="7370064" y="3749040"/>
            <a:ext cx="2176272" cy="2286000"/>
          </a:xfrm>
          <a:prstGeom prst="roundRect">
            <a:avLst>
              <a:gd name="adj" fmla="val 3361"/>
            </a:avLst>
          </a:prstGeom>
          <a:solidFill>
            <a:srgbClr val="C9E6D0"/>
          </a:solidFill>
          <a:ln/>
        </p:spPr>
        <p:txBody>
          <a:bodyPr/>
          <a:lstStyle/>
          <a:p>
            <a:endParaRPr lang="en-GB"/>
          </a:p>
        </p:txBody>
      </p:sp>
      <p:sp>
        <p:nvSpPr>
          <p:cNvPr id="29" name="Text 27"/>
          <p:cNvSpPr/>
          <p:nvPr/>
        </p:nvSpPr>
        <p:spPr>
          <a:xfrm>
            <a:off x="7443216" y="4572000"/>
            <a:ext cx="2029968" cy="640080"/>
          </a:xfrm>
          <a:prstGeom prst="rect">
            <a:avLst/>
          </a:prstGeom>
          <a:noFill/>
          <a:ln/>
        </p:spPr>
        <p:txBody>
          <a:bodyPr wrap="square" lIns="0" tIns="0" rIns="0" bIns="0" rtlCol="0" anchor="ctr"/>
          <a:lstStyle/>
          <a:p>
            <a:pPr marL="0" indent="0" algn="ctr">
              <a:buNone/>
            </a:pPr>
            <a:r>
              <a:rPr lang="en-US" sz="2800" dirty="0">
                <a:solidFill>
                  <a:srgbClr val="2C2C2C"/>
                </a:solidFill>
                <a:latin typeface="Calibri" pitchFamily="34" charset="0"/>
                <a:ea typeface="Calibri" pitchFamily="34" charset="-122"/>
                <a:cs typeface="Calibri" pitchFamily="34" charset="-120"/>
              </a:rPr>
              <a:t>Done</a:t>
            </a:r>
            <a:endParaRPr lang="en-US" sz="2800" dirty="0"/>
          </a:p>
        </p:txBody>
      </p:sp>
      <p:sp>
        <p:nvSpPr>
          <p:cNvPr id="30" name="Shape 28"/>
          <p:cNvSpPr/>
          <p:nvPr/>
        </p:nvSpPr>
        <p:spPr>
          <a:xfrm>
            <a:off x="9564624" y="4754880"/>
            <a:ext cx="329184" cy="182880"/>
          </a:xfrm>
          <a:prstGeom prst="rightArrow">
            <a:avLst/>
          </a:prstGeom>
          <a:solidFill>
            <a:srgbClr val="C8C2B8"/>
          </a:solidFill>
          <a:ln/>
        </p:spPr>
        <p:txBody>
          <a:bodyPr/>
          <a:lstStyle/>
          <a:p>
            <a:endParaRPr lang="en-GB"/>
          </a:p>
        </p:txBody>
      </p:sp>
      <p:sp>
        <p:nvSpPr>
          <p:cNvPr id="31" name="Shape 29"/>
          <p:cNvSpPr/>
          <p:nvPr/>
        </p:nvSpPr>
        <p:spPr>
          <a:xfrm>
            <a:off x="9674352" y="3749040"/>
            <a:ext cx="2176272" cy="2286000"/>
          </a:xfrm>
          <a:prstGeom prst="roundRect">
            <a:avLst>
              <a:gd name="adj" fmla="val 3361"/>
            </a:avLst>
          </a:prstGeom>
          <a:solidFill>
            <a:srgbClr val="F3D0DC"/>
          </a:solidFill>
          <a:ln/>
        </p:spPr>
        <p:txBody>
          <a:bodyPr/>
          <a:lstStyle/>
          <a:p>
            <a:endParaRPr lang="en-GB"/>
          </a:p>
        </p:txBody>
      </p:sp>
      <p:sp>
        <p:nvSpPr>
          <p:cNvPr id="32" name="Text 30"/>
          <p:cNvSpPr/>
          <p:nvPr/>
        </p:nvSpPr>
        <p:spPr>
          <a:xfrm>
            <a:off x="9747504" y="4572000"/>
            <a:ext cx="2029968" cy="640080"/>
          </a:xfrm>
          <a:prstGeom prst="rect">
            <a:avLst/>
          </a:prstGeom>
          <a:noFill/>
          <a:ln/>
        </p:spPr>
        <p:txBody>
          <a:bodyPr wrap="square" lIns="0" tIns="0" rIns="0" bIns="0" rtlCol="0" anchor="ctr"/>
          <a:lstStyle/>
          <a:p>
            <a:pPr marL="0" indent="0" algn="ctr">
              <a:buNone/>
            </a:pPr>
            <a:r>
              <a:rPr lang="en-US" sz="2800" dirty="0">
                <a:solidFill>
                  <a:srgbClr val="2C2C2C"/>
                </a:solidFill>
                <a:latin typeface="Calibri" pitchFamily="34" charset="0"/>
                <a:ea typeface="Calibri" pitchFamily="34" charset="-122"/>
                <a:cs typeface="Calibri" pitchFamily="34" charset="-120"/>
              </a:rPr>
              <a:t>Failed</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11064240" cy="438912"/>
          </a:xfrm>
          <a:prstGeom prst="rect">
            <a:avLst/>
          </a:prstGeom>
          <a:noFill/>
          <a:ln/>
        </p:spPr>
        <p:txBody>
          <a:bodyPr wrap="square" lIns="0" tIns="0" rIns="0" bIns="0" rtlCol="0" anchor="ctr"/>
          <a:lstStyle/>
          <a:p>
            <a:pPr marL="0" indent="0">
              <a:buNone/>
            </a:pPr>
            <a:r>
              <a:rPr lang="en-US" sz="3400" dirty="0">
                <a:solidFill>
                  <a:srgbClr val="2C2C2C"/>
                </a:solidFill>
                <a:latin typeface="Calibri" pitchFamily="34" charset="0"/>
                <a:ea typeface="Calibri" pitchFamily="34" charset="-122"/>
                <a:cs typeface="Calibri" pitchFamily="34" charset="-120"/>
              </a:rPr>
              <a:t>How a call works</a:t>
            </a:r>
            <a:endParaRPr lang="en-US" sz="3400" dirty="0"/>
          </a:p>
        </p:txBody>
      </p:sp>
      <p:sp>
        <p:nvSpPr>
          <p:cNvPr id="3" name="Shape 1"/>
          <p:cNvSpPr/>
          <p:nvPr/>
        </p:nvSpPr>
        <p:spPr>
          <a:xfrm>
            <a:off x="347472" y="822960"/>
            <a:ext cx="2212848" cy="3246120"/>
          </a:xfrm>
          <a:prstGeom prst="roundRect">
            <a:avLst>
              <a:gd name="adj" fmla="val 3306"/>
            </a:avLst>
          </a:prstGeom>
          <a:solidFill>
            <a:srgbClr val="C5DDF0"/>
          </a:solidFill>
          <a:ln/>
        </p:spPr>
        <p:txBody>
          <a:bodyPr/>
          <a:lstStyle/>
          <a:p>
            <a:endParaRPr lang="en-GB"/>
          </a:p>
        </p:txBody>
      </p:sp>
      <p:sp>
        <p:nvSpPr>
          <p:cNvPr id="4" name="Shape 2"/>
          <p:cNvSpPr/>
          <p:nvPr/>
        </p:nvSpPr>
        <p:spPr>
          <a:xfrm>
            <a:off x="1133856" y="1005840"/>
            <a:ext cx="640080" cy="640080"/>
          </a:xfrm>
          <a:prstGeom prst="ellipse">
            <a:avLst/>
          </a:prstGeom>
          <a:solidFill>
            <a:srgbClr val="FFFFFF"/>
          </a:solidFill>
          <a:ln/>
        </p:spPr>
        <p:txBody>
          <a:bodyPr/>
          <a:lstStyle/>
          <a:p>
            <a:endParaRPr lang="en-GB"/>
          </a:p>
        </p:txBody>
      </p:sp>
      <p:sp>
        <p:nvSpPr>
          <p:cNvPr id="5" name="Text 3"/>
          <p:cNvSpPr/>
          <p:nvPr/>
        </p:nvSpPr>
        <p:spPr>
          <a:xfrm>
            <a:off x="1133856"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1</a:t>
            </a:r>
            <a:endParaRPr lang="en-US" sz="2200" dirty="0"/>
          </a:p>
        </p:txBody>
      </p:sp>
      <p:sp>
        <p:nvSpPr>
          <p:cNvPr id="6" name="Text 4"/>
          <p:cNvSpPr/>
          <p:nvPr/>
        </p:nvSpPr>
        <p:spPr>
          <a:xfrm>
            <a:off x="438912"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Find</a:t>
            </a:r>
            <a:endParaRPr lang="en-US" sz="2000" dirty="0"/>
          </a:p>
        </p:txBody>
      </p:sp>
      <p:sp>
        <p:nvSpPr>
          <p:cNvPr id="7" name="Text 5"/>
          <p:cNvSpPr/>
          <p:nvPr/>
        </p:nvSpPr>
        <p:spPr>
          <a:xfrm>
            <a:off x="457200"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Get the Agent Card.</a:t>
            </a:r>
            <a:endParaRPr lang="en-US" sz="2000" dirty="0"/>
          </a:p>
        </p:txBody>
      </p:sp>
      <p:sp>
        <p:nvSpPr>
          <p:cNvPr id="8" name="Shape 6"/>
          <p:cNvSpPr/>
          <p:nvPr/>
        </p:nvSpPr>
        <p:spPr>
          <a:xfrm>
            <a:off x="2578608" y="2240280"/>
            <a:ext cx="329184" cy="182880"/>
          </a:xfrm>
          <a:prstGeom prst="rightArrow">
            <a:avLst/>
          </a:prstGeom>
          <a:solidFill>
            <a:srgbClr val="C8C2B8"/>
          </a:solidFill>
          <a:ln/>
        </p:spPr>
        <p:txBody>
          <a:bodyPr/>
          <a:lstStyle/>
          <a:p>
            <a:endParaRPr lang="en-GB"/>
          </a:p>
        </p:txBody>
      </p:sp>
      <p:sp>
        <p:nvSpPr>
          <p:cNvPr id="9" name="Shape 7"/>
          <p:cNvSpPr/>
          <p:nvPr/>
        </p:nvSpPr>
        <p:spPr>
          <a:xfrm>
            <a:off x="2706624" y="822960"/>
            <a:ext cx="2212848" cy="3246120"/>
          </a:xfrm>
          <a:prstGeom prst="roundRect">
            <a:avLst>
              <a:gd name="adj" fmla="val 3306"/>
            </a:avLst>
          </a:prstGeom>
          <a:solidFill>
            <a:srgbClr val="C9E6D0"/>
          </a:solidFill>
          <a:ln/>
        </p:spPr>
        <p:txBody>
          <a:bodyPr/>
          <a:lstStyle/>
          <a:p>
            <a:endParaRPr lang="en-GB"/>
          </a:p>
        </p:txBody>
      </p:sp>
      <p:sp>
        <p:nvSpPr>
          <p:cNvPr id="10" name="Shape 8"/>
          <p:cNvSpPr/>
          <p:nvPr/>
        </p:nvSpPr>
        <p:spPr>
          <a:xfrm>
            <a:off x="3493008" y="1005840"/>
            <a:ext cx="640080" cy="640080"/>
          </a:xfrm>
          <a:prstGeom prst="ellipse">
            <a:avLst/>
          </a:prstGeom>
          <a:solidFill>
            <a:srgbClr val="FFFFFF"/>
          </a:solidFill>
          <a:ln/>
        </p:spPr>
        <p:txBody>
          <a:bodyPr/>
          <a:lstStyle/>
          <a:p>
            <a:endParaRPr lang="en-GB"/>
          </a:p>
        </p:txBody>
      </p:sp>
      <p:sp>
        <p:nvSpPr>
          <p:cNvPr id="11" name="Text 9"/>
          <p:cNvSpPr/>
          <p:nvPr/>
        </p:nvSpPr>
        <p:spPr>
          <a:xfrm>
            <a:off x="3493008"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2798064"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Log in</a:t>
            </a:r>
            <a:endParaRPr lang="en-US" sz="2400" dirty="0"/>
          </a:p>
        </p:txBody>
      </p:sp>
      <p:sp>
        <p:nvSpPr>
          <p:cNvPr id="13" name="Text 11"/>
          <p:cNvSpPr/>
          <p:nvPr/>
        </p:nvSpPr>
        <p:spPr>
          <a:xfrm>
            <a:off x="2816352"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Get a token if the card asks.</a:t>
            </a:r>
            <a:endParaRPr lang="en-US" sz="2000" dirty="0"/>
          </a:p>
        </p:txBody>
      </p:sp>
      <p:sp>
        <p:nvSpPr>
          <p:cNvPr id="14" name="Shape 12"/>
          <p:cNvSpPr/>
          <p:nvPr/>
        </p:nvSpPr>
        <p:spPr>
          <a:xfrm>
            <a:off x="4937760" y="2240280"/>
            <a:ext cx="329184" cy="182880"/>
          </a:xfrm>
          <a:prstGeom prst="rightArrow">
            <a:avLst/>
          </a:prstGeom>
          <a:solidFill>
            <a:srgbClr val="C8C2B8"/>
          </a:solidFill>
          <a:ln/>
        </p:spPr>
        <p:txBody>
          <a:bodyPr/>
          <a:lstStyle/>
          <a:p>
            <a:endParaRPr lang="en-GB"/>
          </a:p>
        </p:txBody>
      </p:sp>
      <p:sp>
        <p:nvSpPr>
          <p:cNvPr id="15" name="Shape 13"/>
          <p:cNvSpPr/>
          <p:nvPr/>
        </p:nvSpPr>
        <p:spPr>
          <a:xfrm>
            <a:off x="5065776" y="822960"/>
            <a:ext cx="2212848" cy="3246120"/>
          </a:xfrm>
          <a:prstGeom prst="roundRect">
            <a:avLst>
              <a:gd name="adj" fmla="val 3306"/>
            </a:avLst>
          </a:prstGeom>
          <a:solidFill>
            <a:srgbClr val="F6D6C6"/>
          </a:solidFill>
          <a:ln/>
        </p:spPr>
        <p:txBody>
          <a:bodyPr/>
          <a:lstStyle/>
          <a:p>
            <a:endParaRPr lang="en-GB"/>
          </a:p>
        </p:txBody>
      </p:sp>
      <p:sp>
        <p:nvSpPr>
          <p:cNvPr id="16" name="Shape 14"/>
          <p:cNvSpPr/>
          <p:nvPr/>
        </p:nvSpPr>
        <p:spPr>
          <a:xfrm>
            <a:off x="5852160" y="1005840"/>
            <a:ext cx="640080" cy="640080"/>
          </a:xfrm>
          <a:prstGeom prst="ellipse">
            <a:avLst/>
          </a:prstGeom>
          <a:solidFill>
            <a:srgbClr val="FFFFFF"/>
          </a:solidFill>
          <a:ln/>
        </p:spPr>
        <p:txBody>
          <a:bodyPr/>
          <a:lstStyle/>
          <a:p>
            <a:endParaRPr lang="en-GB"/>
          </a:p>
        </p:txBody>
      </p:sp>
      <p:sp>
        <p:nvSpPr>
          <p:cNvPr id="17" name="Text 15"/>
          <p:cNvSpPr/>
          <p:nvPr/>
        </p:nvSpPr>
        <p:spPr>
          <a:xfrm>
            <a:off x="5852160"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5157216"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Check rights</a:t>
            </a:r>
            <a:endParaRPr lang="en-US" sz="2400" dirty="0"/>
          </a:p>
        </p:txBody>
      </p:sp>
      <p:sp>
        <p:nvSpPr>
          <p:cNvPr id="19" name="Text 17"/>
          <p:cNvSpPr/>
          <p:nvPr/>
        </p:nvSpPr>
        <p:spPr>
          <a:xfrm>
            <a:off x="5175504"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May you start this skill?</a:t>
            </a:r>
            <a:endParaRPr lang="en-US" sz="2000" dirty="0"/>
          </a:p>
        </p:txBody>
      </p:sp>
      <p:sp>
        <p:nvSpPr>
          <p:cNvPr id="20" name="Shape 18"/>
          <p:cNvSpPr/>
          <p:nvPr/>
        </p:nvSpPr>
        <p:spPr>
          <a:xfrm>
            <a:off x="7296912" y="2240280"/>
            <a:ext cx="329184" cy="182880"/>
          </a:xfrm>
          <a:prstGeom prst="rightArrow">
            <a:avLst/>
          </a:prstGeom>
          <a:solidFill>
            <a:srgbClr val="C8C2B8"/>
          </a:solidFill>
          <a:ln/>
        </p:spPr>
        <p:txBody>
          <a:bodyPr/>
          <a:lstStyle/>
          <a:p>
            <a:endParaRPr lang="en-GB"/>
          </a:p>
        </p:txBody>
      </p:sp>
      <p:sp>
        <p:nvSpPr>
          <p:cNvPr id="21" name="Shape 19"/>
          <p:cNvSpPr/>
          <p:nvPr/>
        </p:nvSpPr>
        <p:spPr>
          <a:xfrm>
            <a:off x="7424928" y="822960"/>
            <a:ext cx="2212848" cy="3246120"/>
          </a:xfrm>
          <a:prstGeom prst="roundRect">
            <a:avLst>
              <a:gd name="adj" fmla="val 3306"/>
            </a:avLst>
          </a:prstGeom>
          <a:solidFill>
            <a:srgbClr val="DDD0EE"/>
          </a:solidFill>
          <a:ln/>
        </p:spPr>
        <p:txBody>
          <a:bodyPr/>
          <a:lstStyle/>
          <a:p>
            <a:endParaRPr lang="en-GB"/>
          </a:p>
        </p:txBody>
      </p:sp>
      <p:sp>
        <p:nvSpPr>
          <p:cNvPr id="22" name="Shape 20"/>
          <p:cNvSpPr/>
          <p:nvPr/>
        </p:nvSpPr>
        <p:spPr>
          <a:xfrm>
            <a:off x="8211312" y="1005840"/>
            <a:ext cx="640080" cy="640080"/>
          </a:xfrm>
          <a:prstGeom prst="ellipse">
            <a:avLst/>
          </a:prstGeom>
          <a:solidFill>
            <a:srgbClr val="FFFFFF"/>
          </a:solidFill>
          <a:ln/>
        </p:spPr>
        <p:txBody>
          <a:bodyPr/>
          <a:lstStyle/>
          <a:p>
            <a:endParaRPr lang="en-GB"/>
          </a:p>
        </p:txBody>
      </p:sp>
      <p:sp>
        <p:nvSpPr>
          <p:cNvPr id="23" name="Text 21"/>
          <p:cNvSpPr/>
          <p:nvPr/>
        </p:nvSpPr>
        <p:spPr>
          <a:xfrm>
            <a:off x="8211312"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4</a:t>
            </a:r>
            <a:endParaRPr lang="en-US" sz="2200" dirty="0"/>
          </a:p>
        </p:txBody>
      </p:sp>
      <p:sp>
        <p:nvSpPr>
          <p:cNvPr id="24" name="Text 22"/>
          <p:cNvSpPr/>
          <p:nvPr/>
        </p:nvSpPr>
        <p:spPr>
          <a:xfrm>
            <a:off x="7516368"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Send work</a:t>
            </a:r>
            <a:endParaRPr lang="en-US" sz="2400" dirty="0"/>
          </a:p>
        </p:txBody>
      </p:sp>
      <p:sp>
        <p:nvSpPr>
          <p:cNvPr id="25" name="Text 23"/>
          <p:cNvSpPr/>
          <p:nvPr/>
        </p:nvSpPr>
        <p:spPr>
          <a:xfrm>
            <a:off x="7534656"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Send a message. A task may start.</a:t>
            </a:r>
            <a:endParaRPr lang="en-US" sz="2000" dirty="0"/>
          </a:p>
        </p:txBody>
      </p:sp>
      <p:sp>
        <p:nvSpPr>
          <p:cNvPr id="26" name="Shape 24"/>
          <p:cNvSpPr/>
          <p:nvPr/>
        </p:nvSpPr>
        <p:spPr>
          <a:xfrm>
            <a:off x="9656064" y="2240280"/>
            <a:ext cx="329184" cy="182880"/>
          </a:xfrm>
          <a:prstGeom prst="rightArrow">
            <a:avLst/>
          </a:prstGeom>
          <a:solidFill>
            <a:srgbClr val="C8C2B8"/>
          </a:solidFill>
          <a:ln/>
        </p:spPr>
        <p:txBody>
          <a:bodyPr/>
          <a:lstStyle/>
          <a:p>
            <a:endParaRPr lang="en-GB"/>
          </a:p>
        </p:txBody>
      </p:sp>
      <p:sp>
        <p:nvSpPr>
          <p:cNvPr id="27" name="Shape 25"/>
          <p:cNvSpPr/>
          <p:nvPr/>
        </p:nvSpPr>
        <p:spPr>
          <a:xfrm>
            <a:off x="9784080" y="822960"/>
            <a:ext cx="2212848" cy="3246120"/>
          </a:xfrm>
          <a:prstGeom prst="roundRect">
            <a:avLst>
              <a:gd name="adj" fmla="val 3306"/>
            </a:avLst>
          </a:prstGeom>
          <a:solidFill>
            <a:srgbClr val="F3E6B8"/>
          </a:solidFill>
          <a:ln/>
        </p:spPr>
        <p:txBody>
          <a:bodyPr/>
          <a:lstStyle/>
          <a:p>
            <a:endParaRPr lang="en-GB"/>
          </a:p>
        </p:txBody>
      </p:sp>
      <p:sp>
        <p:nvSpPr>
          <p:cNvPr id="28" name="Shape 26"/>
          <p:cNvSpPr/>
          <p:nvPr/>
        </p:nvSpPr>
        <p:spPr>
          <a:xfrm>
            <a:off x="10570464" y="1005840"/>
            <a:ext cx="640080" cy="640080"/>
          </a:xfrm>
          <a:prstGeom prst="ellipse">
            <a:avLst/>
          </a:prstGeom>
          <a:solidFill>
            <a:srgbClr val="FFFFFF"/>
          </a:solidFill>
          <a:ln/>
        </p:spPr>
        <p:txBody>
          <a:bodyPr/>
          <a:lstStyle/>
          <a:p>
            <a:endParaRPr lang="en-GB"/>
          </a:p>
        </p:txBody>
      </p:sp>
      <p:sp>
        <p:nvSpPr>
          <p:cNvPr id="29" name="Text 27"/>
          <p:cNvSpPr/>
          <p:nvPr/>
        </p:nvSpPr>
        <p:spPr>
          <a:xfrm>
            <a:off x="10570464"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5</a:t>
            </a:r>
            <a:endParaRPr lang="en-US" sz="2200" dirty="0"/>
          </a:p>
        </p:txBody>
      </p:sp>
      <p:sp>
        <p:nvSpPr>
          <p:cNvPr id="30" name="Text 28"/>
          <p:cNvSpPr/>
          <p:nvPr/>
        </p:nvSpPr>
        <p:spPr>
          <a:xfrm>
            <a:off x="9875520"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Get result</a:t>
            </a:r>
            <a:endParaRPr lang="en-US" sz="2400" dirty="0"/>
          </a:p>
        </p:txBody>
      </p:sp>
      <p:sp>
        <p:nvSpPr>
          <p:cNvPr id="31" name="Text 29"/>
          <p:cNvSpPr/>
          <p:nvPr/>
        </p:nvSpPr>
        <p:spPr>
          <a:xfrm>
            <a:off x="9893808"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Take the finished output.</a:t>
            </a:r>
            <a:endParaRPr lang="en-US" sz="2000" dirty="0"/>
          </a:p>
        </p:txBody>
      </p:sp>
      <p:sp>
        <p:nvSpPr>
          <p:cNvPr id="32" name="Text 30"/>
          <p:cNvSpPr/>
          <p:nvPr/>
        </p:nvSpPr>
        <p:spPr>
          <a:xfrm>
            <a:off x="548640" y="4251960"/>
            <a:ext cx="11064240" cy="82296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Three ways to wait: one reply, live updates, or a later notice. Three roles: user, your agent, their agent.</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A3F7F3-C5E7-7852-3CD8-49D450E7BFA6}"/>
              </a:ext>
            </a:extLst>
          </p:cNvPr>
          <p:cNvSpPr txBox="1"/>
          <p:nvPr/>
        </p:nvSpPr>
        <p:spPr>
          <a:xfrm>
            <a:off x="800986" y="641474"/>
            <a:ext cx="10590028" cy="5575052"/>
          </a:xfrm>
          <a:prstGeom prst="rect">
            <a:avLst/>
          </a:prstGeom>
          <a:noFill/>
        </p:spPr>
        <p:txBody>
          <a:bodyPr wrap="square">
            <a:spAutoFit/>
          </a:bodyPr>
          <a:lstStyle/>
          <a:p>
            <a:pPr>
              <a:lnSpc>
                <a:spcPct val="150000"/>
              </a:lnSpc>
              <a:buNone/>
            </a:pPr>
            <a:r>
              <a:rPr lang="en-US" sz="2400" dirty="0">
                <a:effectLst/>
              </a:rPr>
              <a:t>Typical order in login and permission stage of A2A:</a:t>
            </a:r>
          </a:p>
          <a:p>
            <a:pPr marL="342900" lvl="0" indent="-342900">
              <a:lnSpc>
                <a:spcPct val="150000"/>
              </a:lnSpc>
              <a:buFont typeface="+mj-lt"/>
              <a:buAutoNum type="arabicPeriod"/>
            </a:pPr>
            <a:r>
              <a:rPr lang="en-US" sz="2400" dirty="0"/>
              <a:t>Their agent GETs your Agent Card.</a:t>
            </a:r>
          </a:p>
          <a:p>
            <a:pPr marL="342900" lvl="0" indent="-342900">
              <a:lnSpc>
                <a:spcPct val="150000"/>
              </a:lnSpc>
              <a:buFont typeface="+mj-lt"/>
              <a:buAutoNum type="arabicPeriod"/>
            </a:pPr>
            <a:r>
              <a:rPr lang="en-US" sz="2400" dirty="0"/>
              <a:t>Their agent talks to the IdP (token endpoint, or token exchange).</a:t>
            </a:r>
          </a:p>
          <a:p>
            <a:pPr marL="342900" lvl="0" indent="-342900">
              <a:lnSpc>
                <a:spcPct val="150000"/>
              </a:lnSpc>
              <a:buFont typeface="+mj-lt"/>
              <a:buAutoNum type="arabicPeriod"/>
            </a:pPr>
            <a:r>
              <a:rPr lang="en-US" sz="2400" dirty="0"/>
              <a:t>IdP returns a token.</a:t>
            </a:r>
          </a:p>
          <a:p>
            <a:pPr marL="342900" lvl="0" indent="-342900">
              <a:lnSpc>
                <a:spcPct val="150000"/>
              </a:lnSpc>
              <a:buFont typeface="+mj-lt"/>
              <a:buAutoNum type="arabicPeriod"/>
            </a:pPr>
            <a:r>
              <a:rPr lang="en-US" sz="2400" dirty="0"/>
              <a:t>Their agent POSTs to your work URL with Authorization: Bearer ....</a:t>
            </a:r>
          </a:p>
          <a:p>
            <a:pPr marL="342900" lvl="0" indent="-342900">
              <a:lnSpc>
                <a:spcPct val="150000"/>
              </a:lnSpc>
              <a:buFont typeface="+mj-lt"/>
              <a:buAutoNum type="arabicPeriod"/>
            </a:pPr>
            <a:r>
              <a:rPr lang="en-US" sz="2400" dirty="0"/>
              <a:t>Your gateway or middleware checks TLS, then the token (signature, issuer, audience, expiry).</a:t>
            </a:r>
          </a:p>
          <a:p>
            <a:pPr marL="342900" lvl="0" indent="-342900">
              <a:lnSpc>
                <a:spcPct val="150000"/>
              </a:lnSpc>
              <a:buFont typeface="+mj-lt"/>
              <a:buAutoNum type="arabicPeriod"/>
            </a:pPr>
            <a:r>
              <a:rPr lang="en-US" sz="2400" dirty="0"/>
              <a:t>Your auth layer maps token → user + agent + scopes.</a:t>
            </a:r>
          </a:p>
          <a:p>
            <a:pPr marL="342900" lvl="0" indent="-342900">
              <a:lnSpc>
                <a:spcPct val="150000"/>
              </a:lnSpc>
              <a:buFont typeface="+mj-lt"/>
              <a:buAutoNum type="arabicPeriod"/>
            </a:pPr>
            <a:r>
              <a:rPr lang="en-US" sz="2400" dirty="0"/>
              <a:t>Your permission layer asks: may this caller run this skill on this user’s rows?</a:t>
            </a:r>
          </a:p>
          <a:p>
            <a:pPr marL="342900" lvl="0" indent="-342900">
              <a:lnSpc>
                <a:spcPct val="150000"/>
              </a:lnSpc>
              <a:buFont typeface="+mj-lt"/>
              <a:buAutoNum type="arabicPeriod"/>
            </a:pPr>
            <a:r>
              <a:rPr lang="en-US" sz="2400" dirty="0"/>
              <a:t>Only then does the A2A handler open the JSON and start a task.</a:t>
            </a:r>
          </a:p>
        </p:txBody>
      </p:sp>
    </p:spTree>
    <p:extLst>
      <p:ext uri="{BB962C8B-B14F-4D97-AF65-F5344CB8AC3E}">
        <p14:creationId xmlns:p14="http://schemas.microsoft.com/office/powerpoint/2010/main" val="1738340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CC5F9D9-08F0-2287-BF15-83871AA4CA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D017938-0CBA-1CAF-7759-D11188C31FBC}"/>
              </a:ext>
            </a:extLst>
          </p:cNvPr>
          <p:cNvSpPr/>
          <p:nvPr/>
        </p:nvSpPr>
        <p:spPr>
          <a:xfrm>
            <a:off x="548640" y="201168"/>
            <a:ext cx="11064240" cy="438912"/>
          </a:xfrm>
          <a:prstGeom prst="rect">
            <a:avLst/>
          </a:prstGeom>
          <a:noFill/>
          <a:ln/>
        </p:spPr>
        <p:txBody>
          <a:bodyPr wrap="square" lIns="0" tIns="0" rIns="0" bIns="0" rtlCol="0" anchor="ctr"/>
          <a:lstStyle/>
          <a:p>
            <a:pPr marL="0" indent="0">
              <a:buNone/>
            </a:pPr>
            <a:r>
              <a:rPr lang="en-US" sz="3400" dirty="0">
                <a:solidFill>
                  <a:srgbClr val="2C2C2C"/>
                </a:solidFill>
                <a:latin typeface="Calibri" pitchFamily="34" charset="0"/>
                <a:ea typeface="Calibri" pitchFamily="34" charset="-122"/>
                <a:cs typeface="Calibri" pitchFamily="34" charset="-120"/>
              </a:rPr>
              <a:t>How a call works</a:t>
            </a:r>
            <a:endParaRPr lang="en-US" sz="3400" dirty="0"/>
          </a:p>
        </p:txBody>
      </p:sp>
      <p:sp>
        <p:nvSpPr>
          <p:cNvPr id="3" name="Shape 1">
            <a:extLst>
              <a:ext uri="{FF2B5EF4-FFF2-40B4-BE49-F238E27FC236}">
                <a16:creationId xmlns:a16="http://schemas.microsoft.com/office/drawing/2014/main" id="{DB92182D-CC82-BC24-50D7-5C92D2B79B27}"/>
              </a:ext>
            </a:extLst>
          </p:cNvPr>
          <p:cNvSpPr/>
          <p:nvPr/>
        </p:nvSpPr>
        <p:spPr>
          <a:xfrm>
            <a:off x="347472" y="822960"/>
            <a:ext cx="2212848" cy="3246120"/>
          </a:xfrm>
          <a:prstGeom prst="roundRect">
            <a:avLst>
              <a:gd name="adj" fmla="val 3306"/>
            </a:avLst>
          </a:prstGeom>
          <a:solidFill>
            <a:srgbClr val="C5DDF0"/>
          </a:solidFill>
          <a:ln/>
        </p:spPr>
        <p:txBody>
          <a:bodyPr/>
          <a:lstStyle/>
          <a:p>
            <a:endParaRPr lang="en-GB"/>
          </a:p>
        </p:txBody>
      </p:sp>
      <p:sp>
        <p:nvSpPr>
          <p:cNvPr id="4" name="Shape 2">
            <a:extLst>
              <a:ext uri="{FF2B5EF4-FFF2-40B4-BE49-F238E27FC236}">
                <a16:creationId xmlns:a16="http://schemas.microsoft.com/office/drawing/2014/main" id="{B8699DD1-4113-2949-5DA5-F847A6BDB808}"/>
              </a:ext>
            </a:extLst>
          </p:cNvPr>
          <p:cNvSpPr/>
          <p:nvPr/>
        </p:nvSpPr>
        <p:spPr>
          <a:xfrm>
            <a:off x="1133856" y="1005840"/>
            <a:ext cx="640080" cy="640080"/>
          </a:xfrm>
          <a:prstGeom prst="ellipse">
            <a:avLst/>
          </a:prstGeom>
          <a:solidFill>
            <a:srgbClr val="FFFFFF"/>
          </a:solidFill>
          <a:ln/>
        </p:spPr>
        <p:txBody>
          <a:bodyPr/>
          <a:lstStyle/>
          <a:p>
            <a:endParaRPr lang="en-GB"/>
          </a:p>
        </p:txBody>
      </p:sp>
      <p:sp>
        <p:nvSpPr>
          <p:cNvPr id="5" name="Text 3">
            <a:extLst>
              <a:ext uri="{FF2B5EF4-FFF2-40B4-BE49-F238E27FC236}">
                <a16:creationId xmlns:a16="http://schemas.microsoft.com/office/drawing/2014/main" id="{3E3480DD-A52D-0930-8028-8E0873448220}"/>
              </a:ext>
            </a:extLst>
          </p:cNvPr>
          <p:cNvSpPr/>
          <p:nvPr/>
        </p:nvSpPr>
        <p:spPr>
          <a:xfrm>
            <a:off x="1133856"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1</a:t>
            </a:r>
            <a:endParaRPr lang="en-US" sz="2200" dirty="0"/>
          </a:p>
        </p:txBody>
      </p:sp>
      <p:sp>
        <p:nvSpPr>
          <p:cNvPr id="6" name="Text 4">
            <a:extLst>
              <a:ext uri="{FF2B5EF4-FFF2-40B4-BE49-F238E27FC236}">
                <a16:creationId xmlns:a16="http://schemas.microsoft.com/office/drawing/2014/main" id="{BB32EBBC-9DA3-D72C-67D8-71E3A9CE8D48}"/>
              </a:ext>
            </a:extLst>
          </p:cNvPr>
          <p:cNvSpPr/>
          <p:nvPr/>
        </p:nvSpPr>
        <p:spPr>
          <a:xfrm>
            <a:off x="438912"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Find</a:t>
            </a:r>
            <a:endParaRPr lang="en-US" sz="2000" dirty="0"/>
          </a:p>
        </p:txBody>
      </p:sp>
      <p:sp>
        <p:nvSpPr>
          <p:cNvPr id="7" name="Text 5">
            <a:extLst>
              <a:ext uri="{FF2B5EF4-FFF2-40B4-BE49-F238E27FC236}">
                <a16:creationId xmlns:a16="http://schemas.microsoft.com/office/drawing/2014/main" id="{C17FE07B-DFE0-3F73-BD96-890B3C0DBFE6}"/>
              </a:ext>
            </a:extLst>
          </p:cNvPr>
          <p:cNvSpPr/>
          <p:nvPr/>
        </p:nvSpPr>
        <p:spPr>
          <a:xfrm>
            <a:off x="457200"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Get the Agent Card.</a:t>
            </a:r>
            <a:endParaRPr lang="en-US" sz="2000" dirty="0"/>
          </a:p>
        </p:txBody>
      </p:sp>
      <p:sp>
        <p:nvSpPr>
          <p:cNvPr id="8" name="Shape 6">
            <a:extLst>
              <a:ext uri="{FF2B5EF4-FFF2-40B4-BE49-F238E27FC236}">
                <a16:creationId xmlns:a16="http://schemas.microsoft.com/office/drawing/2014/main" id="{C07D6251-FD2D-09CC-51EB-9E777CB595F1}"/>
              </a:ext>
            </a:extLst>
          </p:cNvPr>
          <p:cNvSpPr/>
          <p:nvPr/>
        </p:nvSpPr>
        <p:spPr>
          <a:xfrm>
            <a:off x="2578608" y="2240280"/>
            <a:ext cx="329184" cy="182880"/>
          </a:xfrm>
          <a:prstGeom prst="rightArrow">
            <a:avLst/>
          </a:prstGeom>
          <a:solidFill>
            <a:srgbClr val="C8C2B8"/>
          </a:solidFill>
          <a:ln/>
        </p:spPr>
        <p:txBody>
          <a:bodyPr/>
          <a:lstStyle/>
          <a:p>
            <a:endParaRPr lang="en-GB"/>
          </a:p>
        </p:txBody>
      </p:sp>
      <p:sp>
        <p:nvSpPr>
          <p:cNvPr id="9" name="Shape 7">
            <a:extLst>
              <a:ext uri="{FF2B5EF4-FFF2-40B4-BE49-F238E27FC236}">
                <a16:creationId xmlns:a16="http://schemas.microsoft.com/office/drawing/2014/main" id="{17773298-9E3B-129F-0F24-B24E2B36F0DA}"/>
              </a:ext>
            </a:extLst>
          </p:cNvPr>
          <p:cNvSpPr/>
          <p:nvPr/>
        </p:nvSpPr>
        <p:spPr>
          <a:xfrm>
            <a:off x="2706624" y="822960"/>
            <a:ext cx="2212848" cy="3246120"/>
          </a:xfrm>
          <a:prstGeom prst="roundRect">
            <a:avLst>
              <a:gd name="adj" fmla="val 3306"/>
            </a:avLst>
          </a:prstGeom>
          <a:solidFill>
            <a:srgbClr val="C9E6D0"/>
          </a:solidFill>
          <a:ln/>
        </p:spPr>
        <p:txBody>
          <a:bodyPr/>
          <a:lstStyle/>
          <a:p>
            <a:endParaRPr lang="en-GB"/>
          </a:p>
        </p:txBody>
      </p:sp>
      <p:sp>
        <p:nvSpPr>
          <p:cNvPr id="10" name="Shape 8">
            <a:extLst>
              <a:ext uri="{FF2B5EF4-FFF2-40B4-BE49-F238E27FC236}">
                <a16:creationId xmlns:a16="http://schemas.microsoft.com/office/drawing/2014/main" id="{15884934-3877-6D03-73AA-44D41725F0F5}"/>
              </a:ext>
            </a:extLst>
          </p:cNvPr>
          <p:cNvSpPr/>
          <p:nvPr/>
        </p:nvSpPr>
        <p:spPr>
          <a:xfrm>
            <a:off x="3493008" y="1005840"/>
            <a:ext cx="640080" cy="640080"/>
          </a:xfrm>
          <a:prstGeom prst="ellipse">
            <a:avLst/>
          </a:prstGeom>
          <a:solidFill>
            <a:srgbClr val="FFFFFF"/>
          </a:solidFill>
          <a:ln/>
        </p:spPr>
        <p:txBody>
          <a:bodyPr/>
          <a:lstStyle/>
          <a:p>
            <a:endParaRPr lang="en-GB"/>
          </a:p>
        </p:txBody>
      </p:sp>
      <p:sp>
        <p:nvSpPr>
          <p:cNvPr id="11" name="Text 9">
            <a:extLst>
              <a:ext uri="{FF2B5EF4-FFF2-40B4-BE49-F238E27FC236}">
                <a16:creationId xmlns:a16="http://schemas.microsoft.com/office/drawing/2014/main" id="{E4080AC3-EAF8-65EF-6204-DF8C070AF7C4}"/>
              </a:ext>
            </a:extLst>
          </p:cNvPr>
          <p:cNvSpPr/>
          <p:nvPr/>
        </p:nvSpPr>
        <p:spPr>
          <a:xfrm>
            <a:off x="3493008"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2</a:t>
            </a:r>
            <a:endParaRPr lang="en-US" sz="2200" dirty="0"/>
          </a:p>
        </p:txBody>
      </p:sp>
      <p:sp>
        <p:nvSpPr>
          <p:cNvPr id="12" name="Text 10">
            <a:extLst>
              <a:ext uri="{FF2B5EF4-FFF2-40B4-BE49-F238E27FC236}">
                <a16:creationId xmlns:a16="http://schemas.microsoft.com/office/drawing/2014/main" id="{C6FD18B2-5F2A-6185-4E81-A60CE890026D}"/>
              </a:ext>
            </a:extLst>
          </p:cNvPr>
          <p:cNvSpPr/>
          <p:nvPr/>
        </p:nvSpPr>
        <p:spPr>
          <a:xfrm>
            <a:off x="2798064"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Log in</a:t>
            </a:r>
            <a:endParaRPr lang="en-US" sz="2400" dirty="0"/>
          </a:p>
        </p:txBody>
      </p:sp>
      <p:sp>
        <p:nvSpPr>
          <p:cNvPr id="13" name="Text 11">
            <a:extLst>
              <a:ext uri="{FF2B5EF4-FFF2-40B4-BE49-F238E27FC236}">
                <a16:creationId xmlns:a16="http://schemas.microsoft.com/office/drawing/2014/main" id="{B3AD5E84-CDD5-8C21-0CAF-7459DE1141AE}"/>
              </a:ext>
            </a:extLst>
          </p:cNvPr>
          <p:cNvSpPr/>
          <p:nvPr/>
        </p:nvSpPr>
        <p:spPr>
          <a:xfrm>
            <a:off x="2816352"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Get a token if the card asks.</a:t>
            </a:r>
            <a:endParaRPr lang="en-US" sz="2000" dirty="0"/>
          </a:p>
        </p:txBody>
      </p:sp>
      <p:sp>
        <p:nvSpPr>
          <p:cNvPr id="14" name="Shape 12">
            <a:extLst>
              <a:ext uri="{FF2B5EF4-FFF2-40B4-BE49-F238E27FC236}">
                <a16:creationId xmlns:a16="http://schemas.microsoft.com/office/drawing/2014/main" id="{F9430060-BAE4-1E07-2043-2600B7D7D020}"/>
              </a:ext>
            </a:extLst>
          </p:cNvPr>
          <p:cNvSpPr/>
          <p:nvPr/>
        </p:nvSpPr>
        <p:spPr>
          <a:xfrm>
            <a:off x="4937760" y="2240280"/>
            <a:ext cx="329184" cy="182880"/>
          </a:xfrm>
          <a:prstGeom prst="rightArrow">
            <a:avLst/>
          </a:prstGeom>
          <a:solidFill>
            <a:srgbClr val="C8C2B8"/>
          </a:solidFill>
          <a:ln/>
        </p:spPr>
        <p:txBody>
          <a:bodyPr/>
          <a:lstStyle/>
          <a:p>
            <a:endParaRPr lang="en-GB"/>
          </a:p>
        </p:txBody>
      </p:sp>
      <p:sp>
        <p:nvSpPr>
          <p:cNvPr id="15" name="Shape 13">
            <a:extLst>
              <a:ext uri="{FF2B5EF4-FFF2-40B4-BE49-F238E27FC236}">
                <a16:creationId xmlns:a16="http://schemas.microsoft.com/office/drawing/2014/main" id="{9F9263CF-7D83-1144-3190-7BBDC62D8AC4}"/>
              </a:ext>
            </a:extLst>
          </p:cNvPr>
          <p:cNvSpPr/>
          <p:nvPr/>
        </p:nvSpPr>
        <p:spPr>
          <a:xfrm>
            <a:off x="5065776" y="822960"/>
            <a:ext cx="2212848" cy="3246120"/>
          </a:xfrm>
          <a:prstGeom prst="roundRect">
            <a:avLst>
              <a:gd name="adj" fmla="val 3306"/>
            </a:avLst>
          </a:prstGeom>
          <a:solidFill>
            <a:srgbClr val="F6D6C6"/>
          </a:solidFill>
          <a:ln/>
        </p:spPr>
        <p:txBody>
          <a:bodyPr/>
          <a:lstStyle/>
          <a:p>
            <a:endParaRPr lang="en-GB"/>
          </a:p>
        </p:txBody>
      </p:sp>
      <p:sp>
        <p:nvSpPr>
          <p:cNvPr id="16" name="Shape 14">
            <a:extLst>
              <a:ext uri="{FF2B5EF4-FFF2-40B4-BE49-F238E27FC236}">
                <a16:creationId xmlns:a16="http://schemas.microsoft.com/office/drawing/2014/main" id="{9D130240-84DE-2962-8BD9-F8FF31C8DE40}"/>
              </a:ext>
            </a:extLst>
          </p:cNvPr>
          <p:cNvSpPr/>
          <p:nvPr/>
        </p:nvSpPr>
        <p:spPr>
          <a:xfrm>
            <a:off x="5852160" y="1005840"/>
            <a:ext cx="640080" cy="640080"/>
          </a:xfrm>
          <a:prstGeom prst="ellipse">
            <a:avLst/>
          </a:prstGeom>
          <a:solidFill>
            <a:srgbClr val="FFFFFF"/>
          </a:solidFill>
          <a:ln/>
        </p:spPr>
        <p:txBody>
          <a:bodyPr/>
          <a:lstStyle/>
          <a:p>
            <a:endParaRPr lang="en-GB"/>
          </a:p>
        </p:txBody>
      </p:sp>
      <p:sp>
        <p:nvSpPr>
          <p:cNvPr id="17" name="Text 15">
            <a:extLst>
              <a:ext uri="{FF2B5EF4-FFF2-40B4-BE49-F238E27FC236}">
                <a16:creationId xmlns:a16="http://schemas.microsoft.com/office/drawing/2014/main" id="{F16A66F3-5CC9-A106-6FEE-9CB2E95CC7AE}"/>
              </a:ext>
            </a:extLst>
          </p:cNvPr>
          <p:cNvSpPr/>
          <p:nvPr/>
        </p:nvSpPr>
        <p:spPr>
          <a:xfrm>
            <a:off x="5852160"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3</a:t>
            </a:r>
            <a:endParaRPr lang="en-US" sz="2200" dirty="0"/>
          </a:p>
        </p:txBody>
      </p:sp>
      <p:sp>
        <p:nvSpPr>
          <p:cNvPr id="18" name="Text 16">
            <a:extLst>
              <a:ext uri="{FF2B5EF4-FFF2-40B4-BE49-F238E27FC236}">
                <a16:creationId xmlns:a16="http://schemas.microsoft.com/office/drawing/2014/main" id="{54DE0F5E-31E4-7DD7-6AA2-DC89A1E5AC32}"/>
              </a:ext>
            </a:extLst>
          </p:cNvPr>
          <p:cNvSpPr/>
          <p:nvPr/>
        </p:nvSpPr>
        <p:spPr>
          <a:xfrm>
            <a:off x="5157216"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Check rights</a:t>
            </a:r>
            <a:endParaRPr lang="en-US" sz="2400" dirty="0"/>
          </a:p>
        </p:txBody>
      </p:sp>
      <p:sp>
        <p:nvSpPr>
          <p:cNvPr id="19" name="Text 17">
            <a:extLst>
              <a:ext uri="{FF2B5EF4-FFF2-40B4-BE49-F238E27FC236}">
                <a16:creationId xmlns:a16="http://schemas.microsoft.com/office/drawing/2014/main" id="{7B4C1044-FC0E-030A-3C92-E2A8127BDCDE}"/>
              </a:ext>
            </a:extLst>
          </p:cNvPr>
          <p:cNvSpPr/>
          <p:nvPr/>
        </p:nvSpPr>
        <p:spPr>
          <a:xfrm>
            <a:off x="5175504"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May you start this skill?</a:t>
            </a:r>
            <a:endParaRPr lang="en-US" sz="2000" dirty="0"/>
          </a:p>
        </p:txBody>
      </p:sp>
      <p:sp>
        <p:nvSpPr>
          <p:cNvPr id="20" name="Shape 18">
            <a:extLst>
              <a:ext uri="{FF2B5EF4-FFF2-40B4-BE49-F238E27FC236}">
                <a16:creationId xmlns:a16="http://schemas.microsoft.com/office/drawing/2014/main" id="{C764994E-2DEB-CC47-774F-143C79AEB889}"/>
              </a:ext>
            </a:extLst>
          </p:cNvPr>
          <p:cNvSpPr/>
          <p:nvPr/>
        </p:nvSpPr>
        <p:spPr>
          <a:xfrm>
            <a:off x="7296912" y="2240280"/>
            <a:ext cx="329184" cy="182880"/>
          </a:xfrm>
          <a:prstGeom prst="rightArrow">
            <a:avLst/>
          </a:prstGeom>
          <a:solidFill>
            <a:srgbClr val="C8C2B8"/>
          </a:solidFill>
          <a:ln/>
        </p:spPr>
        <p:txBody>
          <a:bodyPr/>
          <a:lstStyle/>
          <a:p>
            <a:endParaRPr lang="en-GB"/>
          </a:p>
        </p:txBody>
      </p:sp>
      <p:sp>
        <p:nvSpPr>
          <p:cNvPr id="21" name="Shape 19">
            <a:extLst>
              <a:ext uri="{FF2B5EF4-FFF2-40B4-BE49-F238E27FC236}">
                <a16:creationId xmlns:a16="http://schemas.microsoft.com/office/drawing/2014/main" id="{53A5CF5E-0CE6-9638-062E-1C1D6B963DD8}"/>
              </a:ext>
            </a:extLst>
          </p:cNvPr>
          <p:cNvSpPr/>
          <p:nvPr/>
        </p:nvSpPr>
        <p:spPr>
          <a:xfrm>
            <a:off x="7424928" y="822960"/>
            <a:ext cx="2212848" cy="3246120"/>
          </a:xfrm>
          <a:prstGeom prst="roundRect">
            <a:avLst>
              <a:gd name="adj" fmla="val 3306"/>
            </a:avLst>
          </a:prstGeom>
          <a:solidFill>
            <a:srgbClr val="DDD0EE"/>
          </a:solidFill>
          <a:ln/>
        </p:spPr>
        <p:txBody>
          <a:bodyPr/>
          <a:lstStyle/>
          <a:p>
            <a:endParaRPr lang="en-GB"/>
          </a:p>
        </p:txBody>
      </p:sp>
      <p:sp>
        <p:nvSpPr>
          <p:cNvPr id="22" name="Shape 20">
            <a:extLst>
              <a:ext uri="{FF2B5EF4-FFF2-40B4-BE49-F238E27FC236}">
                <a16:creationId xmlns:a16="http://schemas.microsoft.com/office/drawing/2014/main" id="{DD9323A9-BAEC-D6CE-3C27-5631EB096B7B}"/>
              </a:ext>
            </a:extLst>
          </p:cNvPr>
          <p:cNvSpPr/>
          <p:nvPr/>
        </p:nvSpPr>
        <p:spPr>
          <a:xfrm>
            <a:off x="8211312" y="1005840"/>
            <a:ext cx="640080" cy="640080"/>
          </a:xfrm>
          <a:prstGeom prst="ellipse">
            <a:avLst/>
          </a:prstGeom>
          <a:solidFill>
            <a:srgbClr val="FFFFFF"/>
          </a:solidFill>
          <a:ln/>
        </p:spPr>
        <p:txBody>
          <a:bodyPr/>
          <a:lstStyle/>
          <a:p>
            <a:endParaRPr lang="en-GB"/>
          </a:p>
        </p:txBody>
      </p:sp>
      <p:sp>
        <p:nvSpPr>
          <p:cNvPr id="23" name="Text 21">
            <a:extLst>
              <a:ext uri="{FF2B5EF4-FFF2-40B4-BE49-F238E27FC236}">
                <a16:creationId xmlns:a16="http://schemas.microsoft.com/office/drawing/2014/main" id="{A3A39145-8A26-150D-66AB-605C0735C765}"/>
              </a:ext>
            </a:extLst>
          </p:cNvPr>
          <p:cNvSpPr/>
          <p:nvPr/>
        </p:nvSpPr>
        <p:spPr>
          <a:xfrm>
            <a:off x="8211312"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4</a:t>
            </a:r>
            <a:endParaRPr lang="en-US" sz="2200" dirty="0"/>
          </a:p>
        </p:txBody>
      </p:sp>
      <p:sp>
        <p:nvSpPr>
          <p:cNvPr id="24" name="Text 22">
            <a:extLst>
              <a:ext uri="{FF2B5EF4-FFF2-40B4-BE49-F238E27FC236}">
                <a16:creationId xmlns:a16="http://schemas.microsoft.com/office/drawing/2014/main" id="{54956F58-D1BA-BDDE-7BA6-FEED1F9C3484}"/>
              </a:ext>
            </a:extLst>
          </p:cNvPr>
          <p:cNvSpPr/>
          <p:nvPr/>
        </p:nvSpPr>
        <p:spPr>
          <a:xfrm>
            <a:off x="7516368"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Send work</a:t>
            </a:r>
            <a:endParaRPr lang="en-US" sz="2400" dirty="0"/>
          </a:p>
        </p:txBody>
      </p:sp>
      <p:sp>
        <p:nvSpPr>
          <p:cNvPr id="25" name="Text 23">
            <a:extLst>
              <a:ext uri="{FF2B5EF4-FFF2-40B4-BE49-F238E27FC236}">
                <a16:creationId xmlns:a16="http://schemas.microsoft.com/office/drawing/2014/main" id="{A697B780-DA96-1408-0012-5A9CE4E707C6}"/>
              </a:ext>
            </a:extLst>
          </p:cNvPr>
          <p:cNvSpPr/>
          <p:nvPr/>
        </p:nvSpPr>
        <p:spPr>
          <a:xfrm>
            <a:off x="7534656"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Send a message. A task may start.</a:t>
            </a:r>
            <a:endParaRPr lang="en-US" sz="2000" dirty="0"/>
          </a:p>
        </p:txBody>
      </p:sp>
      <p:sp>
        <p:nvSpPr>
          <p:cNvPr id="26" name="Shape 24">
            <a:extLst>
              <a:ext uri="{FF2B5EF4-FFF2-40B4-BE49-F238E27FC236}">
                <a16:creationId xmlns:a16="http://schemas.microsoft.com/office/drawing/2014/main" id="{2165596B-738C-9B8D-1048-EA3B168BB25F}"/>
              </a:ext>
            </a:extLst>
          </p:cNvPr>
          <p:cNvSpPr/>
          <p:nvPr/>
        </p:nvSpPr>
        <p:spPr>
          <a:xfrm>
            <a:off x="9656064" y="2240280"/>
            <a:ext cx="329184" cy="182880"/>
          </a:xfrm>
          <a:prstGeom prst="rightArrow">
            <a:avLst/>
          </a:prstGeom>
          <a:solidFill>
            <a:srgbClr val="C8C2B8"/>
          </a:solidFill>
          <a:ln/>
        </p:spPr>
        <p:txBody>
          <a:bodyPr/>
          <a:lstStyle/>
          <a:p>
            <a:endParaRPr lang="en-GB"/>
          </a:p>
        </p:txBody>
      </p:sp>
      <p:sp>
        <p:nvSpPr>
          <p:cNvPr id="27" name="Shape 25">
            <a:extLst>
              <a:ext uri="{FF2B5EF4-FFF2-40B4-BE49-F238E27FC236}">
                <a16:creationId xmlns:a16="http://schemas.microsoft.com/office/drawing/2014/main" id="{3C9428A7-56FD-E224-C2BD-AF400AEC1082}"/>
              </a:ext>
            </a:extLst>
          </p:cNvPr>
          <p:cNvSpPr/>
          <p:nvPr/>
        </p:nvSpPr>
        <p:spPr>
          <a:xfrm>
            <a:off x="9784080" y="822960"/>
            <a:ext cx="2212848" cy="3246120"/>
          </a:xfrm>
          <a:prstGeom prst="roundRect">
            <a:avLst>
              <a:gd name="adj" fmla="val 3306"/>
            </a:avLst>
          </a:prstGeom>
          <a:solidFill>
            <a:srgbClr val="F3E6B8"/>
          </a:solidFill>
          <a:ln/>
        </p:spPr>
        <p:txBody>
          <a:bodyPr/>
          <a:lstStyle/>
          <a:p>
            <a:endParaRPr lang="en-GB"/>
          </a:p>
        </p:txBody>
      </p:sp>
      <p:sp>
        <p:nvSpPr>
          <p:cNvPr id="28" name="Shape 26">
            <a:extLst>
              <a:ext uri="{FF2B5EF4-FFF2-40B4-BE49-F238E27FC236}">
                <a16:creationId xmlns:a16="http://schemas.microsoft.com/office/drawing/2014/main" id="{AB11CD22-7579-59BC-E4C6-A128369FE9F6}"/>
              </a:ext>
            </a:extLst>
          </p:cNvPr>
          <p:cNvSpPr/>
          <p:nvPr/>
        </p:nvSpPr>
        <p:spPr>
          <a:xfrm>
            <a:off x="10570464" y="1005840"/>
            <a:ext cx="640080" cy="640080"/>
          </a:xfrm>
          <a:prstGeom prst="ellipse">
            <a:avLst/>
          </a:prstGeom>
          <a:solidFill>
            <a:srgbClr val="FFFFFF"/>
          </a:solidFill>
          <a:ln/>
        </p:spPr>
        <p:txBody>
          <a:bodyPr/>
          <a:lstStyle/>
          <a:p>
            <a:endParaRPr lang="en-GB"/>
          </a:p>
        </p:txBody>
      </p:sp>
      <p:sp>
        <p:nvSpPr>
          <p:cNvPr id="29" name="Text 27">
            <a:extLst>
              <a:ext uri="{FF2B5EF4-FFF2-40B4-BE49-F238E27FC236}">
                <a16:creationId xmlns:a16="http://schemas.microsoft.com/office/drawing/2014/main" id="{D98705B6-585C-BC38-61AC-3B3A4A1ABE0E}"/>
              </a:ext>
            </a:extLst>
          </p:cNvPr>
          <p:cNvSpPr/>
          <p:nvPr/>
        </p:nvSpPr>
        <p:spPr>
          <a:xfrm>
            <a:off x="10570464" y="1005840"/>
            <a:ext cx="640080" cy="640080"/>
          </a:xfrm>
          <a:prstGeom prst="rect">
            <a:avLst/>
          </a:prstGeom>
          <a:noFill/>
          <a:ln/>
        </p:spPr>
        <p:txBody>
          <a:bodyPr wrap="square" lIns="0" tIns="0" rIns="0" bIns="0" rtlCol="0" anchor="ctr"/>
          <a:lstStyle/>
          <a:p>
            <a:pPr marL="0" indent="0" algn="ctr">
              <a:buNone/>
            </a:pPr>
            <a:r>
              <a:rPr lang="en-US" sz="2200" dirty="0">
                <a:solidFill>
                  <a:srgbClr val="2C2C2C"/>
                </a:solidFill>
                <a:latin typeface="Calibri" pitchFamily="34" charset="0"/>
                <a:ea typeface="Calibri" pitchFamily="34" charset="-122"/>
                <a:cs typeface="Calibri" pitchFamily="34" charset="-120"/>
              </a:rPr>
              <a:t>5</a:t>
            </a:r>
            <a:endParaRPr lang="en-US" sz="2200" dirty="0"/>
          </a:p>
        </p:txBody>
      </p:sp>
      <p:sp>
        <p:nvSpPr>
          <p:cNvPr id="30" name="Text 28">
            <a:extLst>
              <a:ext uri="{FF2B5EF4-FFF2-40B4-BE49-F238E27FC236}">
                <a16:creationId xmlns:a16="http://schemas.microsoft.com/office/drawing/2014/main" id="{5572B87B-668F-EA77-32AE-2C24E0F26E33}"/>
              </a:ext>
            </a:extLst>
          </p:cNvPr>
          <p:cNvSpPr/>
          <p:nvPr/>
        </p:nvSpPr>
        <p:spPr>
          <a:xfrm>
            <a:off x="9875520" y="1783080"/>
            <a:ext cx="2029968" cy="45720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Get result</a:t>
            </a:r>
            <a:endParaRPr lang="en-US" sz="2400" dirty="0"/>
          </a:p>
        </p:txBody>
      </p:sp>
      <p:sp>
        <p:nvSpPr>
          <p:cNvPr id="31" name="Text 29">
            <a:extLst>
              <a:ext uri="{FF2B5EF4-FFF2-40B4-BE49-F238E27FC236}">
                <a16:creationId xmlns:a16="http://schemas.microsoft.com/office/drawing/2014/main" id="{48E50F2A-FCED-4D77-3AEE-7F03EC869B86}"/>
              </a:ext>
            </a:extLst>
          </p:cNvPr>
          <p:cNvSpPr/>
          <p:nvPr/>
        </p:nvSpPr>
        <p:spPr>
          <a:xfrm>
            <a:off x="9893808" y="2331720"/>
            <a:ext cx="1993392" cy="146304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Take the finished output.</a:t>
            </a:r>
            <a:endParaRPr lang="en-US" sz="2000" dirty="0"/>
          </a:p>
        </p:txBody>
      </p:sp>
      <p:sp>
        <p:nvSpPr>
          <p:cNvPr id="32" name="Text 30">
            <a:extLst>
              <a:ext uri="{FF2B5EF4-FFF2-40B4-BE49-F238E27FC236}">
                <a16:creationId xmlns:a16="http://schemas.microsoft.com/office/drawing/2014/main" id="{0C6505AB-8ADE-E116-61B7-26840E31EF86}"/>
              </a:ext>
            </a:extLst>
          </p:cNvPr>
          <p:cNvSpPr/>
          <p:nvPr/>
        </p:nvSpPr>
        <p:spPr>
          <a:xfrm>
            <a:off x="548640" y="4251960"/>
            <a:ext cx="11064240" cy="82296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Three ways to wait: one reply, live updates, or a later notice. Three roles: user, your agent, their agent.</a:t>
            </a:r>
            <a:endParaRPr lang="en-US" sz="2000" dirty="0"/>
          </a:p>
        </p:txBody>
      </p:sp>
    </p:spTree>
    <p:extLst>
      <p:ext uri="{BB962C8B-B14F-4D97-AF65-F5344CB8AC3E}">
        <p14:creationId xmlns:p14="http://schemas.microsoft.com/office/powerpoint/2010/main" val="1930050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11064240" cy="438912"/>
          </a:xfrm>
          <a:prstGeom prst="rect">
            <a:avLst/>
          </a:prstGeom>
          <a:noFill/>
          <a:ln/>
        </p:spPr>
        <p:txBody>
          <a:bodyPr wrap="square" lIns="0" tIns="0" rIns="0" bIns="0" rtlCol="0" anchor="ctr"/>
          <a:lstStyle/>
          <a:p>
            <a:pPr marL="0" indent="0">
              <a:buNone/>
            </a:pPr>
            <a:r>
              <a:rPr lang="en-US" sz="3000" dirty="0">
                <a:solidFill>
                  <a:srgbClr val="2C2C2C"/>
                </a:solidFill>
                <a:latin typeface="Calibri" pitchFamily="34" charset="0"/>
                <a:ea typeface="Calibri" pitchFamily="34" charset="-122"/>
                <a:cs typeface="Calibri" pitchFamily="34" charset="-120"/>
              </a:rPr>
              <a:t>When the other agent is not yours</a:t>
            </a:r>
            <a:endParaRPr lang="en-US" sz="3000" dirty="0"/>
          </a:p>
        </p:txBody>
      </p:sp>
      <p:sp>
        <p:nvSpPr>
          <p:cNvPr id="3" name="Shape 1"/>
          <p:cNvSpPr/>
          <p:nvPr/>
        </p:nvSpPr>
        <p:spPr>
          <a:xfrm>
            <a:off x="502920" y="822960"/>
            <a:ext cx="4800600" cy="3063240"/>
          </a:xfrm>
          <a:prstGeom prst="roundRect">
            <a:avLst>
              <a:gd name="adj" fmla="val 2388"/>
            </a:avLst>
          </a:prstGeom>
          <a:solidFill>
            <a:srgbClr val="C5DDF0"/>
          </a:solidFill>
          <a:ln/>
        </p:spPr>
        <p:txBody>
          <a:bodyPr/>
          <a:lstStyle/>
          <a:p>
            <a:endParaRPr lang="en-GB"/>
          </a:p>
        </p:txBody>
      </p:sp>
      <p:sp>
        <p:nvSpPr>
          <p:cNvPr id="4" name="Text 2"/>
          <p:cNvSpPr/>
          <p:nvPr/>
        </p:nvSpPr>
        <p:spPr>
          <a:xfrm>
            <a:off x="667512" y="950976"/>
            <a:ext cx="447141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Your company</a:t>
            </a:r>
            <a:endParaRPr lang="en-US" sz="2800" dirty="0"/>
          </a:p>
        </p:txBody>
      </p:sp>
      <p:sp>
        <p:nvSpPr>
          <p:cNvPr id="5" name="Text 3"/>
          <p:cNvSpPr/>
          <p:nvPr/>
        </p:nvSpPr>
        <p:spPr>
          <a:xfrm>
            <a:off x="667512" y="1389888"/>
            <a:ext cx="4471416" cy="233172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Your agent, your tools, your data. The other side should not see these.</a:t>
            </a:r>
            <a:endParaRPr lang="en-US" sz="2000" dirty="0"/>
          </a:p>
        </p:txBody>
      </p:sp>
      <p:sp>
        <p:nvSpPr>
          <p:cNvPr id="6" name="Shape 4"/>
          <p:cNvSpPr/>
          <p:nvPr/>
        </p:nvSpPr>
        <p:spPr>
          <a:xfrm>
            <a:off x="6903720" y="822960"/>
            <a:ext cx="4800600" cy="3063240"/>
          </a:xfrm>
          <a:prstGeom prst="roundRect">
            <a:avLst>
              <a:gd name="adj" fmla="val 2388"/>
            </a:avLst>
          </a:prstGeom>
          <a:solidFill>
            <a:srgbClr val="F6D6C6"/>
          </a:solidFill>
          <a:ln/>
        </p:spPr>
        <p:txBody>
          <a:bodyPr/>
          <a:lstStyle/>
          <a:p>
            <a:endParaRPr lang="en-GB"/>
          </a:p>
        </p:txBody>
      </p:sp>
      <p:sp>
        <p:nvSpPr>
          <p:cNvPr id="7" name="Text 5"/>
          <p:cNvSpPr/>
          <p:nvPr/>
        </p:nvSpPr>
        <p:spPr>
          <a:xfrm>
            <a:off x="7068312" y="950976"/>
            <a:ext cx="4471416" cy="420624"/>
          </a:xfrm>
          <a:prstGeom prst="rect">
            <a:avLst/>
          </a:prstGeom>
          <a:noFill/>
          <a:ln/>
        </p:spPr>
        <p:txBody>
          <a:bodyPr wrap="square" lIns="0" tIns="0" rIns="0" bIns="0" rtlCol="0" anchor="ctr"/>
          <a:lstStyle/>
          <a:p>
            <a:pPr marL="0" indent="0">
              <a:buNone/>
            </a:pPr>
            <a:r>
              <a:rPr lang="en-US" sz="2800" dirty="0">
                <a:solidFill>
                  <a:srgbClr val="2C2C2C"/>
                </a:solidFill>
                <a:latin typeface="Calibri" pitchFamily="34" charset="0"/>
                <a:ea typeface="Calibri" pitchFamily="34" charset="-122"/>
                <a:cs typeface="Calibri" pitchFamily="34" charset="-120"/>
              </a:rPr>
              <a:t>Their company</a:t>
            </a:r>
            <a:endParaRPr lang="en-US" sz="2800" dirty="0"/>
          </a:p>
        </p:txBody>
      </p:sp>
      <p:sp>
        <p:nvSpPr>
          <p:cNvPr id="8" name="Text 6"/>
          <p:cNvSpPr/>
          <p:nvPr/>
        </p:nvSpPr>
        <p:spPr>
          <a:xfrm>
            <a:off x="7068312" y="1389888"/>
            <a:ext cx="4471416" cy="233172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Their agent, their tools, their data. You should not see these.</a:t>
            </a:r>
            <a:endParaRPr lang="en-US" sz="2000" dirty="0"/>
          </a:p>
        </p:txBody>
      </p:sp>
      <p:sp>
        <p:nvSpPr>
          <p:cNvPr id="9" name="Shape 7"/>
          <p:cNvSpPr/>
          <p:nvPr/>
        </p:nvSpPr>
        <p:spPr>
          <a:xfrm>
            <a:off x="3897429" y="2926080"/>
            <a:ext cx="4251960" cy="1143000"/>
          </a:xfrm>
          <a:prstGeom prst="roundRect">
            <a:avLst>
              <a:gd name="adj" fmla="val 6400"/>
            </a:avLst>
          </a:prstGeom>
          <a:solidFill>
            <a:srgbClr val="DDD0EE"/>
          </a:solidFill>
          <a:ln/>
        </p:spPr>
        <p:txBody>
          <a:bodyPr/>
          <a:lstStyle/>
          <a:p>
            <a:endParaRPr lang="en-GB"/>
          </a:p>
        </p:txBody>
      </p:sp>
      <p:sp>
        <p:nvSpPr>
          <p:cNvPr id="10" name="Text 8"/>
          <p:cNvSpPr/>
          <p:nvPr/>
        </p:nvSpPr>
        <p:spPr>
          <a:xfrm>
            <a:off x="3977640" y="3123799"/>
            <a:ext cx="4251960" cy="365760"/>
          </a:xfrm>
          <a:prstGeom prst="rect">
            <a:avLst/>
          </a:prstGeom>
          <a:noFill/>
          <a:ln/>
        </p:spPr>
        <p:txBody>
          <a:bodyPr wrap="square" lIns="0" tIns="0" rIns="0" bIns="0" rtlCol="0" anchor="ctr"/>
          <a:lstStyle/>
          <a:p>
            <a:pPr marL="0" indent="0" algn="ctr">
              <a:buNone/>
            </a:pPr>
            <a:r>
              <a:rPr lang="en-US" sz="2400" dirty="0">
                <a:solidFill>
                  <a:srgbClr val="2C2C2C"/>
                </a:solidFill>
                <a:latin typeface="Calibri" pitchFamily="34" charset="0"/>
                <a:ea typeface="Calibri" pitchFamily="34" charset="-122"/>
                <a:cs typeface="Calibri" pitchFamily="34" charset="-120"/>
              </a:rPr>
              <a:t>A2A path</a:t>
            </a:r>
            <a:endParaRPr lang="en-US" sz="2400" dirty="0"/>
          </a:p>
        </p:txBody>
      </p:sp>
      <p:sp>
        <p:nvSpPr>
          <p:cNvPr id="11" name="Text 9"/>
          <p:cNvSpPr/>
          <p:nvPr/>
        </p:nvSpPr>
        <p:spPr>
          <a:xfrm>
            <a:off x="4059936" y="3471111"/>
            <a:ext cx="4251960" cy="457200"/>
          </a:xfrm>
          <a:prstGeom prst="rect">
            <a:avLst/>
          </a:prstGeom>
          <a:noFill/>
          <a:ln/>
        </p:spPr>
        <p:txBody>
          <a:bodyPr wrap="square" lIns="0" tIns="0" rIns="0" bIns="0" rtlCol="0" anchor="ctr"/>
          <a:lstStyle/>
          <a:p>
            <a:pPr marL="0" indent="0" algn="ctr">
              <a:buNone/>
            </a:pPr>
            <a:r>
              <a:rPr lang="en-US" sz="2000" dirty="0">
                <a:solidFill>
                  <a:srgbClr val="4A4A4A"/>
                </a:solidFill>
                <a:latin typeface="Calibri" pitchFamily="34" charset="0"/>
                <a:ea typeface="Calibri" pitchFamily="34" charset="-122"/>
                <a:cs typeface="Calibri" pitchFamily="34" charset="-120"/>
              </a:rPr>
              <a:t>Job and result only</a:t>
            </a:r>
            <a:endParaRPr lang="en-US" sz="2000" dirty="0"/>
          </a:p>
        </p:txBody>
      </p:sp>
      <p:sp>
        <p:nvSpPr>
          <p:cNvPr id="12" name="Text 10"/>
          <p:cNvSpPr/>
          <p:nvPr/>
        </p:nvSpPr>
        <p:spPr>
          <a:xfrm>
            <a:off x="548640" y="4114800"/>
            <a:ext cx="11064240" cy="1005840"/>
          </a:xfrm>
          <a:prstGeom prst="rect">
            <a:avLst/>
          </a:prstGeom>
          <a:noFill/>
          <a:ln/>
        </p:spPr>
        <p:txBody>
          <a:bodyPr wrap="square" lIns="0" tIns="0" rIns="0" bIns="0" rtlCol="0" anchor="ctr"/>
          <a:lstStyle/>
          <a:p>
            <a:pPr marL="0" indent="0">
              <a:buNone/>
            </a:pPr>
            <a:r>
              <a:rPr lang="en-US" sz="2000" dirty="0">
                <a:solidFill>
                  <a:srgbClr val="4A4A4A"/>
                </a:solidFill>
                <a:latin typeface="Calibri" pitchFamily="34" charset="0"/>
                <a:ea typeface="Calibri" pitchFamily="34" charset="-122"/>
                <a:cs typeface="Calibri" pitchFamily="34" charset="-120"/>
              </a:rPr>
              <a:t>You will not get their code. That is why login, permission, and this narrow path sit in the shared rules.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502920"/>
          </a:xfrm>
          <a:prstGeom prst="rect">
            <a:avLst/>
          </a:prstGeom>
          <a:noFill/>
          <a:ln/>
        </p:spPr>
        <p:txBody>
          <a:bodyPr wrap="square" lIns="0" tIns="0" rIns="0" bIns="0" rtlCol="0" anchor="ctr"/>
          <a:lstStyle/>
          <a:p>
            <a:pPr marL="0" indent="0">
              <a:buNone/>
            </a:pPr>
            <a:r>
              <a:rPr lang="en-US" sz="3400" dirty="0">
                <a:solidFill>
                  <a:srgbClr val="2C2C2C"/>
                </a:solidFill>
                <a:latin typeface="Calibri" pitchFamily="34" charset="0"/>
                <a:ea typeface="Calibri" pitchFamily="34" charset="-122"/>
                <a:cs typeface="Calibri" pitchFamily="34" charset="-120"/>
              </a:rPr>
              <a:t>How to start a POC</a:t>
            </a:r>
            <a:endParaRPr lang="en-US" sz="3400" dirty="0"/>
          </a:p>
        </p:txBody>
      </p:sp>
      <p:sp>
        <p:nvSpPr>
          <p:cNvPr id="3" name="Text 1"/>
          <p:cNvSpPr/>
          <p:nvPr/>
        </p:nvSpPr>
        <p:spPr>
          <a:xfrm>
            <a:off x="502920" y="960120"/>
            <a:ext cx="11155680" cy="749808"/>
          </a:xfrm>
          <a:prstGeom prst="rect">
            <a:avLst/>
          </a:prstGeom>
          <a:noFill/>
          <a:ln/>
        </p:spPr>
        <p:txBody>
          <a:bodyPr wrap="square" lIns="0" tIns="0" rIns="0" bIns="0" rtlCol="0" anchor="ctr"/>
          <a:lstStyle/>
          <a:p>
            <a:pPr marL="0" indent="0">
              <a:buNone/>
            </a:pPr>
            <a:r>
              <a:rPr lang="en-US" sz="2200" dirty="0">
                <a:solidFill>
                  <a:srgbClr val="2C2C2C"/>
                </a:solidFill>
                <a:latin typeface="Calibri" pitchFamily="34" charset="0"/>
                <a:ea typeface="Calibri" pitchFamily="34" charset="-122"/>
                <a:cs typeface="Calibri" pitchFamily="34" charset="-120"/>
              </a:rPr>
              <a:t>1.  Publish an Agent Card with a real login method. Not open access.</a:t>
            </a:r>
            <a:endParaRPr lang="en-US" sz="2200" dirty="0"/>
          </a:p>
        </p:txBody>
      </p:sp>
      <p:sp>
        <p:nvSpPr>
          <p:cNvPr id="4" name="Text 2"/>
          <p:cNvSpPr/>
          <p:nvPr/>
        </p:nvSpPr>
        <p:spPr>
          <a:xfrm>
            <a:off x="502920" y="1801368"/>
            <a:ext cx="11155680" cy="749808"/>
          </a:xfrm>
          <a:prstGeom prst="rect">
            <a:avLst/>
          </a:prstGeom>
          <a:noFill/>
          <a:ln/>
        </p:spPr>
        <p:txBody>
          <a:bodyPr wrap="square" lIns="0" tIns="0" rIns="0" bIns="0" rtlCol="0" anchor="ctr"/>
          <a:lstStyle/>
          <a:p>
            <a:pPr marL="0" indent="0">
              <a:buNone/>
            </a:pPr>
            <a:r>
              <a:rPr lang="en-US" sz="2200" dirty="0">
                <a:solidFill>
                  <a:srgbClr val="2C2C2C"/>
                </a:solidFill>
                <a:latin typeface="Calibri" pitchFamily="34" charset="0"/>
                <a:ea typeface="Calibri" pitchFamily="34" charset="-122"/>
                <a:cs typeface="Calibri" pitchFamily="34" charset="-120"/>
              </a:rPr>
              <a:t>2.  Keep a private list of partners you trust.</a:t>
            </a:r>
            <a:endParaRPr lang="en-US" sz="2200" dirty="0"/>
          </a:p>
        </p:txBody>
      </p:sp>
      <p:sp>
        <p:nvSpPr>
          <p:cNvPr id="5" name="Text 3"/>
          <p:cNvSpPr/>
          <p:nvPr/>
        </p:nvSpPr>
        <p:spPr>
          <a:xfrm>
            <a:off x="502920" y="2642616"/>
            <a:ext cx="11155680" cy="749808"/>
          </a:xfrm>
          <a:prstGeom prst="rect">
            <a:avLst/>
          </a:prstGeom>
          <a:noFill/>
          <a:ln/>
        </p:spPr>
        <p:txBody>
          <a:bodyPr wrap="square" lIns="0" tIns="0" rIns="0" bIns="0" rtlCol="0" anchor="ctr"/>
          <a:lstStyle/>
          <a:p>
            <a:pPr marL="0" indent="0">
              <a:buNone/>
            </a:pPr>
            <a:r>
              <a:rPr lang="en-US" sz="2200" dirty="0">
                <a:solidFill>
                  <a:srgbClr val="2C2C2C"/>
                </a:solidFill>
                <a:latin typeface="Calibri" pitchFamily="34" charset="0"/>
                <a:ea typeface="Calibri" pitchFamily="34" charset="-122"/>
                <a:cs typeface="Calibri" pitchFamily="34" charset="-120"/>
              </a:rPr>
              <a:t>3.  Use the login system you already have. A2A does not replace it.</a:t>
            </a:r>
            <a:endParaRPr lang="en-US" sz="2200" dirty="0"/>
          </a:p>
        </p:txBody>
      </p:sp>
      <p:sp>
        <p:nvSpPr>
          <p:cNvPr id="6" name="Text 4"/>
          <p:cNvSpPr/>
          <p:nvPr/>
        </p:nvSpPr>
        <p:spPr>
          <a:xfrm>
            <a:off x="502920" y="3483864"/>
            <a:ext cx="11155680" cy="749808"/>
          </a:xfrm>
          <a:prstGeom prst="rect">
            <a:avLst/>
          </a:prstGeom>
          <a:noFill/>
          <a:ln/>
        </p:spPr>
        <p:txBody>
          <a:bodyPr wrap="square" lIns="0" tIns="0" rIns="0" bIns="0" rtlCol="0" anchor="ctr"/>
          <a:lstStyle/>
          <a:p>
            <a:pPr marL="0" indent="0">
              <a:buNone/>
            </a:pPr>
            <a:r>
              <a:rPr lang="en-US" sz="2200" dirty="0">
                <a:solidFill>
                  <a:srgbClr val="2C2C2C"/>
                </a:solidFill>
                <a:latin typeface="Calibri" pitchFamily="34" charset="0"/>
                <a:ea typeface="Calibri" pitchFamily="34" charset="-122"/>
                <a:cs typeface="Calibri" pitchFamily="34" charset="-120"/>
              </a:rPr>
              <a:t>4.  Run one sample server. Send one message. Then try live updates.</a:t>
            </a:r>
            <a:endParaRPr lang="en-US" sz="2200" dirty="0"/>
          </a:p>
        </p:txBody>
      </p:sp>
      <p:sp>
        <p:nvSpPr>
          <p:cNvPr id="7" name="Text 5"/>
          <p:cNvSpPr/>
          <p:nvPr/>
        </p:nvSpPr>
        <p:spPr>
          <a:xfrm>
            <a:off x="502920" y="4325112"/>
            <a:ext cx="11155680" cy="749808"/>
          </a:xfrm>
          <a:prstGeom prst="rect">
            <a:avLst/>
          </a:prstGeom>
          <a:noFill/>
          <a:ln/>
        </p:spPr>
        <p:txBody>
          <a:bodyPr wrap="square" lIns="0" tIns="0" rIns="0" bIns="0" rtlCol="0" anchor="ctr"/>
          <a:lstStyle/>
          <a:p>
            <a:pPr marL="0" indent="0">
              <a:buNone/>
            </a:pPr>
            <a:r>
              <a:rPr lang="en-US" sz="2200" dirty="0">
                <a:solidFill>
                  <a:srgbClr val="2C2C2C"/>
                </a:solidFill>
                <a:latin typeface="Calibri" pitchFamily="34" charset="0"/>
                <a:ea typeface="Calibri" pitchFamily="34" charset="-122"/>
                <a:cs typeface="Calibri" pitchFamily="34" charset="-120"/>
              </a:rPr>
              <a:t>5.  Start with one simple read skill. Add write or pay later.</a:t>
            </a:r>
            <a:endParaRPr lang="en-US" sz="2200" dirty="0"/>
          </a:p>
        </p:txBody>
      </p:sp>
      <p:sp>
        <p:nvSpPr>
          <p:cNvPr id="8" name="Text 6"/>
          <p:cNvSpPr/>
          <p:nvPr/>
        </p:nvSpPr>
        <p:spPr>
          <a:xfrm>
            <a:off x="502920" y="5166360"/>
            <a:ext cx="11155680" cy="749808"/>
          </a:xfrm>
          <a:prstGeom prst="rect">
            <a:avLst/>
          </a:prstGeom>
          <a:noFill/>
          <a:ln/>
        </p:spPr>
        <p:txBody>
          <a:bodyPr wrap="square" lIns="0" tIns="0" rIns="0" bIns="0" rtlCol="0" anchor="ctr"/>
          <a:lstStyle/>
          <a:p>
            <a:r>
              <a:rPr lang="en-US" sz="2200" dirty="0">
                <a:solidFill>
                  <a:srgbClr val="2C2C2C"/>
                </a:solidFill>
                <a:latin typeface="Calibri" pitchFamily="34" charset="0"/>
                <a:ea typeface="Calibri" pitchFamily="34" charset="-122"/>
                <a:cs typeface="Calibri" pitchFamily="34" charset="-120"/>
              </a:rPr>
              <a:t>6.  Read a2a-protocol.org, agent2agent.info and the enterprise ready page.</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8BB51A-8712-40FA-777B-54A24A213493}"/>
              </a:ext>
            </a:extLst>
          </p:cNvPr>
          <p:cNvSpPr txBox="1"/>
          <p:nvPr/>
        </p:nvSpPr>
        <p:spPr>
          <a:xfrm>
            <a:off x="4733736" y="2782669"/>
            <a:ext cx="2724528" cy="646331"/>
          </a:xfrm>
          <a:prstGeom prst="rect">
            <a:avLst/>
          </a:prstGeom>
          <a:noFill/>
        </p:spPr>
        <p:txBody>
          <a:bodyPr wrap="none" rtlCol="0">
            <a:spAutoFit/>
          </a:bodyPr>
          <a:lstStyle/>
          <a:p>
            <a:pPr algn="ctr"/>
            <a:r>
              <a:rPr lang="en-US" sz="3600" dirty="0"/>
              <a:t>Takk for meg!</a:t>
            </a:r>
          </a:p>
        </p:txBody>
      </p:sp>
    </p:spTree>
    <p:extLst>
      <p:ext uri="{BB962C8B-B14F-4D97-AF65-F5344CB8AC3E}">
        <p14:creationId xmlns:p14="http://schemas.microsoft.com/office/powerpoint/2010/main" val="3122066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8141450-2387-4aca-b41f-19cd6be9dd3c}" enabled="1" method="Standard" siteId="{adf10e2b-b6e9-41d6-be2f-c12bb566019c}" contentBits="0" removed="0"/>
</clbl:labelList>
</file>

<file path=docProps/app.xml><?xml version="1.0" encoding="utf-8"?>
<Properties xmlns="http://schemas.openxmlformats.org/officeDocument/2006/extended-properties" xmlns:vt="http://schemas.openxmlformats.org/officeDocument/2006/docPropsVTypes">
  <TotalTime>618</TotalTime>
  <Words>4166</Words>
  <Application>Microsoft Macintosh PowerPoint</Application>
  <PresentationFormat>Widescreen</PresentationFormat>
  <Paragraphs>212</Paragraphs>
  <Slides>22</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anthropic-sans</vt: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Protocol Briefing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Agent2Agent Protocol</dc:title>
  <dc:subject>PptxGenJS Presentation</dc:subject>
  <dc:creator>A2A Briefing</dc:creator>
  <cp:lastModifiedBy>Devlin Duldulao</cp:lastModifiedBy>
  <cp:revision>43</cp:revision>
  <dcterms:created xsi:type="dcterms:W3CDTF">2026-09-26T10:47:43Z</dcterms:created>
  <dcterms:modified xsi:type="dcterms:W3CDTF">2026-09-27T22:33:14Z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nfoFinished">
    <vt:lpwstr>True</vt:lpwstr>
  </property>
  <property fmtid="{D5CDD505-2E9C-101B-9397-08002B2CF9AE}" pid="3" name="MSIP_Label_178c0f71-65dc-41d1-a799-91080a268621_Enabled">
    <vt:lpwstr>true</vt:lpwstr>
  </property>
  <property fmtid="{D5CDD505-2E9C-101B-9397-08002B2CF9AE}" pid="4" name="MSIP_Label_178c0f71-65dc-41d1-a799-91080a268621_SetDate">
    <vt:lpwstr>2026-09-27T12:12:04Z</vt:lpwstr>
  </property>
  <property fmtid="{D5CDD505-2E9C-101B-9397-08002B2CF9AE}" pid="5" name="MSIP_Label_178c0f71-65dc-41d1-a799-91080a268621_Method">
    <vt:lpwstr>Standard</vt:lpwstr>
  </property>
  <property fmtid="{D5CDD505-2E9C-101B-9397-08002B2CF9AE}" pid="6" name="MSIP_Label_178c0f71-65dc-41d1-a799-91080a268621_Name">
    <vt:lpwstr>Internal - Crayon Group Only</vt:lpwstr>
  </property>
  <property fmtid="{D5CDD505-2E9C-101B-9397-08002B2CF9AE}" pid="7" name="MSIP_Label_178c0f71-65dc-41d1-a799-91080a268621_SiteId">
    <vt:lpwstr>8f47ad71-44ca-48bf-afe3-56b9360a4495</vt:lpwstr>
  </property>
  <property fmtid="{D5CDD505-2E9C-101B-9397-08002B2CF9AE}" pid="8" name="MSIP_Label_178c0f71-65dc-41d1-a799-91080a268621_ActionId">
    <vt:lpwstr>eae358fe-46eb-4ab2-8262-64185719a935</vt:lpwstr>
  </property>
  <property fmtid="{D5CDD505-2E9C-101B-9397-08002B2CF9AE}" pid="9" name="MSIP_Label_178c0f71-65dc-41d1-a799-91080a268621_ContentBits">
    <vt:lpwstr>2</vt:lpwstr>
  </property>
  <property fmtid="{D5CDD505-2E9C-101B-9397-08002B2CF9AE}" pid="10" name="MSIP_Label_178c0f71-65dc-41d1-a799-91080a268621_Tag">
    <vt:lpwstr>50, 3, 0, 1</vt:lpwstr>
  </property>
  <property fmtid="{D5CDD505-2E9C-101B-9397-08002B2CF9AE}" pid="11" name="ClassificationContentMarkingFooterLocations">
    <vt:lpwstr>Office Theme:3</vt:lpwstr>
  </property>
  <property fmtid="{D5CDD505-2E9C-101B-9397-08002B2CF9AE}" pid="12" name="ClassificationContentMarkingFooterText">
    <vt:lpwstr>Internal Only</vt:lpwstr>
  </property>
</Properties>
</file>
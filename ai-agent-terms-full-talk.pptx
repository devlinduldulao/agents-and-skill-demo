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heme/theme2.xml" ContentType="application/vnd.openxmlformats-officedocument.theme+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0776" autoAdjust="0"/>
  </p:normalViewPr>
  <p:slideViewPr>
    <p:cSldViewPr snapToGrid="0">
      <p:cViewPr varScale="1">
        <p:scale>
          <a:sx n="77" d="100"/>
          <a:sy n="77" d="100"/>
        </p:scale>
        <p:origin x="883"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Good morning. My name is Devlin Duldulao, and for the next forty minutes I want to give you a vocabulary.</a:t>
            </a:r>
          </a:p>
          <a:p>
            <a:endParaRPr lang="en-GB" sz="1600"/>
          </a:p>
          <a:p>
            <a:r>
              <a:rPr lang="en-GB" sz="1600" dirty="0"/>
              <a:t>Here is the problem I keep running into. Somebody says the word "agent" in a meeting, and five people in the room hear five different things. One of them is thinking about a chatbot. One is thinking about a script with a while-loop in it. One is thinking about fine-tuning. And the conversation goes nowhere, because nobody has named the parts.</a:t>
            </a:r>
          </a:p>
          <a:p>
            <a:endParaRPr lang="en-GB" sz="1600"/>
          </a:p>
          <a:p>
            <a:r>
              <a:rPr lang="en-GB" sz="1600" dirty="0"/>
              <a:t>So today we are going to name the parts. Five terms. AGENTS.md. Agent skills. MCP. A2A. And subagents. Every one of them has a live demo in .NET running on this machine, so you will see real code, not a box diagram.</a:t>
            </a:r>
          </a:p>
          <a:p>
            <a:endParaRPr lang="en-GB" sz="1600"/>
          </a:p>
          <a:p>
            <a:r>
              <a:rPr lang="en-GB" sz="1600" dirty="0"/>
              <a:t>But I am not going to start there. Because if I start there, the five terms are just trivia you forget on the train home.</a:t>
            </a:r>
          </a:p>
          <a:p>
            <a:endParaRPr lang="en-GB" sz="1600"/>
          </a:p>
          <a:p>
            <a:r>
              <a:rPr lang="en-GB" sz="1600" dirty="0"/>
              <a:t>So we are going to spend the first five minutes on how we got here. On why the answer to "make the model do what we want" stopped being "train it" and became "write it a file".</a:t>
            </a:r>
          </a:p>
          <a:p>
            <a:endParaRPr lang="en-GB" sz="1600"/>
          </a:p>
          <a:p>
            <a:r>
              <a:rPr lang="en-GB" sz="1600" dirty="0"/>
              <a:t>Three acts. How we got here. The five terms. And then, right at the end, one habit that I think matters more than any single term I am about to define.</a:t>
            </a:r>
          </a:p>
          <a:p>
            <a:endParaRPr lang="en-GB" sz="1600"/>
          </a:p>
          <a:p>
            <a:r>
              <a:rPr lang="en-GB" sz="1600" dirty="0"/>
              <a:t>Let's go back to 2023.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In 2023, a well-known legal AI company decided that a general-purpose model was not good enough for legal work.</a:t>
            </a:r>
          </a:p>
          <a:p>
            <a:endParaRPr lang="en-GB" sz="1600"/>
          </a:p>
          <a:p>
            <a:r>
              <a:rPr lang="en-GB" sz="1600" dirty="0"/>
              <a:t>So they partnered with a frontier lab, and they built their own. They fine-tuned a custom model on legal data.</a:t>
            </a:r>
          </a:p>
          <a:p>
            <a:endParaRPr lang="en-GB" sz="1600"/>
          </a:p>
          <a:p>
            <a:r>
              <a:rPr lang="en-GB" sz="1600" dirty="0"/>
              <a:t>Then they ran blind tests. Real attorneys. Given output from the custom model, and output from GPT-4, which at the time was the best model on earth. Not told which was which.</a:t>
            </a:r>
          </a:p>
          <a:p>
            <a:endParaRPr lang="en-GB" sz="1600"/>
          </a:p>
          <a:p>
            <a:r>
              <a:rPr lang="en-GB" sz="1600" dirty="0"/>
              <a:t>The attorneys preferred the custom model. Ninety-seven percent of the time.</a:t>
            </a:r>
          </a:p>
          <a:p>
            <a:endParaRPr lang="en-GB" sz="1600"/>
          </a:p>
          <a:p>
            <a:r>
              <a:rPr lang="en-GB" sz="1600" dirty="0"/>
              <a:t>Ninety-seven. That is not a close call. That is a rout.</a:t>
            </a:r>
          </a:p>
          <a:p>
            <a:endParaRPr lang="en-GB" sz="1600"/>
          </a:p>
          <a:p>
            <a:r>
              <a:rPr lang="en-GB" sz="1600" dirty="0"/>
              <a:t>And the lesson looked completely obvious. If the general model is not quite right for your domain, train your own. That was correct advice in 2023. Good engineers, real evidence, right in front of them.</a:t>
            </a:r>
          </a:p>
          <a:p>
            <a:endParaRPr lang="en-GB" sz="1600"/>
          </a:p>
          <a:p>
            <a:r>
              <a:rPr lang="en-GB" sz="1600" dirty="0"/>
              <a:t>I want you to hold on to how convincing that number feels.</a:t>
            </a:r>
          </a:p>
          <a:p>
            <a:endParaRPr lang="en-GB" sz="1600"/>
          </a:p>
          <a:p>
            <a:r>
              <a:rPr lang="en-GB" sz="1600" dirty="0"/>
              <a:t>Because it does not survive.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Two years later, the same company did something genuinely admirable. They built and published their own legal benchmark. A real measurement of how well a model does actual legal work.</a:t>
            </a:r>
          </a:p>
          <a:p>
            <a:endParaRPr lang="en-GB" sz="1600"/>
          </a:p>
          <a:p>
            <a:r>
              <a:rPr lang="en-GB" sz="1600" dirty="0"/>
              <a:t>And then they ran their own custom model against the current crop of frontier models.</a:t>
            </a:r>
          </a:p>
          <a:p>
            <a:endParaRPr lang="en-GB" sz="1600"/>
          </a:p>
          <a:p>
            <a:r>
              <a:rPr lang="en-GB" sz="1600" dirty="0"/>
              <a:t>Seven of the general-purpose models beat it.</a:t>
            </a:r>
          </a:p>
          <a:p>
            <a:endParaRPr lang="en-GB" sz="1600"/>
          </a:p>
          <a:p>
            <a:r>
              <a:rPr lang="en-GB" sz="1600" dirty="0"/>
              <a:t>Seven. And not one of those seven had ever seen a legal document in training. No contracts, no case law, no domain data at all. They were just better.</a:t>
            </a:r>
          </a:p>
          <a:p>
            <a:endParaRPr lang="en-GB" sz="1600"/>
          </a:p>
          <a:p>
            <a:r>
              <a:rPr lang="en-GB" sz="1600" dirty="0"/>
              <a:t>The same thing happened to Bloomberg. They trained BloombergGPT from scratch on financial data. Serious, expensive, well-executed engineering. And later evaluations found GPT-4 beating it on many financial benchmarks.</a:t>
            </a:r>
          </a:p>
          <a:p>
            <a:endParaRPr lang="en-GB" sz="1600"/>
          </a:p>
          <a:p>
            <a:r>
              <a:rPr lang="en-GB" sz="1600" dirty="0"/>
              <a:t>Now, neither of those teams made a bad decision. I want to be clear about that. In 2023 they were right. The ground moved underneath them.</a:t>
            </a:r>
          </a:p>
          <a:p>
            <a:endParaRPr lang="en-GB" sz="1600"/>
          </a:p>
          <a:p>
            <a:r>
              <a:rPr lang="en-GB" sz="1600" dirty="0"/>
              <a:t>So the question is: why?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Three things happened at the same time.</a:t>
            </a:r>
          </a:p>
          <a:p>
            <a:endParaRPr lang="en-GB" sz="1600"/>
          </a:p>
          <a:p>
            <a:r>
              <a:rPr lang="en-GB" sz="1600" dirty="0"/>
              <a:t>Context windows exploded. GPT-3 held two thousand tokens. Today a frontier model reads a million. Think about what that changes. If the model can read five hundred pages of contracts directly in the prompt, why would you ever bake those documents into the weights?</a:t>
            </a:r>
          </a:p>
          <a:p>
            <a:endParaRPr lang="en-GB" sz="1600"/>
          </a:p>
          <a:p>
            <a:r>
              <a:rPr lang="en-GB" sz="1600" dirty="0"/>
              <a:t>Second, reasoning moved to inference time. The model now thinks when you ask the question. Not eight months earlier, when somebody ran a training job. That is a completely different axis of improvement, and fine-tuning does not sit on it.</a:t>
            </a:r>
          </a:p>
          <a:p>
            <a:endParaRPr lang="en-GB" sz="1600"/>
          </a:p>
          <a:p>
            <a:r>
              <a:rPr lang="en-GB" sz="1600" dirty="0"/>
              <a:t>And third, cost fell. And it keeps falling.</a:t>
            </a:r>
          </a:p>
          <a:p>
            <a:endParaRPr lang="en-GB" sz="1600"/>
          </a:p>
          <a:p>
            <a:r>
              <a:rPr lang="en-GB" sz="1600" dirty="0"/>
              <a:t>Put those three together and here is what it actually means for you. The baseline you are trying to beat gets better every few months, for free, while you sleep. Your fine-tuned model does not. It sits exactly where you left it.</a:t>
            </a:r>
          </a:p>
          <a:p>
            <a:endParaRPr lang="en-GB" sz="1600"/>
          </a:p>
          <a:p>
            <a:r>
              <a:rPr lang="en-GB" sz="1600" dirty="0"/>
              <a:t>A fine-tune is a snapshot. The frontier is a video.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So if you are not adjusting weights any more, how do you make a general model behave like a specialist? Like a legal scholar?</a:t>
            </a:r>
          </a:p>
          <a:p>
            <a:endParaRPr lang="en-GB" sz="1600"/>
          </a:p>
          <a:p>
            <a:r>
              <a:rPr lang="en-GB" sz="1600" dirty="0"/>
              <a:t>It turns out there is a whole stack for that, and none of it touches a weight.</a:t>
            </a:r>
          </a:p>
          <a:p>
            <a:endParaRPr lang="en-GB" sz="1600"/>
          </a:p>
          <a:p>
            <a:r>
              <a:rPr lang="en-GB" sz="1600" dirty="0"/>
              <a:t>If what is missing is facts, you retrieve them. You go and fetch the right documents at the moment of the question and put them in the prompt. That is RAG. It is fresh, you can cite the source, and it still respects who is allowed to see what. Try doing access control with weights. The weights do not know who you are.</a:t>
            </a:r>
          </a:p>
          <a:p>
            <a:endParaRPr lang="en-GB" sz="1600"/>
          </a:p>
          <a:p>
            <a:r>
              <a:rPr lang="en-GB" sz="1600" dirty="0"/>
              <a:t>If what is missing is framing, that is context engineering. Deciding, in code, exactly what the model sees when it is called. And just as importantly, what you leave out. Attention is finite. A full context window is not thoroughness, it is noise.</a:t>
            </a:r>
          </a:p>
          <a:p>
            <a:endParaRPr lang="en-GB" sz="1600"/>
          </a:p>
          <a:p>
            <a:r>
              <a:rPr lang="en-GB" sz="1600" dirty="0"/>
              <a:t>And if what is missing is know-how — how we do this here, the actual procedure — you write it down. That is a skill.</a:t>
            </a:r>
          </a:p>
          <a:p>
            <a:endParaRPr lang="en-GB" sz="1600"/>
          </a:p>
          <a:p>
            <a:r>
              <a:rPr lang="en-GB" sz="1600" dirty="0"/>
              <a:t>Three different problems. And people try to solve all three of them by training, which is a bit like using a hammer on all three because the only thing in your hand is a hammer.</a:t>
            </a:r>
          </a:p>
          <a:p>
            <a:endParaRPr lang="en-GB" sz="1600"/>
          </a:p>
          <a:p>
            <a:r>
              <a:rPr lang="en-GB" sz="1600" dirty="0"/>
              <a:t>None of them need training.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And this is the slide the whole talk hangs on.</a:t>
            </a:r>
          </a:p>
          <a:p>
            <a:endParaRPr lang="en-GB" sz="1600"/>
          </a:p>
          <a:p>
            <a:r>
              <a:rPr lang="en-GB" sz="1600" dirty="0"/>
              <a:t>Look at where those three things live. They are all above the weights. They are all files, or code, or prompts. Things you can change on a Tuesday afternoon and undo on Tuesday evening.</a:t>
            </a:r>
          </a:p>
          <a:p>
            <a:endParaRPr lang="en-GB" sz="1600"/>
          </a:p>
          <a:p>
            <a:r>
              <a:rPr lang="en-GB" sz="1600" dirty="0"/>
              <a:t>On the left: always on. That is AGENTS.md. A markdown file that lives in your repository, and the agent reads it every single session. How to build. How to run the tests. What a pull request looks like here.</a:t>
            </a:r>
          </a:p>
          <a:p>
            <a:endParaRPr lang="en-GB" sz="1600"/>
          </a:p>
          <a:p>
            <a:r>
              <a:rPr lang="en-GB" sz="1600" dirty="0"/>
              <a:t>In the middle: on demand. That is a skill. A SKILL.md file that only loads when the request actually matches it. If nobody asks about database migrations today, the migration instructions never enter the conversation at all.</a:t>
            </a:r>
          </a:p>
          <a:p>
            <a:endParaRPr lang="en-GB" sz="1600"/>
          </a:p>
          <a:p>
            <a:r>
              <a:rPr lang="en-GB" sz="1600" dirty="0"/>
              <a:t>And on the right, and only on the right: fine-tuning. I am not saying never. There are three reasons left and they are real — latency is a very good one. If a voice agent has to answer a phone call in real time, a big reasoning model is simply too slow. But that is a named bottleneck. It is not "the model does not know our domain". That reason expired.</a:t>
            </a:r>
          </a:p>
          <a:p>
            <a:endParaRPr lang="en-GB" sz="1600"/>
          </a:p>
          <a:p>
            <a:r>
              <a:rPr lang="en-GB" sz="1600" dirty="0"/>
              <a:t>Everything after this slide is a file, not a training run. And now you know why that is true, instead of just hearing me assert it.</a:t>
            </a:r>
          </a:p>
          <a:p>
            <a:endParaRPr lang="en-GB" sz="1600"/>
          </a:p>
          <a:p>
            <a:r>
              <a:rPr lang="en-GB" sz="1600" dirty="0"/>
              <a:t>Five terms. Starting with the boundary each one solves.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This is the map. If you photograph one slide today, photograph this one.</a:t>
            </a:r>
          </a:p>
          <a:p>
            <a:endParaRPr lang="en-GB" sz="1600"/>
          </a:p>
          <a:p>
            <a:r>
              <a:rPr lang="en-GB" sz="1600" dirty="0"/>
              <a:t>Every one of the five terms answers exactly one question, and the question is always about a boundary.</a:t>
            </a:r>
          </a:p>
          <a:p>
            <a:endParaRPr lang="en-GB" sz="1600"/>
          </a:p>
          <a:p>
            <a:r>
              <a:rPr lang="en-GB" sz="1600" dirty="0"/>
              <a:t>Inside the agent: behaviour. How does this thing know what we do here, how we work, what our conventions are? That is AGENTS.md, always on. And that is skills, loaded when the task needs them.</a:t>
            </a:r>
          </a:p>
          <a:p>
            <a:endParaRPr lang="en-GB" sz="1600"/>
          </a:p>
          <a:p>
            <a:r>
              <a:rPr lang="en-GB" sz="1600" dirty="0"/>
              <a:t>Outside the agent: interoperability. How does it reach a tool, a database, an API, or another agent that somebody else built without ever talking to you? That is MCP, and that is A2A.</a:t>
            </a:r>
          </a:p>
          <a:p>
            <a:endParaRPr lang="en-GB" sz="1600"/>
          </a:p>
          <a:p>
            <a:r>
              <a:rPr lang="en-GB" sz="1600" dirty="0"/>
              <a:t>And across the work: scale. What happens when the job is simply too big for one conversation? That is subagents.</a:t>
            </a:r>
          </a:p>
          <a:p>
            <a:endParaRPr lang="en-GB" sz="1600"/>
          </a:p>
          <a:p>
            <a:r>
              <a:rPr lang="en-GB" sz="1600" dirty="0"/>
              <a:t>Behaviour. Interoperability. Scale.</a:t>
            </a:r>
          </a:p>
          <a:p>
            <a:endParaRPr lang="en-GB" sz="1600"/>
          </a:p>
          <a:p>
            <a:r>
              <a:rPr lang="en-GB" sz="1600" dirty="0"/>
              <a:t>Here is why the map matters more than the definitions. When you can name the boundary out loud, picking the term becomes obvious. Almost every bad architecture decision I have seen in this space is somebody reaching for a protocol when what they actually needed was a paragraph of markdown.</a:t>
            </a:r>
          </a:p>
          <a:p>
            <a:endParaRPr lang="en-GB" sz="1600"/>
          </a:p>
          <a:p>
            <a:r>
              <a:rPr lang="en-GB" sz="1600" dirty="0"/>
              <a:t>Term one.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Term one: AGENTS dot md.</a:t>
            </a:r>
          </a:p>
          <a:p>
            <a:endParaRPr lang="en-GB" sz="1600"/>
          </a:p>
          <a:p>
            <a:r>
              <a:rPr lang="en-GB" sz="1600" dirty="0"/>
              <a:t>It is a markdown file. That is it. No framework, no SDK, no runtime, nothing to install. You drop a file called AGENTS.md into your repository, and any agent that supports the convention reads it before it starts working.</a:t>
            </a:r>
          </a:p>
          <a:p>
            <a:endParaRPr lang="en-GB" sz="1600"/>
          </a:p>
          <a:p>
            <a:r>
              <a:rPr lang="en-GB" sz="1600" dirty="0"/>
              <a:t>What goes in it? The things you would tell a new developer on their first day. This is how you build the project. These are the commands that run the tests. We use this naming convention. Do not touch the generated folder. Pull requests look like this.</a:t>
            </a:r>
          </a:p>
          <a:p>
            <a:endParaRPr lang="en-GB" sz="1600"/>
          </a:p>
          <a:p>
            <a:r>
              <a:rPr lang="en-GB" sz="1600" dirty="0"/>
              <a:t>Three things worth knowing.</a:t>
            </a:r>
          </a:p>
          <a:p>
            <a:endParaRPr lang="en-GB" sz="1600"/>
          </a:p>
          <a:p>
            <a:r>
              <a:rPr lang="en-GB" sz="1600" dirty="0"/>
              <a:t>First, it lives in the repo, right next to the code. Which means it goes through code review. It lives in git history. When a rule changes, that change is a commit like any other, with an author and a reason.</a:t>
            </a:r>
          </a:p>
          <a:p>
            <a:endParaRPr lang="en-GB" sz="1600"/>
          </a:p>
          <a:p>
            <a:r>
              <a:rPr lang="en-GB" sz="1600" dirty="0"/>
              <a:t>Second, it is always on. Every session, every task. There is no matching and no selection. If it is in the file, it is in the context. Remember that, because in about four minutes it becomes a bill.</a:t>
            </a:r>
          </a:p>
          <a:p>
            <a:endParaRPr lang="en-GB" sz="1600"/>
          </a:p>
          <a:p>
            <a:r>
              <a:rPr lang="en-GB" sz="1600" dirty="0"/>
              <a:t>And third — this is the part people miss — it nests. One at the root, another inside your services folder, another inside infrastructure. The deeper file refines the one above it. Exactly like layered configuration. appsettings.json, then appsettings.Production.json.</a:t>
            </a:r>
          </a:p>
          <a:p>
            <a:endParaRPr lang="en-GB" sz="1600"/>
          </a:p>
          <a:p>
            <a:r>
              <a:rPr lang="en-GB" sz="1600" dirty="0"/>
              <a:t>If you use Claude you have seen CLAUDE.md. Same idea, different filename. OpenAI put AGENTS.md forward as an open convention and it now sits under the Linux Foundation.</a:t>
            </a:r>
          </a:p>
          <a:p>
            <a:endParaRPr lang="en-GB" sz="1600"/>
          </a:p>
          <a:p>
            <a:r>
              <a:rPr lang="en-GB" sz="1600" dirty="0"/>
              <a:t>Let's run it.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[Switch to the terminal and run the command on screen.]</a:t>
            </a:r>
          </a:p>
          <a:p>
            <a:endParaRPr lang="en-GB" sz="1600"/>
          </a:p>
          <a:p>
            <a:r>
              <a:rPr lang="en-GB" sz="1600" dirty="0"/>
              <a:t>No model call here. Nothing is going over the network. This is about ten lines of C# that walks a directory tree upwards, collects every AGENTS.md it finds along the way, and then reverses the list.</a:t>
            </a:r>
          </a:p>
          <a:p>
            <a:endParaRPr lang="en-GB" sz="1600"/>
          </a:p>
          <a:p>
            <a:r>
              <a:rPr lang="en-GB" sz="1600" dirty="0"/>
              <a:t>Look at the output. The root instructions load first. The service-layer instructions load after them. General first, specific last — so the specific file gets the final word.</a:t>
            </a:r>
          </a:p>
          <a:p>
            <a:endParaRPr lang="en-GB" sz="1600"/>
          </a:p>
          <a:p>
            <a:r>
              <a:rPr lang="en-GB" sz="1600" dirty="0"/>
              <a:t>That is the whole mechanism. It is not clever. It is a file walk and a naming convention. And that is exactly why I made it the first term. The thing everybody assumes is AI magic turns out to be a for-loop.</a:t>
            </a:r>
          </a:p>
          <a:p>
            <a:endParaRPr lang="en-GB" sz="1600"/>
          </a:p>
          <a:p>
            <a:r>
              <a:rPr lang="en-GB" sz="1600" dirty="0"/>
              <a:t>One thing to notice before we move on, because it sets up the next term. This file loads every single time. Every session, every task, whether it is relevant or not. That is powerful, and it is also a bill. Every line in here is spending tokens and spending the model's attention even when the task has nothing to do with it.</a:t>
            </a:r>
          </a:p>
          <a:p>
            <a:endParaRPr lang="en-GB" sz="1600"/>
          </a:p>
          <a:p>
            <a:r>
              <a:rPr lang="en-GB" sz="1600" dirty="0"/>
              <a:t>That cost is exactly why the next term exists.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Term two: agent skills. And I will be honest with you up front. Of the five terms in this talk, this is the one I think matters most right now. So we are going to stay here a little longer than the other terms.</a:t>
            </a:r>
          </a:p>
          <a:p>
            <a:endParaRPr lang="en-GB" sz="1600"/>
          </a:p>
          <a:p>
            <a:r>
              <a:rPr lang="en-GB" sz="1600" dirty="0"/>
              <a:t>A skill is a folder. Inside that folder is a file called SKILL dot md, and that file has three things: a name, a description, and instructions.</a:t>
            </a:r>
          </a:p>
          <a:p>
            <a:endParaRPr lang="en-GB" sz="1600"/>
          </a:p>
          <a:p>
            <a:r>
              <a:rPr lang="en-GB" sz="1600" dirty="0"/>
              <a:t>The description is the important one. Hold on to that word, because in two minutes it turns out to be the entire trick.</a:t>
            </a:r>
          </a:p>
          <a:p>
            <a:endParaRPr lang="en-GB" sz="1600"/>
          </a:p>
          <a:p>
            <a:r>
              <a:rPr lang="en-GB" sz="1600" dirty="0"/>
              <a:t>Next to SKILL.md you can put resources. Scripts. Examples. Templates. Reference documents. Things the model can reach for once it has decided this is the skill it needs.</a:t>
            </a:r>
          </a:p>
          <a:p>
            <a:endParaRPr lang="en-GB" sz="1600"/>
          </a:p>
          <a:p>
            <a:r>
              <a:rPr lang="en-GB" sz="1600" dirty="0"/>
              <a:t>Here is what a skill actually is, in one sentence. It is procedural knowledge. Not facts. How-to. How do we do a database migration here. How do we review a pull request here. How do we write SQL against our specific schema, with our table names and our one weird legacy column.</a:t>
            </a:r>
          </a:p>
          <a:p>
            <a:endParaRPr lang="en-GB" sz="1600"/>
          </a:p>
          <a:p>
            <a:r>
              <a:rPr lang="en-GB" sz="1600" dirty="0"/>
              <a:t>And now think back to the first ten minutes of this talk. In 2023, if you wanted a model to write correct SQL against your schema, what was the advice? Fine-tune it. Collect examples, run a training job, ship a custom model, maintain it forever.</a:t>
            </a:r>
          </a:p>
          <a:p>
            <a:endParaRPr lang="en-GB" sz="1600"/>
          </a:p>
          <a:p>
            <a:r>
              <a:rPr lang="en-GB" sz="1600" dirty="0"/>
              <a:t>Today you write a markdown file. Here are the tables. Here are the joins. Here is the gotcha with the archived rows. And any general-purpose model can use it.</a:t>
            </a:r>
          </a:p>
          <a:p>
            <a:endParaRPr lang="en-GB" sz="1600"/>
          </a:p>
          <a:p>
            <a:r>
              <a:rPr lang="en-GB" sz="1600" dirty="0"/>
              <a:t>You did not train anything. You wrote a document. That is the entire shift this talk is about.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So how does a skill avoid the cost I complained about two slides ago? This is the mechanism, and it has a name: progressive disclosure.</a:t>
            </a:r>
          </a:p>
          <a:p>
            <a:endParaRPr lang="en-GB" sz="1600"/>
          </a:p>
          <a:p>
            <a:r>
              <a:rPr lang="en-GB" sz="1600" dirty="0"/>
              <a:t>A skill is not one blob of text. It is three levels, and they load at different times.</a:t>
            </a:r>
          </a:p>
          <a:p>
            <a:endParaRPr lang="en-GB" sz="1600"/>
          </a:p>
          <a:p>
            <a:r>
              <a:rPr lang="en-GB" sz="1600" dirty="0"/>
              <a:t>Level one is the front matter. The little header at the top of the file. The name, and one line that says when you would use this. That is all. A handful of lines.</a:t>
            </a:r>
          </a:p>
          <a:p>
            <a:endParaRPr lang="en-GB" sz="1600"/>
          </a:p>
          <a:p>
            <a:r>
              <a:rPr lang="en-GB" sz="1600" dirty="0"/>
              <a:t>Level two is the body. The actual instructions. The English. Do this, then this, watch out for that, never do this on a Friday.</a:t>
            </a:r>
          </a:p>
          <a:p>
            <a:endParaRPr lang="en-GB" sz="1600"/>
          </a:p>
          <a:p>
            <a:r>
              <a:rPr lang="en-GB" sz="1600" dirty="0"/>
              <a:t>Level three is optional: linked files. Scripts, if a step ought to be deterministic. And a references folder, for the extra detail the body should not carry. The agent opens those files only when it needs them.</a:t>
            </a:r>
          </a:p>
          <a:p>
            <a:endParaRPr lang="en-GB" sz="1600"/>
          </a:p>
          <a:p>
            <a:r>
              <a:rPr lang="en-GB" sz="1600" dirty="0"/>
              <a:t>Now here is the timing, and the timing is the whole point.</a:t>
            </a:r>
          </a:p>
          <a:p>
            <a:endParaRPr lang="en-GB" sz="1600"/>
          </a:p>
          <a:p>
            <a:r>
              <a:rPr lang="en-GB" sz="1600" dirty="0"/>
              <a:t>When your agent starts up it loads level one. Just level one. But for every skill you have installed. So it builds itself a little internal registry that says: I have twenty skills, here is what each one is for, and here is when I would reach for it.</a:t>
            </a:r>
          </a:p>
          <a:p>
            <a:endParaRPr lang="en-GB" sz="1600"/>
          </a:p>
          <a:p>
            <a:r>
              <a:rPr lang="en-GB" sz="1600" dirty="0"/>
              <a:t>It does not load level two. Not for any of them.</a:t>
            </a:r>
          </a:p>
          <a:p>
            <a:endParaRPr lang="en-GB" sz="1600"/>
          </a:p>
          <a:p>
            <a:r>
              <a:rPr lang="en-GB" sz="1600" dirty="0"/>
              <a:t>Then you ask a question. The model looks at its registry, decides this is a database migration task, and only then does it open that one skill and read the body.</a:t>
            </a:r>
          </a:p>
          <a:p>
            <a:endParaRPr lang="en-GB" sz="1600"/>
          </a:p>
          <a:p>
            <a:r>
              <a:rPr lang="en-GB" sz="1600" dirty="0"/>
              <a:t>Twenty skills installed. Twenty short summaries in memory. One body actually loaded. That is progressive disclosure, and it is why you can have a lot of skills without paying for a lot of skills.</a:t>
            </a:r>
          </a:p>
          <a:p>
            <a:endParaRPr lang="en-GB" sz="1600"/>
          </a:p>
          <a:p>
            <a:r>
              <a:rPr lang="en-GB" sz="1600" dirty="0"/>
              <a:t>Which means the description is doing all the selecting. So the first thing you write is not the body. It is the trigger.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That front matter I just mentioned. The name, and the one line that says when. That line is the trigger. If it is vague, the skill never runs.</a:t>
            </a:r>
          </a:p>
          <a:p>
            <a:endParaRPr lang="en-GB" sz="1600"/>
          </a:p>
          <a:p>
            <a:r>
              <a:rPr lang="en-GB" sz="1600" dirty="0"/>
              <a:t>I might have a hundred skills installed. The agent cannot read a hundred bodies at startup. It only loads the name and the description. So those two lines have to do all the selecting, by themselves.</a:t>
            </a:r>
          </a:p>
          <a:p>
            <a:endParaRPr lang="en-GB" sz="1600"/>
          </a:p>
          <a:p>
            <a:r>
              <a:rPr lang="en-GB" sz="1600" dirty="0"/>
              <a:t>"Generates reports" is not a description. It is a shrug. The agent will skip it.</a:t>
            </a:r>
          </a:p>
          <a:p>
            <a:endParaRPr lang="en-GB" sz="1600"/>
          </a:p>
          <a:p>
            <a:r>
              <a:rPr lang="en-GB" sz="1600" dirty="0"/>
              <a:t>The fix is two halves. What the skill does. And when the agent should reach for it. "Generates the monthly compliance report from internal data. Use when someone asks for the compliance report, or the monthly filing."</a:t>
            </a:r>
          </a:p>
          <a:p>
            <a:endParaRPr lang="en-GB" sz="1600"/>
          </a:p>
          <a:p>
            <a:r>
              <a:rPr lang="en-GB" sz="1600" dirty="0"/>
              <a:t>And lean a little pushy. Models under-trigger. They skip a skill they should have used. Safer to oversell the description a touch than to undersell it.</a:t>
            </a:r>
          </a:p>
          <a:p>
            <a:endParaRPr lang="en-GB" sz="1600"/>
          </a:p>
          <a:p>
            <a:r>
              <a:rPr lang="en-GB" sz="1600" dirty="0"/>
              <a:t>That is how a skill gets chosen. Next: what goes inside it once it does.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The temptation is to let the model write the skill for you. "Write me a skill that does X." What you get is generic mush. Handle errors appropriately. Validate inputs. Things the model already knew.</a:t>
            </a:r>
          </a:p>
          <a:p>
            <a:endParaRPr lang="en-GB" sz="1600"/>
          </a:p>
          <a:p>
            <a:r>
              <a:rPr lang="en-GB" sz="1600" dirty="0"/>
              <a:t>The whole point of a skill is your particular way of doing a particular job. So the content has to come from somewhere the model cannot get to on its own.</a:t>
            </a:r>
          </a:p>
          <a:p>
            <a:endParaRPr lang="en-GB" sz="1600"/>
          </a:p>
          <a:p>
            <a:r>
              <a:rPr lang="en-GB" sz="1600" dirty="0"/>
              <a:t>Two ways. Walk the task by hand once and write down what actually worked, including the corrections. Or synthesise it from artifacts you already have. Old reports. Runbooks. Review comments.</a:t>
            </a:r>
          </a:p>
          <a:p>
            <a:endParaRPr lang="en-GB" sz="1600"/>
          </a:p>
          <a:p>
            <a:r>
              <a:rPr lang="en-GB" sz="1600" dirty="0"/>
              <a:t>The highest-value section in the body is gotchas. Environment-specific facts that defy reasonable assumptions. Every time you correct the agent by hand, that correction is a gotcha. Write it down.</a:t>
            </a:r>
          </a:p>
          <a:p>
            <a:endParaRPr lang="en-GB" sz="1600"/>
          </a:p>
          <a:p>
            <a:r>
              <a:rPr lang="en-GB" sz="1600" dirty="0"/>
              <a:t>And keep the body lean. Under about five hundred lines. The model already knows what a PDF is. Only write what it would not know on its own. When it gets bigger, split it into a references folder. The agent opens those files only when it needs them.</a:t>
            </a:r>
          </a:p>
          <a:p>
            <a:endParaRPr lang="en-GB" sz="1600"/>
          </a:p>
          <a:p>
            <a:r>
              <a:rPr lang="en-GB" sz="1600" dirty="0"/>
              <a:t>Last. If a step has to be exactly right every time — the totals, the checksum, the migration order — do not ask the model to improvise. Put a script in the folder and tell it: run this. Not "read this as reference." Run this.</a:t>
            </a:r>
          </a:p>
          <a:p>
            <a:endParaRPr lang="en-GB" sz="1600"/>
          </a:p>
          <a:p>
            <a:r>
              <a:rPr lang="en-GB" sz="1600" dirty="0"/>
              <a:t>In about two minutes you will see that. A script that inventories target frameworks and refuses to call the upgrade done if it still finds net8.</a:t>
            </a:r>
          </a:p>
          <a:p>
            <a:endParaRPr lang="en-GB" sz="1600"/>
          </a:p>
          <a:p>
            <a:r>
              <a:rPr lang="en-GB" sz="1600" dirty="0"/>
              <a:t>Simon Willison has the line. You bring the expertise. The model brings the typing.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One more thing about skills, and then we run the demo.</a:t>
            </a:r>
          </a:p>
          <a:p>
            <a:endParaRPr lang="en-GB" sz="1600"/>
          </a:p>
          <a:p>
            <a:r>
              <a:rPr lang="en-GB" sz="1600" dirty="0"/>
              <a:t>Eighty percent of the time, when somebody says the word "skill", what they actually have is a saved prompt. That is not a criticism. That is the point.</a:t>
            </a:r>
          </a:p>
          <a:p>
            <a:endParaRPr lang="en-GB" sz="1600"/>
          </a:p>
          <a:p>
            <a:r>
              <a:rPr lang="en-GB" sz="1600" dirty="0"/>
              <a:t>Think about how you work with these tools today. You spend twenty minutes fighting with a prompt. You tweak it. You add a constraint. You finally get output you would actually ship. And then you close the tab. And next Tuesday you do the whole thing again from scratch.</a:t>
            </a:r>
          </a:p>
          <a:p>
            <a:endParaRPr lang="en-GB" sz="1600"/>
          </a:p>
          <a:p>
            <a:r>
              <a:rPr lang="en-GB" sz="1600" dirty="0"/>
              <a:t>A skill is the file where that stops happening. You got it right once. You saved it. Now it runs the same way every time.</a:t>
            </a:r>
          </a:p>
          <a:p>
            <a:endParaRPr lang="en-GB" sz="1600"/>
          </a:p>
          <a:p>
            <a:r>
              <a:rPr lang="en-GB" sz="1600" dirty="0"/>
              <a:t>But the part I find genuinely interesting is the second one. Because it is a file in a repository, you can commit it. You can review it in a pull request. And you can hand it to the eleven other people on your team — which means all of them are now as good at that task as your best person was on their best day.</a:t>
            </a:r>
          </a:p>
          <a:p>
            <a:endParaRPr lang="en-GB" sz="1600"/>
          </a:p>
          <a:p>
            <a:r>
              <a:rPr lang="en-GB" sz="1600" dirty="0"/>
              <a:t>And the third one. These are written in English. Not Python, not C sharp, not YAML with a schema you have to look up. English. Which means the person who actually knows how your claims process works, who has never opened Visual Studio in their life, can write one.</a:t>
            </a:r>
          </a:p>
          <a:p>
            <a:endParaRPr lang="en-GB" sz="1600"/>
          </a:p>
          <a:p>
            <a:r>
              <a:rPr lang="en-GB" sz="1600" dirty="0"/>
              <a:t>Somebody put this better than I can: the hottest programming language right now is English.</a:t>
            </a:r>
          </a:p>
          <a:p>
            <a:endParaRPr lang="en-GB" sz="1600"/>
          </a:p>
          <a:p>
            <a:r>
              <a:rPr lang="en-GB" sz="1600" dirty="0"/>
              <a:t>That is not a joke about vibe coding. It is a real statement about who gets to configure these systems. It is not just us any more.</a:t>
            </a:r>
          </a:p>
          <a:p>
            <a:endParaRPr lang="en-GB" sz="1600"/>
          </a:p>
          <a:p>
            <a:r>
              <a:rPr lang="en-GB" sz="1600" dirty="0"/>
              <a:t>Alright. 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[Run the command on screen.]</a:t>
            </a:r>
          </a:p>
          <a:p>
            <a:endParaRPr lang="en-GB" sz="1600"/>
          </a:p>
          <a:p>
            <a:r>
              <a:rPr lang="en-GB" sz="1600" dirty="0"/>
              <a:t>Four skills are installed in this project. A dotnet-upgrade skill, a security-review skill, an incident runbook, and a SQL schema skill.</a:t>
            </a:r>
          </a:p>
          <a:p>
            <a:endParaRPr lang="en-GB" sz="1600"/>
          </a:p>
          <a:p>
            <a:r>
              <a:rPr lang="en-GB" sz="1600" dirty="0"/>
              <a:t>I ask for an upgrade plan. Watch which one loads. Only the dotnet-upgrade skill enters the context. The other three do not. That is the description doing its job — the what-and-when we just talked about.</a:t>
            </a:r>
          </a:p>
          <a:p>
            <a:endParaRPr lang="en-GB" sz="1600"/>
          </a:p>
          <a:p>
            <a:r>
              <a:rPr lang="en-GB" sz="1600" dirty="0"/>
              <a:t>And watch the script. It inventories the target frameworks. It finds leftover net8. It refuses. That is the "run this" slide from two minutes ago. The model did not guess those TFMs. The script read the files.</a:t>
            </a:r>
          </a:p>
          <a:p>
            <a:endParaRPr lang="en-GB" sz="1600"/>
          </a:p>
          <a:p>
            <a:r>
              <a:rPr lang="en-GB" sz="1600" dirty="0"/>
              <a:t>[If asked / spare: "review this code for secrets". Different question, different skill. The upgrade body leaves.]</a:t>
            </a:r>
          </a:p>
          <a:p>
            <a:endParaRPr lang="en-GB" sz="1600"/>
          </a:p>
          <a:p>
            <a:r>
              <a:rPr lang="en-GB" sz="1600" dirty="0"/>
              <a:t>[Run: "what is the weather".]</a:t>
            </a:r>
          </a:p>
          <a:p>
            <a:endParaRPr lang="en-GB" sz="1600"/>
          </a:p>
          <a:p>
            <a:r>
              <a:rPr lang="en-GB" sz="1600" dirty="0"/>
              <a:t>And nothing loads. Because nothing matched. Which is the correct answer.</a:t>
            </a:r>
          </a:p>
          <a:p>
            <a:endParaRPr lang="en-GB" sz="1600"/>
          </a:p>
          <a:p>
            <a:r>
              <a:rPr lang="en-GB" sz="1600" dirty="0"/>
              <a:t>Now let me be honest with you about this demo, because I do not want to oversell it. This code is scoring keywords. It tokenises your task, tokenises the skill descriptions, and counts the overlap. A production agent does that matching with the model itself, which is far better at it than my Intersect and Count.</a:t>
            </a:r>
          </a:p>
          <a:p>
            <a:endParaRPr lang="en-GB" sz="1600"/>
          </a:p>
          <a:p>
            <a:r>
              <a:rPr lang="en-GB" sz="1600" dirty="0"/>
              <a:t>But the architecture is identical. Read the descriptions. Pick one. Load only that one. The difference is the quality of the matcher, not the shape of the system.</a:t>
            </a:r>
          </a:p>
          <a:p>
            <a:endParaRPr lang="en-GB" sz="1600"/>
          </a:p>
          <a:p>
            <a:r>
              <a:rPr lang="en-GB" sz="1600" dirty="0"/>
              <a:t>And one last thing to file away, because we come back to it at the very end. Skill folders are extremely cheap to add, and extremely expensive if nobody ever deletes them.</a:t>
            </a:r>
          </a:p>
          <a:p>
            <a:endParaRPr lang="en-GB" sz="1600"/>
          </a:p>
          <a:p>
            <a:r>
              <a:rPr lang="en-GB" sz="1600" dirty="0"/>
              <a:t>But first — a skill folder can run code. Which means the next question is not how to write one. It is whether you should run one you did not write.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A skill can run code. Scripts that touch the file system. Scripts that can see the API keys sitting on the machine.</a:t>
            </a:r>
          </a:p>
          <a:p>
            <a:endParaRPr lang="en-GB" sz="1600"/>
          </a:p>
          <a:p>
            <a:r>
              <a:rPr lang="en-GB" sz="1600" dirty="0"/>
              <a:t>Which is exactly what makes them powerful. And exactly why you do not install one from a stranger the way you would bookmark a blog post.</a:t>
            </a:r>
          </a:p>
          <a:p>
            <a:endParaRPr lang="en-GB" sz="1600"/>
          </a:p>
          <a:p>
            <a:r>
              <a:rPr lang="en-GB" sz="1600" dirty="0"/>
              <a:t>There was an audit earlier this year. Almost four thousand public skills. Over thirty-five percent had a security flaw of some kind. Thirteen percent had something critical. Prompt injection. Straight-up malware.</a:t>
            </a:r>
          </a:p>
          <a:p>
            <a:endParaRPr lang="en-GB" sz="1600"/>
          </a:p>
          <a:p>
            <a:r>
              <a:rPr lang="en-GB" sz="1600" dirty="0"/>
              <a:t>So treat a skill like any other dependency. Read what it does. Check what it reaches out to. An open standard — and skills are an open standard, at agentskills.io — says nothing about whether a given skill is safe.</a:t>
            </a:r>
          </a:p>
          <a:p>
            <a:endParaRPr lang="en-GB" sz="1600"/>
          </a:p>
          <a:p>
            <a:r>
              <a:rPr lang="en-GB" sz="1600" dirty="0"/>
              <a:t>A good skill is one the agent will actually trigger. Built from real expertise. Kept lean. Scripted where a guess is dangerous. And vetted before it ever runs.</a:t>
            </a:r>
          </a:p>
          <a:p>
            <a:endParaRPr lang="en-GB" sz="1600"/>
          </a:p>
          <a:p>
            <a:r>
              <a:rPr lang="en-GB" sz="1600" dirty="0"/>
              <a:t>The ones you wrote yourself, and hardened — those you can trust. The ones you pulled from the internet: you have not reviewed them yet.</a:t>
            </a:r>
          </a:p>
          <a:p>
            <a:endParaRPr lang="en-GB" sz="1600"/>
          </a:p>
          <a:p>
            <a:r>
              <a:rPr lang="en-GB" sz="1600" dirty="0"/>
              <a:t>That is inside the agent. Now let's go outside.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Term three: MCP. Model Context Protocol.</a:t>
            </a:r>
          </a:p>
          <a:p>
            <a:endParaRPr lang="en-GB" sz="1600"/>
          </a:p>
          <a:p>
            <a:r>
              <a:rPr lang="en-GB" sz="1600" dirty="0"/>
              <a:t>Everything so far has been inside the agent. Files that shape how it behaves. MCP is the first term about the outside world. How does this thing actually touch your database, your ticketing system, your file system, your internal API?</a:t>
            </a:r>
          </a:p>
          <a:p>
            <a:endParaRPr lang="en-GB" sz="1600"/>
          </a:p>
          <a:p>
            <a:r>
              <a:rPr lang="en-GB" sz="1600" dirty="0"/>
              <a:t>The answer used to be: you write a custom integration. For every model, for every tool. Ten tools and three models is thirty pieces of glue, and every one of them is somebody's Tuesday.</a:t>
            </a:r>
          </a:p>
          <a:p>
            <a:endParaRPr lang="en-GB" sz="1600"/>
          </a:p>
          <a:p>
            <a:r>
              <a:rPr lang="en-GB" sz="1600" dirty="0"/>
              <a:t>MCP replaces all of that with one shape. Three parts.</a:t>
            </a:r>
          </a:p>
          <a:p>
            <a:endParaRPr lang="en-GB" sz="1600"/>
          </a:p>
          <a:p>
            <a:r>
              <a:rPr lang="en-GB" sz="1600" dirty="0"/>
              <a:t>The client is your agent host. Cursor, Claude Code, VS Code, your own application. It asks: what tools exist here?</a:t>
            </a:r>
          </a:p>
          <a:p>
            <a:endParaRPr lang="en-GB" sz="1600"/>
          </a:p>
          <a:p>
            <a:r>
              <a:rPr lang="en-GB" sz="1600" dirty="0"/>
              <a:t>The protocol is the envelope. JSON-RPC underneath. Every message looks the same regardless of what is behind it.</a:t>
            </a:r>
          </a:p>
          <a:p>
            <a:endParaRPr lang="en-GB" sz="1600"/>
          </a:p>
          <a:p>
            <a:r>
              <a:rPr lang="en-GB" sz="1600" dirty="0"/>
              <a:t>And the server is the wrapper. The piece that knows about your actual system. It holds the credentials, it calls the real API, and it exposes a clean list of tools.</a:t>
            </a:r>
          </a:p>
          <a:p>
            <a:endParaRPr lang="en-GB" sz="1600"/>
          </a:p>
          <a:p>
            <a:r>
              <a:rPr lang="en-GB" sz="1600" dirty="0"/>
              <a:t>Anthropic published MCP in late 2024. It now sits under the Agentic AI Foundation, and this July they shipped the fifth spec. I will come back to what that changed in a minute. If you have ever clicked something called a "connector" in a chat app, there is a very good chance MCP is underneath it.</a:t>
            </a:r>
          </a:p>
          <a:p>
            <a:endParaRPr lang="en-GB" sz="1600"/>
          </a:p>
          <a:p>
            <a:r>
              <a:rPr lang="en-GB" sz="1600" dirty="0"/>
              <a:t>One caveat, and please take this one seriously. MCP standardises connection and discovery. It does not make anything safe. Same rule we just used on skills. Authentication, what that server is allowed to do, who deployed it, whether anybody reviewed it — all of that is still your job.</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Now, I have just spent two minutes selling you MCP, so let me tell you what it costs. And I need to be current, because the protocol just grew up.</a:t>
            </a:r>
          </a:p>
          <a:p>
            <a:endParaRPr lang="en-GB" sz="1600"/>
          </a:p>
          <a:p>
            <a:r>
              <a:rPr lang="en-GB" sz="1600" dirty="0"/>
              <a:t>July twenty-eighth this year. Spec 2026-07-28. The biggest change since MCP went remote. They dropped the required handshake. They dropped the session id. Every request now travels on its own. You can put a server on a Worker, behind a round-robin load balancer, no sticky sessions, no open stream. TypeScript, Python, Go, and C sharp all speak it. That is a real gift if you have to host one of these.</a:t>
            </a:r>
          </a:p>
          <a:p>
            <a:endParaRPr lang="en-GB" sz="1600"/>
          </a:p>
          <a:p>
            <a:r>
              <a:rPr lang="en-GB" sz="1600" dirty="0"/>
              <a:t>They also made the catalog cacheable. tools-slash-list comes back with a ttl. The client can keep the menu without asking again every reconnect.</a:t>
            </a:r>
          </a:p>
          <a:p>
            <a:endParaRPr lang="en-GB" sz="1600"/>
          </a:p>
          <a:p>
            <a:r>
              <a:rPr lang="en-GB" sz="1600" dirty="0"/>
              <a:t>What they did not do is take the definitions out of the model's context.</a:t>
            </a:r>
          </a:p>
          <a:p>
            <a:endParaRPr lang="en-GB" sz="1600"/>
          </a:p>
          <a:p>
            <a:r>
              <a:rPr lang="en-GB" sz="1600" dirty="0"/>
              <a:t>A well-written tool definition is still not three lines. Name, description, every parameter, types, examples. Twenty tools, and the complete specification of all twenty is sitting next to your question. Relevant or not.</a:t>
            </a:r>
          </a:p>
          <a:p>
            <a:endParaRPr lang="en-GB" sz="1600"/>
          </a:p>
          <a:p>
            <a:r>
              <a:rPr lang="en-GB" sz="1600" dirty="0"/>
              <a:t>Caching is a gift to the host. Progressive disclosure is a gift to the model. Skills have the second one in the file format. MCP still does not. The official client best-practices page now says: do not dump every tool into the prompt. Search, then inspect, then call. That is the skills pattern, written down as host advice.</a:t>
            </a:r>
          </a:p>
          <a:p>
            <a:endParaRPr lang="en-GB" sz="1600"/>
          </a:p>
          <a:p>
            <a:r>
              <a:rPr lang="en-GB" sz="1600" dirty="0"/>
              <a:t>So: use MCP. It is genuinely the right answer for reaching real systems. Just do not connect everything you own and expect the new spec to make it free.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So which one do you pick?</a:t>
            </a:r>
          </a:p>
          <a:p>
            <a:endParaRPr lang="en-GB" sz="1600"/>
          </a:p>
          <a:p>
            <a:r>
              <a:rPr lang="en-GB" sz="1600" dirty="0"/>
              <a:t>Wrong question. It is not a replacement. It is a complement, and they answer two completely different questions.</a:t>
            </a:r>
          </a:p>
          <a:p>
            <a:endParaRPr lang="en-GB" sz="1600"/>
          </a:p>
          <a:p>
            <a:r>
              <a:rPr lang="en-GB" sz="1600" dirty="0"/>
              <a:t>A skill is instructions. Know-how. It tells the agent how we do a thing here. It lives in a folder in your repository, it is written in English, and anybody on your team can write one.</a:t>
            </a:r>
          </a:p>
          <a:p>
            <a:endParaRPr lang="en-GB" sz="1600"/>
          </a:p>
          <a:p>
            <a:r>
              <a:rPr lang="en-GB" sz="1600" dirty="0"/>
              <a:t>MCP is a connection. Reach. It gives the agent the ability to touch a system it otherwise could not touch at all. It is a server — a process you run or install — written in code, with schemas, by a developer.</a:t>
            </a:r>
          </a:p>
          <a:p>
            <a:endParaRPr lang="en-GB" sz="1600"/>
          </a:p>
          <a:p>
            <a:r>
              <a:rPr lang="en-GB" sz="1600" dirty="0"/>
              <a:t>And here is the combination that I think is the actual answer for most teams. You connect the MCP server, because you genuinely need to reach that system. And then you write a skill that tells the agent how to use it well. Which tool to reach for first. In what order. What the failure looks like. What we never do in production on a Friday afternoon.</a:t>
            </a:r>
          </a:p>
          <a:p>
            <a:endParaRPr lang="en-GB" sz="1600"/>
          </a:p>
          <a:p>
            <a:r>
              <a:rPr lang="en-GB" sz="1600" dirty="0"/>
              <a:t>MCP gives it hands. The skill gives it judgement.</a:t>
            </a:r>
          </a:p>
          <a:p>
            <a:endParaRPr lang="en-GB" sz="1600"/>
          </a:p>
          <a:p>
            <a:r>
              <a:rPr lang="en-GB" sz="1600" dirty="0"/>
              <a:t>There is even a working group now called Skills over MCP. Which is the industry agreeing with this slide. They are not merging. They are pairing.</a:t>
            </a:r>
          </a:p>
          <a:p>
            <a:endParaRPr lang="en-GB" sz="1600"/>
          </a:p>
          <a:p>
            <a:r>
              <a:rPr lang="en-GB" sz="1600" dirty="0"/>
              <a:t>Eighteen months ago MCP was the thing. It is still very much a thing. Skills arrived because we noticed that a lot of the time, people did not actually need a new external tool. They needed a way to capture what they already knew and reuse it.</a:t>
            </a:r>
          </a:p>
          <a:p>
            <a:endParaRPr lang="en-GB" sz="1600"/>
          </a:p>
          <a:p>
            <a:r>
              <a:rPr lang="en-GB" sz="1600" dirty="0"/>
              <a:t>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[Run the command on screen.]</a:t>
            </a:r>
          </a:p>
          <a:p>
            <a:endParaRPr lang="en-GB" sz="1600"/>
          </a:p>
          <a:p>
            <a:r>
              <a:rPr lang="en-GB" sz="1600" dirty="0"/>
              <a:t>The client starts the server as a subprocess, so there is nothing for me to configure and nothing to deploy.</a:t>
            </a:r>
          </a:p>
          <a:p>
            <a:endParaRPr lang="en-GB" sz="1600"/>
          </a:p>
          <a:p>
            <a:r>
              <a:rPr lang="en-GB" sz="1600" dirty="0"/>
              <a:t>First: initialize. A handshake. Then the client asks tools-slash-list. What have you got? And the server answers with a list of tools.</a:t>
            </a:r>
          </a:p>
          <a:p>
            <a:endParaRPr lang="en-GB" sz="1600"/>
          </a:p>
          <a:p>
            <a:r>
              <a:rPr lang="en-GB" sz="1600" dirty="0"/>
              <a:t>Notice that it asks before it calls. Discovery comes first. That is the part that makes this a protocol rather than an integration.</a:t>
            </a:r>
          </a:p>
          <a:p>
            <a:endParaRPr lang="en-GB" sz="1600"/>
          </a:p>
          <a:p>
            <a:r>
              <a:rPr lang="en-GB" sz="1600" dirty="0"/>
              <a:t>Then the call itself. tools-slash-call, a name, an arguments object. And a result comes back.</a:t>
            </a:r>
          </a:p>
          <a:p>
            <a:endParaRPr lang="en-GB" sz="1600"/>
          </a:p>
          <a:p>
            <a:r>
              <a:rPr lang="en-GB" sz="1600" dirty="0"/>
              <a:t>Now look at what did not happen. The client never learned anything about the inventory system. No URL, no API key, no schema, no vendor SDK, no import. It sent a name and a JSON object. Everything real is behind the server.</a:t>
            </a:r>
          </a:p>
          <a:p>
            <a:endParaRPr lang="en-GB" sz="1600"/>
          </a:p>
          <a:p>
            <a:r>
              <a:rPr lang="en-GB" sz="1600" dirty="0"/>
              <a:t>Which means I could swap that server out for a completely different backend and this client would not change by one line.</a:t>
            </a:r>
          </a:p>
          <a:p>
            <a:endParaRPr lang="en-GB" sz="1600"/>
          </a:p>
          <a:p>
            <a:r>
              <a:rPr lang="en-GB" sz="1600" dirty="0"/>
              <a:t>I will be straight with you: this is MCP-shaped, not the July spec. The demo still does the initialize handshake so you can see the envelope on screen. The new spec made that handshake optional. The list-then-call shape is the same.</a:t>
            </a:r>
          </a:p>
          <a:p>
            <a:endParaRPr lang="en-GB" sz="1600"/>
          </a:p>
          <a:p>
            <a:r>
              <a:rPr lang="en-GB" sz="1600" dirty="0"/>
              <a:t>That is tools. Now — what if the thing you want to talk to is not a tool, but another agent?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Term four: A2A. Agent to agent.</a:t>
            </a:r>
          </a:p>
          <a:p>
            <a:endParaRPr lang="en-GB" sz="1600"/>
          </a:p>
          <a:p>
            <a:r>
              <a:rPr lang="en-GB" sz="1600" dirty="0"/>
              <a:t>MCP is how an agent reaches a tool. A2A is how an agent reaches another agent. One that a different team, in a different language, on a different stack, built without ever talking to you.</a:t>
            </a:r>
          </a:p>
          <a:p>
            <a:endParaRPr lang="en-GB" sz="1600"/>
          </a:p>
          <a:p>
            <a:r>
              <a:rPr lang="en-GB" sz="1600" dirty="0"/>
              <a:t>Here is the scenario. A procurement agent has a contract that needs spend approval. It cannot approve its own spending. Finance owns that decision.</a:t>
            </a:r>
          </a:p>
          <a:p>
            <a:endParaRPr lang="en-GB" sz="1600"/>
          </a:p>
          <a:p>
            <a:r>
              <a:rPr lang="en-GB" sz="1600" dirty="0"/>
              <a:t>In the old world you would import a library, or call a REST endpoint you hardcoded, and now those two systems are welded together. Finance cannot change anything without breaking procurement.</a:t>
            </a:r>
          </a:p>
          <a:p>
            <a:endParaRPr lang="en-GB" sz="1600"/>
          </a:p>
          <a:p>
            <a:r>
              <a:rPr lang="en-GB" sz="1600" dirty="0"/>
              <a:t>In A2A, the finance agent publishes an agent card. A small document that says: here is who I am, here is what I can do, here is where you send work, here is what I need from you.</a:t>
            </a:r>
          </a:p>
          <a:p>
            <a:endParaRPr lang="en-GB" sz="1600"/>
          </a:p>
          <a:p>
            <a:r>
              <a:rPr lang="en-GB" sz="1600" dirty="0"/>
              <a:t>Procurement fetches that card, reads it, and delegates.</a:t>
            </a:r>
          </a:p>
          <a:p>
            <a:endParaRPr lang="en-GB" sz="1600"/>
          </a:p>
          <a:p>
            <a:r>
              <a:rPr lang="en-GB" sz="1600" dirty="0"/>
              <a:t>Notice what is missing. Procurement does not know how finance makes decisions. It does not know what model finance uses, or what rules it applies, or whether there is a human in the middle approving. It knows the capability and the address. That is all it needs.</a:t>
            </a:r>
          </a:p>
          <a:p>
            <a:endParaRPr lang="en-GB" sz="1600"/>
          </a:p>
          <a:p>
            <a:r>
              <a:rPr lang="en-GB" sz="1600" dirty="0"/>
              <a:t>That is the whole point. Coordination across agents that were built independently. Google launched A2A, and like AGENTS.md, it now sits under the Linux Foundation.</a:t>
            </a:r>
          </a:p>
          <a:p>
            <a:endParaRPr lang="en-GB" sz="1600"/>
          </a:p>
          <a:p>
            <a:r>
              <a:rPr lang="en-GB" sz="1600" dirty="0"/>
              <a:t>Let's look at the card.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[Run the command on screen.]</a:t>
            </a:r>
          </a:p>
          <a:p>
            <a:endParaRPr lang="en-GB" sz="1600"/>
          </a:p>
          <a:p>
            <a:r>
              <a:rPr lang="en-GB" sz="1600" dirty="0"/>
              <a:t>The finance agent starts up locally. And there is the card, served from a well-known URL. Slash dot-well-known slash agent-card dot json. Same idea as the well-known paths you already use for OAuth or for certificates.</a:t>
            </a:r>
          </a:p>
          <a:p>
            <a:endParaRPr lang="en-GB" sz="1600"/>
          </a:p>
          <a:p>
            <a:r>
              <a:rPr lang="en-GB" sz="1600" dirty="0"/>
              <a:t>The card says what finance does, and where to send work.</a:t>
            </a:r>
          </a:p>
          <a:p>
            <a:endParaRPr lang="en-GB" sz="1600"/>
          </a:p>
          <a:p>
            <a:r>
              <a:rPr lang="en-GB" sz="1600" dirty="0"/>
              <a:t>Procurement reads it, pulls the endpoint straight out of the card, and posts a spend request. Acme Training, four thousand two hundred. And back comes a structured decision.</a:t>
            </a:r>
          </a:p>
          <a:p>
            <a:endParaRPr lang="en-GB" sz="1600"/>
          </a:p>
          <a:p>
            <a:r>
              <a:rPr lang="en-GB" sz="1600" dirty="0"/>
              <a:t>The thing I want you to check is this. Procurement does not import finance. There is no shared library on this screen. It discovered a capability at runtime, called an advertised endpoint, and got back a structured answer.</a:t>
            </a:r>
          </a:p>
          <a:p>
            <a:endParaRPr lang="en-GB" sz="1600"/>
          </a:p>
          <a:p>
            <a:r>
              <a:rPr lang="en-GB" sz="1600" dirty="0"/>
              <a:t>So, to keep the two straight: MCP is tools and data. A2A is peers. Two different boundaries, two different protocols, and people mix them up constantly.</a:t>
            </a:r>
          </a:p>
          <a:p>
            <a:endParaRPr lang="en-GB" sz="1600"/>
          </a:p>
          <a:p>
            <a:r>
              <a:rPr lang="en-GB" sz="1600" dirty="0"/>
              <a:t>Files, tools, other agents. Now: what happens when one agent simply runs out of room?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Term five: subagents.</a:t>
            </a:r>
          </a:p>
          <a:p>
            <a:endParaRPr lang="en-GB" sz="1600"/>
          </a:p>
          <a:p>
            <a:r>
              <a:rPr lang="en-GB" sz="1600" dirty="0"/>
              <a:t>Sooner or later you hit a job that does not fit. Audit this whole repository. Review these forty files. Research these six vendors and compare them. And you watch the context fill up, and the quality falls off a cliff somewhere in the middle.</a:t>
            </a:r>
          </a:p>
          <a:p>
            <a:endParaRPr lang="en-GB" sz="1600"/>
          </a:p>
          <a:p>
            <a:r>
              <a:rPr lang="en-GB" sz="1600" dirty="0"/>
              <a:t>The pattern is: do not do it in one conversation. A parent agent splits the work and spawns children. Each child gets a small, focused context. Just its slice, nothing else. It does its piece and hands back a summary.</a:t>
            </a:r>
          </a:p>
          <a:p>
            <a:endParaRPr lang="en-GB" sz="1600"/>
          </a:p>
          <a:p>
            <a:r>
              <a:rPr lang="en-GB" sz="1600" dirty="0"/>
              <a:t>And the parent only ever sees the summaries. Not every intermediate token. Not every file the child read. Not every dead end it went down and reversed out of. Just the conclusions.</a:t>
            </a:r>
          </a:p>
          <a:p>
            <a:endParaRPr lang="en-GB" sz="1600"/>
          </a:p>
          <a:p>
            <a:r>
              <a:rPr lang="en-GB" sz="1600" dirty="0"/>
              <a:t>Two situations where you want this. One: the task is too broad to fit in one context. Two: the work is naturally parallel. Four independent checks that have no reason to wait for each other.</a:t>
            </a:r>
          </a:p>
          <a:p>
            <a:endParaRPr lang="en-GB" sz="1600"/>
          </a:p>
          <a:p>
            <a:r>
              <a:rPr lang="en-GB" sz="1600" dirty="0"/>
              <a:t>One honest note before the demo. This is a pattern, not a formal standard. MCP has a specification. A2A has a specification. Subagents is a shape that basically every serious agent framework has converged on, but there is no document I can point you at.</a:t>
            </a:r>
          </a:p>
          <a:p>
            <a:endParaRPr lang="en-GB" sz="1600"/>
          </a:p>
          <a:p>
            <a:r>
              <a:rPr lang="en-GB" sz="1600" dirty="0"/>
              <a:t>Let's run four of them.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[Run the command on screen.]</a:t>
            </a:r>
          </a:p>
          <a:p>
            <a:endParaRPr lang="en-GB" sz="1600"/>
          </a:p>
          <a:p>
            <a:r>
              <a:rPr lang="en-GB" sz="1600" dirty="0"/>
              <a:t>Four checks, running at the same time. Task dot WhenAny stands in for four child agents.</a:t>
            </a:r>
          </a:p>
          <a:p>
            <a:endParaRPr lang="en-GB" sz="1600"/>
          </a:p>
          <a:p>
            <a:r>
              <a:rPr lang="en-GB" sz="1600" dirty="0"/>
              <a:t>Watch the order they come back in. They do not finish in the order I started them, and they do not wait for each other. The slow one does not block the three fast ones.</a:t>
            </a:r>
          </a:p>
          <a:p>
            <a:endParaRPr lang="en-GB" sz="1600"/>
          </a:p>
          <a:p>
            <a:r>
              <a:rPr lang="en-GB" sz="1600" dirty="0"/>
              <a:t>Each worker actually reads its own two files. Not the whole repository. Just its slice. You will see a line count and a finding. You will not see the file bodies. Those stayed in the worker.</a:t>
            </a:r>
          </a:p>
          <a:p>
            <a:endParaRPr lang="en-GB" sz="1600"/>
          </a:p>
          <a:p>
            <a:r>
              <a:rPr lang="en-GB" sz="1600" dirty="0"/>
              <a:t>And what lands back in the parent is one summary per child. The parent's context stays small even though the total amount of work went up by a factor of four.</a:t>
            </a:r>
          </a:p>
          <a:p>
            <a:endParaRPr lang="en-GB" sz="1600"/>
          </a:p>
          <a:p>
            <a:r>
              <a:rPr lang="en-GB" sz="1600" dirty="0"/>
              <a:t>Being honest again: this is a pattern demo. In a real system those children would be much more strongly isolated. Their own memory, their own tools, their own prompt, their own model calls. An async task in .NET is the shape, not the full implementation.</a:t>
            </a:r>
          </a:p>
          <a:p>
            <a:endParaRPr lang="en-GB" sz="1600"/>
          </a:p>
          <a:p>
            <a:r>
              <a:rPr lang="en-GB" sz="1600" dirty="0"/>
              <a:t>The rule of thumb: use subagents when the work splits cleanly, and when the parent can genuinely judge a summary without having seen the details.</a:t>
            </a:r>
          </a:p>
          <a:p>
            <a:endParaRPr lang="en-GB" sz="1600"/>
          </a:p>
          <a:p>
            <a:r>
              <a:rPr lang="en-GB" sz="1600" dirty="0"/>
              <a:t>That is five terms. Now, before we close, I want to give you one habit that I think matters more than any single term I have just defined.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Delete your skills.</a:t>
            </a:r>
          </a:p>
          <a:p>
            <a:endParaRPr lang="en-GB" sz="1600"/>
          </a:p>
          <a:p>
            <a:r>
              <a:rPr lang="en-GB" sz="1600" dirty="0"/>
              <a:t>I have spent this entire talk telling you to write files. Now I am telling you to throw them away, and I mean it.</a:t>
            </a:r>
          </a:p>
          <a:p>
            <a:endParaRPr lang="en-GB" sz="1600"/>
          </a:p>
          <a:p>
            <a:r>
              <a:rPr lang="en-GB" sz="1600" dirty="0"/>
              <a:t>Here is the reasoning. Every instruction you write is written for the model you have today. It encodes today's weaknesses. This model forgets to run the tests, so you add a line: always run the tests. This model writes the old syntax, so you add a paragraph about the new syntax.</a:t>
            </a:r>
          </a:p>
          <a:p>
            <a:endParaRPr lang="en-GB" sz="1600"/>
          </a:p>
          <a:p>
            <a:r>
              <a:rPr lang="en-GB" sz="1600" dirty="0"/>
              <a:t>Then in six months a new model ships, and it does not have those weaknesses. But your file still has those lines. And the model reads every one of them, every session. So now you are spending tokens and attention correcting a problem that no longer exists.</a:t>
            </a:r>
          </a:p>
          <a:p>
            <a:endParaRPr lang="en-GB" sz="1600"/>
          </a:p>
          <a:p>
            <a:r>
              <a:rPr lang="en-GB" sz="1600" dirty="0"/>
              <a:t>Worse than that: some of those workarounds actively make the new model dumber. Because you are steering it away from something it now does better than your instruction does.</a:t>
            </a:r>
          </a:p>
          <a:p>
            <a:endParaRPr lang="en-GB" sz="1600"/>
          </a:p>
          <a:p>
            <a:r>
              <a:rPr lang="en-GB" sz="1600" dirty="0"/>
              <a:t>And notice that this is the same story as the first ten minutes of this talk. The fine-tuned legal model was frozen in 2023 and the frontier walked past it. Your AGENTS.md is frozen too. It is just cheaper to fix.</a:t>
            </a:r>
          </a:p>
          <a:p>
            <a:endParaRPr lang="en-GB" sz="1600"/>
          </a:p>
          <a:p>
            <a:r>
              <a:rPr lang="en-GB" sz="1600" dirty="0"/>
              <a:t>Same hygiene as reading a skill before you run it. Both are about not accumulating files you have not earned.</a:t>
            </a:r>
          </a:p>
          <a:p>
            <a:endParaRPr lang="en-GB" sz="1600"/>
          </a:p>
          <a:p>
            <a:r>
              <a:rPr lang="en-GB" sz="1600" dirty="0"/>
              <a:t>So the habit is three steps.</a:t>
            </a:r>
          </a:p>
          <a:p>
            <a:endParaRPr lang="en-GB" sz="1600"/>
          </a:p>
          <a:p>
            <a:r>
              <a:rPr lang="en-GB" sz="1600" dirty="0"/>
              <a:t>Delete. Every six months or so, wipe your AGENTS.md, wipe your CLAUDE.md, wipe your skills folder. Git remembers them. You can always go and look.</a:t>
            </a:r>
          </a:p>
          <a:p>
            <a:endParaRPr lang="en-GB" sz="1600"/>
          </a:p>
          <a:p>
            <a:r>
              <a:rPr lang="en-GB" sz="1600" dirty="0"/>
              <a:t>Use. Run bare for a while. Do not guess at what it needs. Watch where it actually fails.</a:t>
            </a:r>
          </a:p>
          <a:p>
            <a:endParaRPr lang="en-GB" sz="1600"/>
          </a:p>
          <a:p>
            <a:r>
              <a:rPr lang="en-GB" sz="1600" dirty="0"/>
              <a:t>Re-add. Only when it stumbles on the same thing repeatedly. Repeatedly. Not once.</a:t>
            </a:r>
          </a:p>
          <a:p>
            <a:endParaRPr lang="en-GB" sz="1600"/>
          </a:p>
          <a:p>
            <a:r>
              <a:rPr lang="en-GB" sz="1600" dirty="0"/>
              <a:t>Boris Cherny, who built Claude Code, said this at YC Startup School and he did not hedge it: delete your skills.</a:t>
            </a:r>
          </a:p>
          <a:p>
            <a:endParaRPr lang="en-GB" sz="1600"/>
          </a:p>
          <a:p>
            <a:r>
              <a:rPr lang="en-GB" sz="1600" dirty="0"/>
              <a:t>The engineering word for this is ablation. Take a thing out and see whether it was doing anything. We do it to models. We should be doing it to prompts.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So — the checklist.</a:t>
            </a:r>
          </a:p>
          <a:p>
            <a:endParaRPr lang="en-GB" sz="1600"/>
          </a:p>
          <a:p>
            <a:r>
              <a:rPr lang="en-GB" sz="1600" dirty="0"/>
              <a:t>AGENTS.md, when the boundary is project behaviour.</a:t>
            </a:r>
          </a:p>
          <a:p>
            <a:endParaRPr lang="en-GB" sz="1600"/>
          </a:p>
          <a:p>
            <a:r>
              <a:rPr lang="en-GB" sz="1600" dirty="0"/>
              <a:t>Agent skills, when the boundary is task expertise. That is the one I would spend your Monday morning on.</a:t>
            </a:r>
          </a:p>
          <a:p>
            <a:endParaRPr lang="en-GB" sz="1600"/>
          </a:p>
          <a:p>
            <a:r>
              <a:rPr lang="en-GB" sz="1600" dirty="0"/>
              <a:t>MCP, when the boundary is tools and data.</a:t>
            </a:r>
          </a:p>
          <a:p>
            <a:endParaRPr lang="en-GB" sz="1600"/>
          </a:p>
          <a:p>
            <a:r>
              <a:rPr lang="en-GB" sz="1600" dirty="0"/>
              <a:t>A2A, when the boundary is other agents.</a:t>
            </a:r>
          </a:p>
          <a:p>
            <a:endParaRPr lang="en-GB" sz="1600"/>
          </a:p>
          <a:p>
            <a:r>
              <a:rPr lang="en-GB" sz="1600" dirty="0"/>
              <a:t>Subagents, when the boundary is scale.</a:t>
            </a:r>
          </a:p>
          <a:p>
            <a:endParaRPr lang="en-GB" sz="1600"/>
          </a:p>
          <a:p>
            <a:r>
              <a:rPr lang="en-GB" sz="1600" dirty="0"/>
              <a:t>Three sentences and I am done.</a:t>
            </a:r>
          </a:p>
          <a:p>
            <a:endParaRPr lang="en-GB" sz="1600"/>
          </a:p>
          <a:p>
            <a:r>
              <a:rPr lang="en-GB" sz="1600" dirty="0"/>
              <a:t>Name the boundary before you pick the mechanism. Almost every bad architecture decision in this space is somebody reaching for a protocol when they needed a paragraph of markdown.</a:t>
            </a:r>
          </a:p>
          <a:p>
            <a:endParaRPr lang="en-GB" sz="1600"/>
          </a:p>
          <a:p>
            <a:r>
              <a:rPr lang="en-GB" sz="1600" dirty="0"/>
              <a:t>Prefer files before weights. We spent the first ten minutes earning that one. You can change a file this afternoon. A training run you live with, and maintain, for months.</a:t>
            </a:r>
          </a:p>
          <a:p>
            <a:endParaRPr lang="en-GB" sz="1600"/>
          </a:p>
          <a:p>
            <a:r>
              <a:rPr lang="en-GB" sz="1600" dirty="0"/>
              <a:t>And every few model generations, delete whatever no longer earns its tokens.</a:t>
            </a:r>
          </a:p>
          <a:p>
            <a:endParaRPr lang="en-GB" sz="1600"/>
          </a:p>
          <a:p>
            <a:r>
              <a:rPr lang="en-GB" sz="1600" dirty="0"/>
              <a:t>Sources are on the slide. Thank you very much.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2"/>
          <p:cNvSpPr txBox="1"/>
          <p:nvPr/>
        </p:nvSpPr>
        <p:spPr>
          <a:xfrm>
            <a:off x="400050" y="700000"/>
            <a:ext cx="7600000" cy="2100000"/>
          </a:xfrm>
          <a:prstGeom prst="rect">
            <a:avLst/>
          </a:prstGeom>
          <a:noFill/>
        </p:spPr>
        <p:txBody>
          <a:bodyPr wrap="square" lIns="0" tIns="0" rIns="0" bIns="0" anchor="t">
            <a:noAutofit/>
          </a:bodyPr>
          <a:lstStyle/>
          <a:p>
            <a:pPr algn="l">
              <a:lnSpc>
                <a:spcPct val="98000"/>
              </a:lnSpc>
              <a:buNone/>
              <a:defRPr sz="5400" b="1">
                <a:solidFill>
                  <a:srgbClr val="000000"/>
                </a:solidFill>
              </a:defRPr>
            </a:pPr>
            <a:r>
              <a:rPr lang="en-GB" sz="5400" b="1" dirty="0">
                <a:solidFill>
                  <a:srgbClr val="000000"/>
                </a:solidFill>
              </a:rPr>
              <a:t>5 AI Agent Terms You Need to Know</a:t>
            </a:r>
          </a:p>
        </p:txBody>
      </p:sp>
      <p:sp>
        <p:nvSpPr>
          <p:cNvPr id="103" name="Rectangle 104"/>
          <p:cNvSpPr>
            <a:spLocks noGrp="1"/>
          </p:cNvSpPr>
          <p:nvPr/>
        </p:nvSpPr>
        <p:spPr>
          <a:xfrm>
            <a:off x="400050" y="2900000"/>
            <a:ext cx="1847850" cy="76200"/>
          </a:xfrm>
          <a:prstGeom prst="rect">
            <a:avLst/>
          </a:prstGeom>
          <a:solidFill>
            <a:srgbClr val="FF6B35"/>
          </a:solidFill>
          <a:ln w="0">
            <a:noFill/>
            <a:prstDash val="solid"/>
          </a:ln>
        </p:spPr>
        <p:txBody>
          <a:bodyPr/>
          <a:lstStyle/>
          <a:p>
            <a:endParaRPr lang="en-GB"/>
          </a:p>
        </p:txBody>
      </p:sp>
      <p:sp>
        <p:nvSpPr>
          <p:cNvPr id="105" name="TextBox 106"/>
          <p:cNvSpPr txBox="1"/>
          <p:nvPr/>
        </p:nvSpPr>
        <p:spPr>
          <a:xfrm>
            <a:off x="400050" y="3300000"/>
            <a:ext cx="7400000" cy="800000"/>
          </a:xfrm>
          <a:prstGeom prst="rect">
            <a:avLst/>
          </a:prstGeom>
          <a:noFill/>
        </p:spPr>
        <p:txBody>
          <a:bodyPr wrap="square" lIns="0" tIns="0" rIns="0" bIns="0" anchor="t">
            <a:noAutofit/>
          </a:bodyPr>
          <a:lstStyle/>
          <a:p>
            <a:pPr algn="l">
              <a:buNone/>
              <a:defRPr sz="4000" b="0">
                <a:solidFill>
                  <a:srgbClr val="222222"/>
                </a:solidFill>
              </a:defRPr>
            </a:pPr>
            <a:r>
              <a:rPr lang="en-GB" sz="4000" b="0" dirty="0">
                <a:solidFill>
                  <a:srgbClr val="222222"/>
                </a:solidFill>
              </a:rPr>
              <a:t>Devlin Duldulao</a:t>
            </a:r>
          </a:p>
        </p:txBody>
      </p:sp>
      <p:sp>
        <p:nvSpPr>
          <p:cNvPr id="107" name="Rectangle 108"/>
          <p:cNvSpPr>
            <a:spLocks noGrp="1"/>
          </p:cNvSpPr>
          <p:nvPr/>
        </p:nvSpPr>
        <p:spPr>
          <a:xfrm>
            <a:off x="8496300" y="704850"/>
            <a:ext cx="2914650" cy="4533900"/>
          </a:xfrm>
          <a:prstGeom prst="rect">
            <a:avLst/>
          </a:prstGeom>
          <a:solidFill>
            <a:srgbClr val="EDEDED"/>
          </a:solidFill>
          <a:ln w="0">
            <a:noFill/>
            <a:prstDash val="solid"/>
          </a:ln>
        </p:spPr>
        <p:txBody>
          <a:bodyPr/>
          <a:lstStyle/>
          <a:p>
            <a:endParaRPr lang="en-GB"/>
          </a:p>
        </p:txBody>
      </p:sp>
      <p:sp>
        <p:nvSpPr>
          <p:cNvPr id="109" name="TextBox 110"/>
          <p:cNvSpPr txBox="1"/>
          <p:nvPr/>
        </p:nvSpPr>
        <p:spPr>
          <a:xfrm>
            <a:off x="8877300" y="1200150"/>
            <a:ext cx="2190750" cy="420000"/>
          </a:xfrm>
          <a:prstGeom prst="rect">
            <a:avLst/>
          </a:prstGeom>
          <a:noFill/>
        </p:spPr>
        <p:txBody>
          <a:bodyPr wrap="square" lIns="0" tIns="0" rIns="0" bIns="0" anchor="t">
            <a:noAutofit/>
          </a:bodyPr>
          <a:lstStyle/>
          <a:p>
            <a:pPr algn="l">
              <a:buNone/>
              <a:defRPr sz="2600" b="0">
                <a:solidFill>
                  <a:srgbClr val="000000"/>
                </a:solidFill>
              </a:defRPr>
            </a:pPr>
            <a:r>
              <a:rPr lang="en-GB" sz="2600" b="0" dirty="0">
                <a:solidFill>
                  <a:srgbClr val="000000"/>
                </a:solidFill>
              </a:rPr>
              <a:t>the setup</a:t>
            </a:r>
          </a:p>
        </p:txBody>
      </p:sp>
      <p:sp>
        <p:nvSpPr>
          <p:cNvPr id="111" name="Rectangle 112"/>
          <p:cNvSpPr>
            <a:spLocks noGrp="1"/>
          </p:cNvSpPr>
          <p:nvPr/>
        </p:nvSpPr>
        <p:spPr>
          <a:xfrm>
            <a:off x="8877300" y="1700150"/>
            <a:ext cx="1809750" cy="19050"/>
          </a:xfrm>
          <a:prstGeom prst="rect">
            <a:avLst/>
          </a:prstGeom>
          <a:solidFill>
            <a:srgbClr val="B8BCC4"/>
          </a:solidFill>
          <a:ln w="0">
            <a:noFill/>
            <a:prstDash val="solid"/>
          </a:ln>
        </p:spPr>
        <p:txBody>
          <a:bodyPr/>
          <a:lstStyle/>
          <a:p>
            <a:endParaRPr lang="en-GB"/>
          </a:p>
        </p:txBody>
      </p:sp>
      <p:sp>
        <p:nvSpPr>
          <p:cNvPr id="113" name="TextBox 114"/>
          <p:cNvSpPr txBox="1"/>
          <p:nvPr/>
        </p:nvSpPr>
        <p:spPr>
          <a:xfrm>
            <a:off x="8877300" y="1840150"/>
            <a:ext cx="2190750" cy="760000"/>
          </a:xfrm>
          <a:prstGeom prst="rect">
            <a:avLst/>
          </a:prstGeom>
          <a:noFill/>
        </p:spPr>
        <p:txBody>
          <a:bodyPr wrap="square" lIns="0" tIns="0" rIns="0" bIns="0" anchor="t">
            <a:noAutofit/>
          </a:bodyPr>
          <a:lstStyle/>
          <a:p>
            <a:pPr algn="l">
              <a:lnSpc>
                <a:spcPct val="105000"/>
              </a:lnSpc>
              <a:buNone/>
              <a:defRPr sz="1800" b="0">
                <a:solidFill>
                  <a:srgbClr val="555555"/>
                </a:solidFill>
              </a:defRPr>
            </a:pPr>
            <a:r>
              <a:rPr lang="en-GB" sz="1800" b="0" dirty="0">
                <a:solidFill>
                  <a:srgbClr val="555555"/>
                </a:solidFill>
              </a:rPr>
              <a:t>why files beat weights</a:t>
            </a:r>
          </a:p>
        </p:txBody>
      </p:sp>
      <p:sp>
        <p:nvSpPr>
          <p:cNvPr id="115" name="TextBox 116"/>
          <p:cNvSpPr txBox="1"/>
          <p:nvPr/>
        </p:nvSpPr>
        <p:spPr>
          <a:xfrm>
            <a:off x="8877300" y="2609850"/>
            <a:ext cx="2190750" cy="420000"/>
          </a:xfrm>
          <a:prstGeom prst="rect">
            <a:avLst/>
          </a:prstGeom>
          <a:noFill/>
        </p:spPr>
        <p:txBody>
          <a:bodyPr wrap="square" lIns="0" tIns="0" rIns="0" bIns="0" anchor="t">
            <a:noAutofit/>
          </a:bodyPr>
          <a:lstStyle/>
          <a:p>
            <a:pPr algn="l">
              <a:buNone/>
              <a:defRPr sz="2600" b="0">
                <a:solidFill>
                  <a:srgbClr val="000000"/>
                </a:solidFill>
              </a:defRPr>
            </a:pPr>
            <a:r>
              <a:rPr lang="en-GB" sz="2600" b="0" dirty="0">
                <a:solidFill>
                  <a:srgbClr val="000000"/>
                </a:solidFill>
              </a:rPr>
              <a:t>the five terms</a:t>
            </a:r>
          </a:p>
        </p:txBody>
      </p:sp>
      <p:sp>
        <p:nvSpPr>
          <p:cNvPr id="117" name="Rectangle 118"/>
          <p:cNvSpPr>
            <a:spLocks noGrp="1"/>
          </p:cNvSpPr>
          <p:nvPr/>
        </p:nvSpPr>
        <p:spPr>
          <a:xfrm>
            <a:off x="8877300" y="3109850"/>
            <a:ext cx="1809750" cy="19050"/>
          </a:xfrm>
          <a:prstGeom prst="rect">
            <a:avLst/>
          </a:prstGeom>
          <a:solidFill>
            <a:srgbClr val="B8BCC4"/>
          </a:solidFill>
          <a:ln w="0">
            <a:noFill/>
            <a:prstDash val="solid"/>
          </a:ln>
        </p:spPr>
        <p:txBody>
          <a:bodyPr/>
          <a:lstStyle/>
          <a:p>
            <a:endParaRPr lang="en-GB"/>
          </a:p>
        </p:txBody>
      </p:sp>
      <p:sp>
        <p:nvSpPr>
          <p:cNvPr id="119" name="TextBox 120"/>
          <p:cNvSpPr txBox="1"/>
          <p:nvPr/>
        </p:nvSpPr>
        <p:spPr>
          <a:xfrm>
            <a:off x="8877300" y="3249850"/>
            <a:ext cx="2190750" cy="760000"/>
          </a:xfrm>
          <a:prstGeom prst="rect">
            <a:avLst/>
          </a:prstGeom>
          <a:noFill/>
        </p:spPr>
        <p:txBody>
          <a:bodyPr wrap="square" lIns="0" tIns="0" rIns="0" bIns="0" anchor="t">
            <a:noAutofit/>
          </a:bodyPr>
          <a:lstStyle/>
          <a:p>
            <a:pPr algn="l">
              <a:lnSpc>
                <a:spcPct val="105000"/>
              </a:lnSpc>
              <a:buNone/>
              <a:defRPr sz="1800" b="0">
                <a:solidFill>
                  <a:srgbClr val="555555"/>
                </a:solidFill>
              </a:defRPr>
            </a:pPr>
            <a:r>
              <a:rPr lang="en-GB" sz="1800" b="0" dirty="0">
                <a:solidFill>
                  <a:srgbClr val="555555"/>
                </a:solidFill>
              </a:rPr>
              <a:t>and five live demos</a:t>
            </a:r>
          </a:p>
        </p:txBody>
      </p:sp>
      <p:sp>
        <p:nvSpPr>
          <p:cNvPr id="121" name="TextBox 122"/>
          <p:cNvSpPr txBox="1"/>
          <p:nvPr/>
        </p:nvSpPr>
        <p:spPr>
          <a:xfrm>
            <a:off x="8877300" y="4019550"/>
            <a:ext cx="2190750" cy="420000"/>
          </a:xfrm>
          <a:prstGeom prst="rect">
            <a:avLst/>
          </a:prstGeom>
          <a:noFill/>
        </p:spPr>
        <p:txBody>
          <a:bodyPr wrap="square" lIns="0" tIns="0" rIns="0" bIns="0" anchor="t">
            <a:noAutofit/>
          </a:bodyPr>
          <a:lstStyle/>
          <a:p>
            <a:pPr algn="l">
              <a:buNone/>
              <a:defRPr sz="2600" b="0">
                <a:solidFill>
                  <a:srgbClr val="000000"/>
                </a:solidFill>
              </a:defRPr>
            </a:pPr>
            <a:r>
              <a:rPr lang="en-GB" sz="2600" b="0" dirty="0">
                <a:solidFill>
                  <a:srgbClr val="000000"/>
                </a:solidFill>
              </a:rPr>
              <a:t>the habit</a:t>
            </a:r>
          </a:p>
        </p:txBody>
      </p:sp>
      <p:sp>
        <p:nvSpPr>
          <p:cNvPr id="123" name="Rectangle 124"/>
          <p:cNvSpPr>
            <a:spLocks noGrp="1"/>
          </p:cNvSpPr>
          <p:nvPr/>
        </p:nvSpPr>
        <p:spPr>
          <a:xfrm>
            <a:off x="8877300" y="4519550"/>
            <a:ext cx="1809750" cy="19050"/>
          </a:xfrm>
          <a:prstGeom prst="rect">
            <a:avLst/>
          </a:prstGeom>
          <a:solidFill>
            <a:srgbClr val="B8BCC4"/>
          </a:solidFill>
          <a:ln w="0">
            <a:noFill/>
            <a:prstDash val="solid"/>
          </a:ln>
        </p:spPr>
        <p:txBody>
          <a:bodyPr/>
          <a:lstStyle/>
          <a:p>
            <a:endParaRPr lang="en-GB"/>
          </a:p>
        </p:txBody>
      </p:sp>
      <p:sp>
        <p:nvSpPr>
          <p:cNvPr id="125" name="TextBox 126"/>
          <p:cNvSpPr txBox="1"/>
          <p:nvPr/>
        </p:nvSpPr>
        <p:spPr>
          <a:xfrm>
            <a:off x="8877300" y="4659550"/>
            <a:ext cx="2190750" cy="760000"/>
          </a:xfrm>
          <a:prstGeom prst="rect">
            <a:avLst/>
          </a:prstGeom>
          <a:noFill/>
        </p:spPr>
        <p:txBody>
          <a:bodyPr wrap="square" lIns="0" tIns="0" rIns="0" bIns="0" anchor="t">
            <a:noAutofit/>
          </a:bodyPr>
          <a:lstStyle/>
          <a:p>
            <a:pPr algn="l">
              <a:lnSpc>
                <a:spcPct val="105000"/>
              </a:lnSpc>
              <a:buNone/>
              <a:defRPr sz="1800" b="0">
                <a:solidFill>
                  <a:srgbClr val="555555"/>
                </a:solidFill>
              </a:defRPr>
            </a:pPr>
            <a:r>
              <a:rPr lang="en-GB" sz="1800" b="0" dirty="0">
                <a:solidFill>
                  <a:srgbClr val="555555"/>
                </a:solidFill>
              </a:rPr>
              <a:t>delete your skills</a:t>
            </a:r>
          </a:p>
        </p:txBody>
      </p:sp>
      <p:sp>
        <p:nvSpPr>
          <p:cNvPr id="127" name="TextBox 128"/>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how we got here</a:t>
            </a:r>
          </a:p>
        </p:txBody>
      </p:sp>
      <p:sp>
        <p:nvSpPr>
          <p:cNvPr id="129" name="TextBox 130"/>
          <p:cNvSpPr txBox="1"/>
          <p:nvPr/>
        </p:nvSpPr>
        <p:spPr>
          <a:xfrm>
            <a:off x="11091950" y="6320000"/>
            <a:ext cx="700000" cy="320000"/>
          </a:xfrm>
          <a:prstGeom prst="rect">
            <a:avLst/>
          </a:prstGeom>
          <a:noFill/>
        </p:spPr>
        <p:txBody>
          <a:bodyPr wrap="square" lIns="0" tIns="0" rIns="0" bIns="0" anchor="t">
            <a:noAutofit/>
          </a:bodyPr>
          <a:lstStyle/>
          <a:p>
            <a:pPr algn="r">
              <a:buNone/>
              <a:defRPr sz="1400" b="0">
                <a:solidFill>
                  <a:srgbClr val="000000"/>
                </a:solidFill>
              </a:defRPr>
            </a:pPr>
            <a:r>
              <a:rPr lang="en-GB" sz="1400" b="0" dirty="0">
                <a:solidFill>
                  <a:srgbClr val="000000"/>
                </a:solidFill>
              </a:rPr>
              <a:t>01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2"/>
          <p:cNvSpPr txBox="1"/>
          <p:nvPr/>
        </p:nvSpPr>
        <p:spPr>
          <a:xfrm>
            <a:off x="400050" y="320000"/>
            <a:ext cx="11391900" cy="300000"/>
          </a:xfrm>
          <a:prstGeom prst="rect">
            <a:avLst/>
          </a:prstGeom>
          <a:noFill/>
        </p:spPr>
        <p:txBody>
          <a:bodyPr wrap="square" lIns="0" tIns="0" rIns="0" bIns="0" anchor="t">
            <a:noAutofit/>
          </a:bodyPr>
          <a:lstStyle/>
          <a:p>
            <a:pPr algn="l">
              <a:buNone/>
              <a:defRPr sz="1800" b="1">
                <a:solidFill>
                  <a:srgbClr val="555555"/>
                </a:solidFill>
              </a:defRPr>
            </a:pPr>
            <a:r>
              <a:rPr lang="en-GB" sz="1800" b="1" dirty="0">
                <a:solidFill>
                  <a:srgbClr val="555555"/>
                </a:solidFill>
              </a:rPr>
              <a:t>2023</a:t>
            </a:r>
          </a:p>
        </p:txBody>
      </p:sp>
      <p:sp>
        <p:nvSpPr>
          <p:cNvPr id="103" name="TextBox 104"/>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The answer was: train your own.</a:t>
            </a:r>
          </a:p>
        </p:txBody>
      </p:sp>
      <p:sp>
        <p:nvSpPr>
          <p:cNvPr id="105" name="TextBox 106"/>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how we got here</a:t>
            </a:r>
          </a:p>
        </p:txBody>
      </p:sp>
      <p:sp>
        <p:nvSpPr>
          <p:cNvPr id="107" name="TextBox 108"/>
          <p:cNvSpPr txBox="1"/>
          <p:nvPr/>
        </p:nvSpPr>
        <p:spPr>
          <a:xfrm>
            <a:off x="11091950" y="6320000"/>
            <a:ext cx="700000" cy="320000"/>
          </a:xfrm>
          <a:prstGeom prst="rect">
            <a:avLst/>
          </a:prstGeom>
          <a:noFill/>
        </p:spPr>
        <p:txBody>
          <a:bodyPr wrap="square" lIns="0" tIns="0" rIns="0" bIns="0" anchor="t">
            <a:noAutofit/>
          </a:bodyPr>
          <a:lstStyle/>
          <a:p>
            <a:pPr algn="r">
              <a:buNone/>
              <a:defRPr sz="1400" b="0">
                <a:solidFill>
                  <a:srgbClr val="000000"/>
                </a:solidFill>
              </a:defRPr>
            </a:pPr>
            <a:r>
              <a:rPr lang="en-GB" sz="1400" b="0" dirty="0">
                <a:solidFill>
                  <a:srgbClr val="000000"/>
                </a:solidFill>
              </a:rPr>
              <a:t>02</a:t>
            </a:r>
          </a:p>
        </p:txBody>
      </p:sp>
      <p:sp>
        <p:nvSpPr>
          <p:cNvPr id="109" name="TextBox 110"/>
          <p:cNvSpPr txBox="1"/>
          <p:nvPr/>
        </p:nvSpPr>
        <p:spPr>
          <a:xfrm>
            <a:off x="400050" y="1850000"/>
            <a:ext cx="7000000" cy="2000000"/>
          </a:xfrm>
          <a:prstGeom prst="rect">
            <a:avLst/>
          </a:prstGeom>
          <a:noFill/>
        </p:spPr>
        <p:txBody>
          <a:bodyPr wrap="square" lIns="0" tIns="0" rIns="0" bIns="0" anchor="t">
            <a:noAutofit/>
          </a:bodyPr>
          <a:lstStyle/>
          <a:p>
            <a:pPr algn="l">
              <a:lnSpc>
                <a:spcPct val="95000"/>
              </a:lnSpc>
              <a:buNone/>
              <a:defRPr sz="12000" b="1">
                <a:solidFill>
                  <a:srgbClr val="000000"/>
                </a:solidFill>
              </a:defRPr>
            </a:pPr>
            <a:r>
              <a:rPr lang="en-GB" sz="12000" b="1" dirty="0">
                <a:solidFill>
                  <a:srgbClr val="000000"/>
                </a:solidFill>
              </a:rPr>
              <a:t>97%</a:t>
            </a:r>
          </a:p>
        </p:txBody>
      </p:sp>
      <p:sp>
        <p:nvSpPr>
          <p:cNvPr id="111" name="Rectangle 112"/>
          <p:cNvSpPr>
            <a:spLocks noGrp="1"/>
          </p:cNvSpPr>
          <p:nvPr/>
        </p:nvSpPr>
        <p:spPr>
          <a:xfrm>
            <a:off x="400050" y="4020000"/>
            <a:ext cx="3600000" cy="76200"/>
          </a:xfrm>
          <a:prstGeom prst="rect">
            <a:avLst/>
          </a:prstGeom>
          <a:solidFill>
            <a:srgbClr val="FF6B35"/>
          </a:solidFill>
          <a:ln w="0">
            <a:noFill/>
            <a:prstDash val="solid"/>
          </a:ln>
        </p:spPr>
        <p:txBody>
          <a:bodyPr/>
          <a:lstStyle/>
          <a:p>
            <a:endParaRPr lang="en-GB"/>
          </a:p>
        </p:txBody>
      </p:sp>
      <p:sp>
        <p:nvSpPr>
          <p:cNvPr id="113" name="TextBox 114"/>
          <p:cNvSpPr txBox="1"/>
          <p:nvPr/>
        </p:nvSpPr>
        <p:spPr>
          <a:xfrm>
            <a:off x="400050" y="4320000"/>
            <a:ext cx="10200000" cy="1100000"/>
          </a:xfrm>
          <a:prstGeom prst="rect">
            <a:avLst/>
          </a:prstGeom>
          <a:noFill/>
        </p:spPr>
        <p:txBody>
          <a:bodyPr wrap="square" lIns="0" tIns="0" rIns="0" bIns="0" anchor="t">
            <a:noAutofit/>
          </a:bodyPr>
          <a:lstStyle/>
          <a:p>
            <a:pPr algn="l">
              <a:lnSpc>
                <a:spcPct val="104000"/>
              </a:lnSpc>
              <a:buNone/>
              <a:defRPr sz="3200" b="0">
                <a:solidFill>
                  <a:srgbClr val="222222"/>
                </a:solidFill>
              </a:defRPr>
            </a:pPr>
            <a:r>
              <a:rPr lang="en-GB" sz="3200" b="0" dirty="0">
                <a:solidFill>
                  <a:srgbClr val="222222"/>
                </a:solidFill>
              </a:rPr>
              <a:t>of blind comparisons preferred a fine-tuned legal model over GPT-4</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2"/>
          <p:cNvSpPr txBox="1"/>
          <p:nvPr/>
        </p:nvSpPr>
        <p:spPr>
          <a:xfrm>
            <a:off x="400050" y="320000"/>
            <a:ext cx="11391900" cy="300000"/>
          </a:xfrm>
          <a:prstGeom prst="rect">
            <a:avLst/>
          </a:prstGeom>
          <a:noFill/>
        </p:spPr>
        <p:txBody>
          <a:bodyPr wrap="square" lIns="0" tIns="0" rIns="0" bIns="0" anchor="t">
            <a:noAutofit/>
          </a:bodyPr>
          <a:lstStyle/>
          <a:p>
            <a:pPr algn="l">
              <a:buNone/>
              <a:defRPr sz="1800" b="1">
                <a:solidFill>
                  <a:srgbClr val="555555"/>
                </a:solidFill>
              </a:defRPr>
            </a:pPr>
            <a:r>
              <a:rPr lang="en-GB" sz="1800" b="1" dirty="0">
                <a:solidFill>
                  <a:srgbClr val="555555"/>
                </a:solidFill>
              </a:rPr>
              <a:t>2025</a:t>
            </a:r>
          </a:p>
        </p:txBody>
      </p:sp>
      <p:sp>
        <p:nvSpPr>
          <p:cNvPr id="103" name="TextBox 104"/>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Two years later, seven models beat it.</a:t>
            </a:r>
          </a:p>
        </p:txBody>
      </p:sp>
      <p:sp>
        <p:nvSpPr>
          <p:cNvPr id="105" name="TextBox 106"/>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how we got here</a:t>
            </a:r>
          </a:p>
        </p:txBody>
      </p:sp>
      <p:sp>
        <p:nvSpPr>
          <p:cNvPr id="107" name="TextBox 108"/>
          <p:cNvSpPr txBox="1"/>
          <p:nvPr/>
        </p:nvSpPr>
        <p:spPr>
          <a:xfrm>
            <a:off x="11091950" y="6320000"/>
            <a:ext cx="700000" cy="320000"/>
          </a:xfrm>
          <a:prstGeom prst="rect">
            <a:avLst/>
          </a:prstGeom>
          <a:noFill/>
        </p:spPr>
        <p:txBody>
          <a:bodyPr wrap="square" lIns="0" tIns="0" rIns="0" bIns="0" anchor="t">
            <a:noAutofit/>
          </a:bodyPr>
          <a:lstStyle/>
          <a:p>
            <a:pPr algn="r">
              <a:buNone/>
              <a:defRPr sz="1400" b="0">
                <a:solidFill>
                  <a:srgbClr val="000000"/>
                </a:solidFill>
              </a:defRPr>
            </a:pPr>
            <a:r>
              <a:rPr lang="en-GB" sz="1400" b="0" dirty="0">
                <a:solidFill>
                  <a:srgbClr val="000000"/>
                </a:solidFill>
              </a:rPr>
              <a:t>03</a:t>
            </a:r>
          </a:p>
        </p:txBody>
      </p:sp>
      <p:sp>
        <p:nvSpPr>
          <p:cNvPr id="109" name="TextBox 110"/>
          <p:cNvSpPr txBox="1"/>
          <p:nvPr/>
        </p:nvSpPr>
        <p:spPr>
          <a:xfrm>
            <a:off x="400050" y="1850000"/>
            <a:ext cx="7000000" cy="2000000"/>
          </a:xfrm>
          <a:prstGeom prst="rect">
            <a:avLst/>
          </a:prstGeom>
          <a:noFill/>
        </p:spPr>
        <p:txBody>
          <a:bodyPr wrap="square" lIns="0" tIns="0" rIns="0" bIns="0" anchor="t">
            <a:noAutofit/>
          </a:bodyPr>
          <a:lstStyle/>
          <a:p>
            <a:pPr algn="l">
              <a:lnSpc>
                <a:spcPct val="95000"/>
              </a:lnSpc>
              <a:buNone/>
              <a:defRPr sz="12000" b="1">
                <a:solidFill>
                  <a:srgbClr val="000000"/>
                </a:solidFill>
              </a:defRPr>
            </a:pPr>
            <a:r>
              <a:rPr lang="en-GB" sz="12000" b="1" dirty="0">
                <a:solidFill>
                  <a:srgbClr val="000000"/>
                </a:solidFill>
              </a:rPr>
              <a:t>7</a:t>
            </a:r>
          </a:p>
        </p:txBody>
      </p:sp>
      <p:sp>
        <p:nvSpPr>
          <p:cNvPr id="111" name="Rectangle 112"/>
          <p:cNvSpPr>
            <a:spLocks noGrp="1"/>
          </p:cNvSpPr>
          <p:nvPr/>
        </p:nvSpPr>
        <p:spPr>
          <a:xfrm>
            <a:off x="400050" y="4020000"/>
            <a:ext cx="3600000" cy="76200"/>
          </a:xfrm>
          <a:prstGeom prst="rect">
            <a:avLst/>
          </a:prstGeom>
          <a:solidFill>
            <a:srgbClr val="FF6B35"/>
          </a:solidFill>
          <a:ln w="0">
            <a:noFill/>
            <a:prstDash val="solid"/>
          </a:ln>
        </p:spPr>
        <p:txBody>
          <a:bodyPr/>
          <a:lstStyle/>
          <a:p>
            <a:endParaRPr lang="en-GB"/>
          </a:p>
        </p:txBody>
      </p:sp>
      <p:sp>
        <p:nvSpPr>
          <p:cNvPr id="113" name="TextBox 114"/>
          <p:cNvSpPr txBox="1"/>
          <p:nvPr/>
        </p:nvSpPr>
        <p:spPr>
          <a:xfrm>
            <a:off x="400050" y="4320000"/>
            <a:ext cx="10200000" cy="1100000"/>
          </a:xfrm>
          <a:prstGeom prst="rect">
            <a:avLst/>
          </a:prstGeom>
          <a:noFill/>
        </p:spPr>
        <p:txBody>
          <a:bodyPr wrap="square" lIns="0" tIns="0" rIns="0" bIns="0" anchor="t">
            <a:noAutofit/>
          </a:bodyPr>
          <a:lstStyle/>
          <a:p>
            <a:pPr algn="l">
              <a:lnSpc>
                <a:spcPct val="104000"/>
              </a:lnSpc>
              <a:buNone/>
              <a:defRPr sz="3200" b="0">
                <a:solidFill>
                  <a:srgbClr val="222222"/>
                </a:solidFill>
              </a:defRPr>
            </a:pPr>
            <a:r>
              <a:rPr lang="en-GB" sz="3200" b="0" dirty="0">
                <a:solidFill>
                  <a:srgbClr val="222222"/>
                </a:solidFill>
              </a:rPr>
              <a:t>general-purpose models, none of them trained on a single contract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The frontier moved underneath them.</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how we got here</a:t>
            </a:r>
          </a:p>
        </p:txBody>
      </p:sp>
      <p:sp>
        <p:nvSpPr>
          <p:cNvPr id="105" name="TextBox 106"/>
          <p:cNvSpPr txBox="1"/>
          <p:nvPr/>
        </p:nvSpPr>
        <p:spPr>
          <a:xfrm>
            <a:off x="11091950" y="6320000"/>
            <a:ext cx="700000" cy="320000"/>
          </a:xfrm>
          <a:prstGeom prst="rect">
            <a:avLst/>
          </a:prstGeom>
          <a:noFill/>
        </p:spPr>
        <p:txBody>
          <a:bodyPr wrap="square" lIns="0" tIns="0" rIns="0" bIns="0" anchor="t">
            <a:noAutofit/>
          </a:bodyPr>
          <a:lstStyle/>
          <a:p>
            <a:pPr algn="r">
              <a:buNone/>
              <a:defRPr sz="1400" b="0">
                <a:solidFill>
                  <a:srgbClr val="000000"/>
                </a:solidFill>
              </a:defRPr>
            </a:pPr>
            <a:r>
              <a:rPr lang="en-GB" sz="1400" b="0" dirty="0">
                <a:solidFill>
                  <a:srgbClr val="000000"/>
                </a:solidFill>
              </a:rPr>
              <a:t>04</a:t>
            </a:r>
          </a:p>
        </p:txBody>
      </p:sp>
      <p:sp>
        <p:nvSpPr>
          <p:cNvPr id="107" name="Rectangle 108"/>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CONTEXT WINDOW</a:t>
            </a:r>
          </a:p>
        </p:txBody>
      </p:sp>
      <p:sp>
        <p:nvSpPr>
          <p:cNvPr id="111" name="TextBox 112"/>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2k → 1M+</a:t>
            </a:r>
          </a:p>
        </p:txBody>
      </p:sp>
      <p:sp>
        <p:nvSpPr>
          <p:cNvPr id="113" name="TextBox 114"/>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read it, don't bake it</a:t>
            </a:r>
          </a:p>
        </p:txBody>
      </p:sp>
      <p:sp>
        <p:nvSpPr>
          <p:cNvPr id="115" name="Rectangle 116"/>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REASONING</a:t>
            </a:r>
          </a:p>
        </p:txBody>
      </p:sp>
      <p:sp>
        <p:nvSpPr>
          <p:cNvPr id="121" name="TextBox 122"/>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At question time</a:t>
            </a:r>
          </a:p>
        </p:txBody>
      </p:sp>
      <p:sp>
        <p:nvSpPr>
          <p:cNvPr id="123" name="TextBox 124"/>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not eight months ago</a:t>
            </a:r>
          </a:p>
        </p:txBody>
      </p:sp>
      <p:sp>
        <p:nvSpPr>
          <p:cNvPr id="125" name="Rectangle 126"/>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COST</a:t>
            </a:r>
          </a:p>
        </p:txBody>
      </p:sp>
      <p:sp>
        <p:nvSpPr>
          <p:cNvPr id="131" name="TextBox 132"/>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Falls every quarter</a:t>
            </a:r>
          </a:p>
        </p:txBody>
      </p:sp>
      <p:sp>
        <p:nvSpPr>
          <p:cNvPr id="133" name="TextBox 134"/>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for free, while you sleep</a:t>
            </a:r>
          </a:p>
        </p:txBody>
      </p:sp>
      <p:sp>
        <p:nvSpPr>
          <p:cNvPr id="135" name="TextBox 136"/>
          <p:cNvSpPr txBox="1"/>
          <p:nvPr/>
        </p:nvSpPr>
        <p:spPr>
          <a:xfrm>
            <a:off x="400050" y="5050000"/>
            <a:ext cx="113919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A fine-tune is a snapshot. The frontier is a video.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So customisation moved off the weights.</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how we got here</a:t>
            </a:r>
          </a:p>
        </p:txBody>
      </p:sp>
      <p:sp>
        <p:nvSpPr>
          <p:cNvPr id="105" name="TextBox 106"/>
          <p:cNvSpPr txBox="1"/>
          <p:nvPr/>
        </p:nvSpPr>
        <p:spPr>
          <a:xfrm>
            <a:off x="11091950" y="6320000"/>
            <a:ext cx="700000" cy="320000"/>
          </a:xfrm>
          <a:prstGeom prst="rect">
            <a:avLst/>
          </a:prstGeom>
          <a:noFill/>
        </p:spPr>
        <p:txBody>
          <a:bodyPr wrap="square" lIns="0" tIns="0" rIns="0" bIns="0" anchor="t">
            <a:noAutofit/>
          </a:bodyPr>
          <a:lstStyle/>
          <a:p>
            <a:pPr algn="r">
              <a:buNone/>
              <a:defRPr sz="1400" b="0">
                <a:solidFill>
                  <a:srgbClr val="000000"/>
                </a:solidFill>
              </a:defRPr>
            </a:pPr>
            <a:r>
              <a:rPr lang="en-GB" sz="1400" b="0" dirty="0">
                <a:solidFill>
                  <a:srgbClr val="000000"/>
                </a:solidFill>
              </a:rPr>
              <a:t>05</a:t>
            </a:r>
          </a:p>
        </p:txBody>
      </p:sp>
      <p:sp>
        <p:nvSpPr>
          <p:cNvPr id="107" name="Rectangle 108"/>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FACTS</a:t>
            </a:r>
          </a:p>
        </p:txBody>
      </p:sp>
      <p:sp>
        <p:nvSpPr>
          <p:cNvPr id="111" name="TextBox 112"/>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Retrieval</a:t>
            </a:r>
          </a:p>
        </p:txBody>
      </p:sp>
      <p:sp>
        <p:nvSpPr>
          <p:cNvPr id="113" name="TextBox 114"/>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fresh · traceable · governed</a:t>
            </a:r>
          </a:p>
        </p:txBody>
      </p:sp>
      <p:sp>
        <p:nvSpPr>
          <p:cNvPr id="115" name="Rectangle 116"/>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FRAMING</a:t>
            </a:r>
          </a:p>
        </p:txBody>
      </p:sp>
      <p:sp>
        <p:nvSpPr>
          <p:cNvPr id="121" name="TextBox 122"/>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Context</a:t>
            </a:r>
          </a:p>
        </p:txBody>
      </p:sp>
      <p:sp>
        <p:nvSpPr>
          <p:cNvPr id="123" name="TextBox 124"/>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assembled in code, not typed</a:t>
            </a:r>
          </a:p>
        </p:txBody>
      </p:sp>
      <p:sp>
        <p:nvSpPr>
          <p:cNvPr id="125" name="Rectangle 126"/>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KNOW-HOW</a:t>
            </a:r>
          </a:p>
        </p:txBody>
      </p:sp>
      <p:sp>
        <p:nvSpPr>
          <p:cNvPr id="131" name="TextBox 132"/>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Skills</a:t>
            </a:r>
          </a:p>
        </p:txBody>
      </p:sp>
      <p:sp>
        <p:nvSpPr>
          <p:cNvPr id="133" name="TextBox 134"/>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written in plain English</a:t>
            </a:r>
          </a:p>
        </p:txBody>
      </p:sp>
      <p:sp>
        <p:nvSpPr>
          <p:cNvPr id="135" name="TextBox 136"/>
          <p:cNvSpPr txBox="1"/>
          <p:nvPr/>
        </p:nvSpPr>
        <p:spPr>
          <a:xfrm>
            <a:off x="400050" y="5050000"/>
            <a:ext cx="113919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Three different problems. None of them need training.</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And this is where agents live.</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how we got here</a:t>
            </a:r>
          </a:p>
        </p:txBody>
      </p:sp>
      <p:sp>
        <p:nvSpPr>
          <p:cNvPr id="105" name="TextBox 106"/>
          <p:cNvSpPr txBox="1"/>
          <p:nvPr/>
        </p:nvSpPr>
        <p:spPr>
          <a:xfrm>
            <a:off x="11091950" y="6320000"/>
            <a:ext cx="700000" cy="320000"/>
          </a:xfrm>
          <a:prstGeom prst="rect">
            <a:avLst/>
          </a:prstGeom>
          <a:noFill/>
        </p:spPr>
        <p:txBody>
          <a:bodyPr wrap="square" lIns="0" tIns="0" rIns="0" bIns="0" anchor="t">
            <a:noAutofit/>
          </a:bodyPr>
          <a:lstStyle/>
          <a:p>
            <a:pPr algn="r">
              <a:buNone/>
              <a:defRPr sz="1400" b="0">
                <a:solidFill>
                  <a:srgbClr val="000000"/>
                </a:solidFill>
              </a:defRPr>
            </a:pPr>
            <a:r>
              <a:rPr lang="en-GB" sz="1400" b="0" dirty="0">
                <a:solidFill>
                  <a:srgbClr val="000000"/>
                </a:solidFill>
              </a:rPr>
              <a:t>06</a:t>
            </a:r>
          </a:p>
        </p:txBody>
      </p:sp>
      <p:sp>
        <p:nvSpPr>
          <p:cNvPr id="107" name="Rectangle 108"/>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ALWAYS ON</a:t>
            </a:r>
          </a:p>
        </p:txBody>
      </p:sp>
      <p:sp>
        <p:nvSpPr>
          <p:cNvPr id="111" name="TextBox 112"/>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AGENTS.md</a:t>
            </a:r>
          </a:p>
        </p:txBody>
      </p:sp>
      <p:sp>
        <p:nvSpPr>
          <p:cNvPr id="113" name="TextBox 114"/>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every session, no matching</a:t>
            </a:r>
          </a:p>
        </p:txBody>
      </p:sp>
      <p:sp>
        <p:nvSpPr>
          <p:cNvPr id="115" name="Rectangle 116"/>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ON DEMAND</a:t>
            </a:r>
          </a:p>
        </p:txBody>
      </p:sp>
      <p:sp>
        <p:nvSpPr>
          <p:cNvPr id="121" name="TextBox 122"/>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SKILL.md</a:t>
            </a:r>
          </a:p>
        </p:txBody>
      </p:sp>
      <p:sp>
        <p:nvSpPr>
          <p:cNvPr id="123" name="TextBox 124"/>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only when the task matches</a:t>
            </a:r>
          </a:p>
        </p:txBody>
      </p:sp>
      <p:sp>
        <p:nvSpPr>
          <p:cNvPr id="125" name="Rectangle 126"/>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LAST RESORT</a:t>
            </a:r>
          </a:p>
        </p:txBody>
      </p:sp>
      <p:sp>
        <p:nvSpPr>
          <p:cNvPr id="131" name="TextBox 132"/>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Fine-tune</a:t>
            </a:r>
          </a:p>
        </p:txBody>
      </p:sp>
      <p:sp>
        <p:nvSpPr>
          <p:cNvPr id="133" name="TextBox 134"/>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a named bottleneck, or nothing</a:t>
            </a:r>
          </a:p>
        </p:txBody>
      </p:sp>
      <p:sp>
        <p:nvSpPr>
          <p:cNvPr id="135" name="TextBox 136"/>
          <p:cNvSpPr txBox="1"/>
          <p:nvPr/>
        </p:nvSpPr>
        <p:spPr>
          <a:xfrm>
            <a:off x="400050" y="5050000"/>
            <a:ext cx="113919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Everything after this slide is a file, not a training run.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Every term solves one boundary.</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mental model</a:t>
            </a:r>
          </a:p>
        </p:txBody>
      </p:sp>
      <p:sp>
        <p:nvSpPr>
          <p:cNvPr id="105" name="TextBox 106"/>
          <p:cNvSpPr txBox="1"/>
          <p:nvPr/>
        </p:nvSpPr>
        <p:spPr>
          <a:xfrm>
            <a:off x="11091950" y="6320000"/>
            <a:ext cx="700000" cy="320000"/>
          </a:xfrm>
          <a:prstGeom prst="rect">
            <a:avLst/>
          </a:prstGeom>
          <a:noFill/>
        </p:spPr>
        <p:txBody>
          <a:bodyPr wrap="square" lIns="0" tIns="0" rIns="0" bIns="0" anchor="t">
            <a:noAutofit/>
          </a:bodyPr>
          <a:lstStyle/>
          <a:p>
            <a:pPr algn="r">
              <a:buNone/>
              <a:defRPr sz="1400" b="0">
                <a:solidFill>
                  <a:srgbClr val="000000"/>
                </a:solidFill>
              </a:defRPr>
            </a:pPr>
            <a:r>
              <a:rPr lang="en-GB" sz="1400" b="0" dirty="0">
                <a:solidFill>
                  <a:srgbClr val="000000"/>
                </a:solidFill>
              </a:rPr>
              <a:t>07</a:t>
            </a:r>
          </a:p>
        </p:txBody>
      </p:sp>
      <p:sp>
        <p:nvSpPr>
          <p:cNvPr id="107" name="Rectangle 108"/>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INSIDE THE AGENT</a:t>
            </a:r>
          </a:p>
        </p:txBody>
      </p:sp>
      <p:sp>
        <p:nvSpPr>
          <p:cNvPr id="111" name="TextBox 112"/>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Behaviour</a:t>
            </a:r>
          </a:p>
        </p:txBody>
      </p:sp>
      <p:sp>
        <p:nvSpPr>
          <p:cNvPr id="113" name="TextBox 114"/>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AGENTS.md · skills</a:t>
            </a:r>
          </a:p>
        </p:txBody>
      </p:sp>
      <p:sp>
        <p:nvSpPr>
          <p:cNvPr id="115" name="Rectangle 116"/>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OUTSIDE THE AGENT</a:t>
            </a:r>
          </a:p>
        </p:txBody>
      </p:sp>
      <p:sp>
        <p:nvSpPr>
          <p:cNvPr id="121" name="TextBox 122"/>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Interoperability</a:t>
            </a:r>
          </a:p>
        </p:txBody>
      </p:sp>
      <p:sp>
        <p:nvSpPr>
          <p:cNvPr id="123" name="TextBox 124"/>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MCP · A2A</a:t>
            </a:r>
          </a:p>
        </p:txBody>
      </p:sp>
      <p:sp>
        <p:nvSpPr>
          <p:cNvPr id="125" name="Rectangle 126"/>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ACROSS THE WORK</a:t>
            </a:r>
          </a:p>
        </p:txBody>
      </p:sp>
      <p:sp>
        <p:nvSpPr>
          <p:cNvPr id="131" name="TextBox 132"/>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Scale</a:t>
            </a:r>
          </a:p>
        </p:txBody>
      </p:sp>
      <p:sp>
        <p:nvSpPr>
          <p:cNvPr id="133" name="TextBox 134"/>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subagents</a:t>
            </a:r>
          </a:p>
        </p:txBody>
      </p:sp>
      <p:sp>
        <p:nvSpPr>
          <p:cNvPr id="135" name="TextBox 136"/>
          <p:cNvSpPr txBox="1"/>
          <p:nvPr/>
        </p:nvSpPr>
        <p:spPr>
          <a:xfrm>
            <a:off x="400050" y="5050000"/>
            <a:ext cx="113919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Name the boundary out loud. The term follows.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Repo rules the agent always reads</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1</a:t>
            </a:r>
          </a:p>
        </p:txBody>
      </p:sp>
      <p:sp>
        <p:nvSpPr>
          <p:cNvPr id="105" name="TextBox 106"/>
          <p:cNvSpPr txBox="1"/>
          <p:nvPr/>
        </p:nvSpPr>
        <p:spPr>
          <a:xfrm>
            <a:off x="11091950" y="6320000"/>
            <a:ext cx="700000" cy="320000"/>
          </a:xfrm>
          <a:prstGeom prst="rect">
            <a:avLst/>
          </a:prstGeom>
          <a:noFill/>
        </p:spPr>
        <p:txBody>
          <a:bodyPr wrap="square" lIns="0" tIns="0" rIns="0" bIns="0" anchor="t">
            <a:noAutofit/>
          </a:bodyPr>
          <a:lstStyle/>
          <a:p>
            <a:pPr algn="r">
              <a:buNone/>
              <a:defRPr sz="1400" b="0">
                <a:solidFill>
                  <a:srgbClr val="000000"/>
                </a:solidFill>
              </a:defRPr>
            </a:pPr>
            <a:r>
              <a:rPr lang="en-GB" sz="1400" b="0" dirty="0">
                <a:solidFill>
                  <a:srgbClr val="000000"/>
                </a:solidFill>
              </a:rPr>
              <a:t>08</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01</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AGENTS.md</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A markdown file in your repo. No SDK, no runtime.</a:t>
            </a:r>
          </a:p>
        </p:txBody>
      </p:sp>
      <p:sp>
        <p:nvSpPr>
          <p:cNvPr id="117" name="Rectangle 118"/>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p:cNvSpPr txBox="1"/>
          <p:nvPr/>
        </p:nvSpPr>
        <p:spPr>
          <a:xfrm>
            <a:off x="920050" y="420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Read every session, before any work starts.</a:t>
            </a:r>
          </a:p>
        </p:txBody>
      </p:sp>
      <p:sp>
        <p:nvSpPr>
          <p:cNvPr id="121" name="Rectangle 122"/>
          <p:cNvSpPr>
            <a:spLocks noGrp="1"/>
          </p:cNvSpPr>
          <p:nvPr/>
        </p:nvSpPr>
        <p:spPr>
          <a:xfrm>
            <a:off x="400050" y="5280000"/>
            <a:ext cx="190500" cy="190500"/>
          </a:xfrm>
          <a:prstGeom prst="rect">
            <a:avLst/>
          </a:prstGeom>
          <a:solidFill>
            <a:srgbClr val="000000"/>
          </a:solidFill>
          <a:ln w="0">
            <a:noFill/>
            <a:prstDash val="solid"/>
          </a:ln>
        </p:spPr>
        <p:txBody>
          <a:bodyPr/>
          <a:lstStyle/>
          <a:p>
            <a:endParaRPr lang="en-GB"/>
          </a:p>
        </p:txBody>
      </p:sp>
      <p:sp>
        <p:nvSpPr>
          <p:cNvPr id="123" name="TextBox 124"/>
          <p:cNvSpPr txBox="1"/>
          <p:nvPr/>
        </p:nvSpPr>
        <p:spPr>
          <a:xfrm>
            <a:off x="920050" y="51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It nests: the closest file refines the root.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Demo: the closest instructions win</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1 demo</a:t>
            </a:r>
          </a:p>
        </p:txBody>
      </p:sp>
      <p:sp>
        <p:nvSpPr>
          <p:cNvPr id="105" name="TextBox 106"/>
          <p:cNvSpPr txBox="1"/>
          <p:nvPr/>
        </p:nvSpPr>
        <p:spPr>
          <a:xfrm>
            <a:off x="11091950" y="6320000"/>
            <a:ext cx="700000" cy="320000"/>
          </a:xfrm>
          <a:prstGeom prst="rect">
            <a:avLst/>
          </a:prstGeom>
          <a:noFill/>
        </p:spPr>
        <p:txBody>
          <a:bodyPr wrap="square" lIns="0" tIns="0" rIns="0" bIns="0" anchor="t">
            <a:noAutofit/>
          </a:bodyPr>
          <a:lstStyle/>
          <a:p>
            <a:pPr algn="r">
              <a:buNone/>
              <a:defRPr sz="1400" b="0">
                <a:solidFill>
                  <a:srgbClr val="000000"/>
                </a:solidFill>
              </a:defRPr>
            </a:pPr>
            <a:r>
              <a:rPr lang="en-GB" sz="1400" b="0" dirty="0">
                <a:solidFill>
                  <a:srgbClr val="000000"/>
                </a:solidFill>
              </a:rPr>
              <a:t>09</a:t>
            </a:r>
          </a:p>
        </p:txBody>
      </p:sp>
      <p:sp>
        <p:nvSpPr>
          <p:cNvPr id="107" name="Rectangle 108"/>
          <p:cNvSpPr>
            <a:spLocks noGrp="1"/>
          </p:cNvSpPr>
          <p:nvPr/>
        </p:nvSpPr>
        <p:spPr>
          <a:xfrm>
            <a:off x="400050" y="1520000"/>
            <a:ext cx="11391900" cy="540000"/>
          </a:xfrm>
          <a:prstGeom prst="rect">
            <a:avLst/>
          </a:prstGeom>
          <a:solidFill>
            <a:srgbClr val="F7F7F7"/>
          </a:solidFill>
          <a:ln w="0">
            <a:noFill/>
            <a:prstDash val="solid"/>
          </a:ln>
        </p:spPr>
        <p:txBody>
          <a:bodyPr/>
          <a:lstStyle/>
          <a:p>
            <a:endParaRPr lang="en-GB"/>
          </a:p>
        </p:txBody>
      </p:sp>
      <p:sp>
        <p:nvSpPr>
          <p:cNvPr id="109" name="TextBox 110"/>
          <p:cNvSpPr txBox="1"/>
          <p:nvPr/>
        </p:nvSpPr>
        <p:spPr>
          <a:xfrm>
            <a:off x="628650" y="1640000"/>
            <a:ext cx="10934700" cy="400000"/>
          </a:xfrm>
          <a:prstGeom prst="rect">
            <a:avLst/>
          </a:prstGeom>
          <a:noFill/>
        </p:spPr>
        <p:txBody>
          <a:bodyPr wrap="square" lIns="0" tIns="0" rIns="0" bIns="0" anchor="t">
            <a:noAutofit/>
          </a:bodyPr>
          <a:lstStyle/>
          <a:p>
            <a:pPr algn="l">
              <a:buNone/>
              <a:defRPr sz="1800" b="0">
                <a:solidFill>
                  <a:srgbClr val="000000"/>
                </a:solidFill>
              </a:defRPr>
            </a:pPr>
            <a:r>
              <a:rPr lang="en-GB" sz="1800" b="0" dirty="0">
                <a:solidFill>
                  <a:srgbClr val="000000"/>
                </a:solidFill>
                <a:latin typeface="Cascadia Code NF" pitchFamily="50" charset="0"/>
                <a:ea typeface="Cascadia Code NF" pitchFamily="50" charset="0"/>
                <a:cs typeface="Cascadia Code NF" pitchFamily="50" charset="0"/>
              </a:rPr>
              <a:t>dotnet run --project 01-agents-md -- 01-agents-md/app/services</a:t>
            </a:r>
          </a:p>
        </p:txBody>
      </p:sp>
      <p:sp>
        <p:nvSpPr>
          <p:cNvPr id="111" name="Rectangle 112"/>
          <p:cNvSpPr>
            <a:spLocks noGrp="1"/>
          </p:cNvSpPr>
          <p:nvPr/>
        </p:nvSpPr>
        <p:spPr>
          <a:xfrm>
            <a:off x="400050" y="2150000"/>
            <a:ext cx="7620000" cy="4040000"/>
          </a:xfrm>
          <a:prstGeom prst="rect">
            <a:avLst/>
          </a:prstGeom>
          <a:solidFill>
            <a:srgbClr val="000000"/>
          </a:solidFill>
          <a:ln w="0">
            <a:noFill/>
            <a:prstDash val="solid"/>
          </a:ln>
        </p:spPr>
        <p:txBody>
          <a:bodyPr/>
          <a:lstStyle/>
          <a:p>
            <a:endParaRPr lang="en-GB"/>
          </a:p>
        </p:txBody>
      </p:sp>
      <p:sp>
        <p:nvSpPr>
          <p:cNvPr id="113" name="TextBox 114"/>
          <p:cNvSpPr txBox="1"/>
          <p:nvPr/>
        </p:nvSpPr>
        <p:spPr>
          <a:xfrm>
            <a:off x="628650" y="2378600"/>
            <a:ext cx="7162800" cy="300000"/>
          </a:xfrm>
          <a:prstGeom prst="rect">
            <a:avLst/>
          </a:prstGeom>
          <a:noFill/>
        </p:spPr>
        <p:txBody>
          <a:bodyPr wrap="square" lIns="0" tIns="0" rIns="0" bIns="0" anchor="t">
            <a:noAutofit/>
          </a:bodyPr>
          <a:lstStyle/>
          <a:p>
            <a:pPr algn="l">
              <a:buNone/>
              <a:defRPr sz="1600" b="1">
                <a:solidFill>
                  <a:srgbClr val="FFFFFF"/>
                </a:solidFill>
              </a:defRPr>
            </a:pPr>
            <a:r>
              <a:rPr lang="en-GB" sz="1600" b="1" dirty="0">
                <a:solidFill>
                  <a:srgbClr val="FFFFFF"/>
                </a:solidFill>
                <a:latin typeface="Cascadia Code NF" pitchFamily="50" charset="0"/>
                <a:ea typeface="Cascadia Code NF" pitchFamily="50" charset="0"/>
                <a:cs typeface="Cascadia Code NF" pitchFamily="50" charset="0"/>
              </a:rPr>
              <a:t>01-agents-md/.../AgentInstructionFinder.cs</a:t>
            </a:r>
          </a:p>
        </p:txBody>
      </p:sp>
      <p:sp>
        <p:nvSpPr>
          <p:cNvPr id="115" name="TextBox 116"/>
          <p:cNvSpPr txBox="1"/>
          <p:nvPr/>
        </p:nvSpPr>
        <p:spPr>
          <a:xfrm>
            <a:off x="628650" y="2798600"/>
            <a:ext cx="7162800" cy="3162800"/>
          </a:xfrm>
          <a:prstGeom prst="rect">
            <a:avLst/>
          </a:prstGeom>
          <a:noFill/>
        </p:spPr>
        <p:txBody>
          <a:bodyPr wrap="square" lIns="0" tIns="0" rIns="0" bIns="0" anchor="t">
            <a:noAutofit/>
          </a:bodyPr>
          <a:lstStyle/>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static IReadOnlyList&lt;string&gt; Find(string start) {</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  var dir   = new DirectoryInfo(start);</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  var found = new List&lt;string&gt;();</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  while (dir is not null) {</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    var f = Path.Combine(dir.FullName, FileName);</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    if (File.Exists(f)) found.Add(f);</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    dir = dir.Parent;</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  }</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  found.Reverse();   // general first</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  return found;</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a:t>
            </a:r>
          </a:p>
        </p:txBody>
      </p:sp>
      <p:sp>
        <p:nvSpPr>
          <p:cNvPr id="117" name="Rectangle 118"/>
          <p:cNvSpPr>
            <a:spLocks noGrp="1"/>
          </p:cNvSpPr>
          <p:nvPr/>
        </p:nvSpPr>
        <p:spPr>
          <a:xfrm>
            <a:off x="8229600" y="2150000"/>
            <a:ext cx="3562350" cy="4040000"/>
          </a:xfrm>
          <a:prstGeom prst="rect">
            <a:avLst/>
          </a:prstGeom>
          <a:solidFill>
            <a:srgbClr val="EDEDED"/>
          </a:solidFill>
          <a:ln w="0">
            <a:noFill/>
            <a:prstDash val="solid"/>
          </a:ln>
        </p:spPr>
        <p:txBody>
          <a:bodyPr/>
          <a:lstStyle/>
          <a:p>
            <a:endParaRPr lang="en-GB"/>
          </a:p>
        </p:txBody>
      </p:sp>
      <p:sp>
        <p:nvSpPr>
          <p:cNvPr id="119" name="TextBox 120"/>
          <p:cNvSpPr txBox="1"/>
          <p:nvPr/>
        </p:nvSpPr>
        <p:spPr>
          <a:xfrm>
            <a:off x="8515350" y="2435750"/>
            <a:ext cx="2990850" cy="850000"/>
          </a:xfrm>
          <a:prstGeom prst="rect">
            <a:avLst/>
          </a:prstGeom>
          <a:noFill/>
        </p:spPr>
        <p:txBody>
          <a:bodyPr wrap="square" lIns="0" tIns="0" rIns="0" bIns="0" anchor="t">
            <a:noAutofit/>
          </a:bodyPr>
          <a:lstStyle/>
          <a:p>
            <a:pPr algn="l">
              <a:buNone/>
              <a:defRPr sz="2600" b="1">
                <a:solidFill>
                  <a:srgbClr val="000000"/>
                </a:solidFill>
              </a:defRPr>
            </a:pPr>
            <a:r>
              <a:rPr lang="en-GB" sz="2600" b="1" dirty="0">
                <a:solidFill>
                  <a:srgbClr val="000000"/>
                </a:solidFill>
              </a:rPr>
              <a:t>What to watch</a:t>
            </a:r>
          </a:p>
        </p:txBody>
      </p:sp>
      <p:sp>
        <p:nvSpPr>
          <p:cNvPr id="121" name="Rectangle 122"/>
          <p:cNvSpPr>
            <a:spLocks noGrp="1"/>
          </p:cNvSpPr>
          <p:nvPr/>
        </p:nvSpPr>
        <p:spPr>
          <a:xfrm>
            <a:off x="8515350" y="3470000"/>
            <a:ext cx="152400" cy="152400"/>
          </a:xfrm>
          <a:prstGeom prst="rect">
            <a:avLst/>
          </a:prstGeom>
          <a:solidFill>
            <a:srgbClr val="000000"/>
          </a:solidFill>
          <a:ln w="0">
            <a:noFill/>
            <a:prstDash val="solid"/>
          </a:ln>
        </p:spPr>
        <p:txBody>
          <a:bodyPr/>
          <a:lstStyle/>
          <a:p>
            <a:endParaRPr lang="en-GB"/>
          </a:p>
        </p:txBody>
      </p:sp>
      <p:sp>
        <p:nvSpPr>
          <p:cNvPr id="123" name="TextBox 124"/>
          <p:cNvSpPr txBox="1"/>
          <p:nvPr/>
        </p:nvSpPr>
        <p:spPr>
          <a:xfrm>
            <a:off x="8815350" y="3400000"/>
            <a:ext cx="2690850" cy="760000"/>
          </a:xfrm>
          <a:prstGeom prst="rect">
            <a:avLst/>
          </a:prstGeom>
          <a:noFill/>
        </p:spPr>
        <p:txBody>
          <a:bodyPr wrap="square" lIns="0" tIns="0" rIns="0" bIns="0" anchor="t">
            <a:noAutofit/>
          </a:bodyPr>
          <a:lstStyle/>
          <a:p>
            <a:pPr algn="l">
              <a:lnSpc>
                <a:spcPct val="105000"/>
              </a:lnSpc>
              <a:buNone/>
              <a:defRPr sz="2200" b="0">
                <a:solidFill>
                  <a:srgbClr val="222222"/>
                </a:solidFill>
              </a:defRPr>
            </a:pPr>
            <a:r>
              <a:rPr lang="en-GB" sz="2200" b="0" dirty="0">
                <a:solidFill>
                  <a:srgbClr val="222222"/>
                </a:solidFill>
              </a:rPr>
              <a:t>Root first. Service wins.</a:t>
            </a:r>
          </a:p>
        </p:txBody>
      </p:sp>
      <p:sp>
        <p:nvSpPr>
          <p:cNvPr id="125" name="Rectangle 126"/>
          <p:cNvSpPr>
            <a:spLocks noGrp="1"/>
          </p:cNvSpPr>
          <p:nvPr/>
        </p:nvSpPr>
        <p:spPr>
          <a:xfrm>
            <a:off x="8515350" y="4290000"/>
            <a:ext cx="152400" cy="152400"/>
          </a:xfrm>
          <a:prstGeom prst="rect">
            <a:avLst/>
          </a:prstGeom>
          <a:solidFill>
            <a:srgbClr val="000000"/>
          </a:solidFill>
          <a:ln w="0">
            <a:noFill/>
            <a:prstDash val="solid"/>
          </a:ln>
        </p:spPr>
        <p:txBody>
          <a:bodyPr/>
          <a:lstStyle/>
          <a:p>
            <a:endParaRPr lang="en-GB"/>
          </a:p>
        </p:txBody>
      </p:sp>
      <p:sp>
        <p:nvSpPr>
          <p:cNvPr id="127" name="TextBox 128"/>
          <p:cNvSpPr txBox="1"/>
          <p:nvPr/>
        </p:nvSpPr>
        <p:spPr>
          <a:xfrm>
            <a:off x="8815350" y="4220000"/>
            <a:ext cx="2690850" cy="760000"/>
          </a:xfrm>
          <a:prstGeom prst="rect">
            <a:avLst/>
          </a:prstGeom>
          <a:noFill/>
        </p:spPr>
        <p:txBody>
          <a:bodyPr wrap="square" lIns="0" tIns="0" rIns="0" bIns="0" anchor="t">
            <a:noAutofit/>
          </a:bodyPr>
          <a:lstStyle/>
          <a:p>
            <a:pPr algn="l">
              <a:lnSpc>
                <a:spcPct val="105000"/>
              </a:lnSpc>
              <a:buNone/>
              <a:defRPr sz="2200" b="0">
                <a:solidFill>
                  <a:srgbClr val="222222"/>
                </a:solidFill>
              </a:defRPr>
            </a:pPr>
            <a:r>
              <a:rPr lang="en-GB" sz="2200" b="0" dirty="0">
                <a:solidFill>
                  <a:srgbClr val="222222"/>
                </a:solidFill>
              </a:rPr>
              <a:t>Every file, in order.</a:t>
            </a:r>
          </a:p>
        </p:txBody>
      </p:sp>
      <p:sp>
        <p:nvSpPr>
          <p:cNvPr id="129" name="Rectangle 130"/>
          <p:cNvSpPr>
            <a:spLocks noGrp="1"/>
          </p:cNvSpPr>
          <p:nvPr/>
        </p:nvSpPr>
        <p:spPr>
          <a:xfrm>
            <a:off x="8515350" y="5110000"/>
            <a:ext cx="152400" cy="152400"/>
          </a:xfrm>
          <a:prstGeom prst="rect">
            <a:avLst/>
          </a:prstGeom>
          <a:solidFill>
            <a:srgbClr val="000000"/>
          </a:solidFill>
          <a:ln w="0">
            <a:noFill/>
            <a:prstDash val="solid"/>
          </a:ln>
        </p:spPr>
        <p:txBody>
          <a:bodyPr/>
          <a:lstStyle/>
          <a:p>
            <a:endParaRPr lang="en-GB"/>
          </a:p>
        </p:txBody>
      </p:sp>
      <p:sp>
        <p:nvSpPr>
          <p:cNvPr id="131" name="TextBox 132"/>
          <p:cNvSpPr txBox="1"/>
          <p:nvPr/>
        </p:nvSpPr>
        <p:spPr>
          <a:xfrm>
            <a:off x="8815350" y="5040000"/>
            <a:ext cx="2690850" cy="760000"/>
          </a:xfrm>
          <a:prstGeom prst="rect">
            <a:avLst/>
          </a:prstGeom>
          <a:noFill/>
        </p:spPr>
        <p:txBody>
          <a:bodyPr wrap="square" lIns="0" tIns="0" rIns="0" bIns="0" anchor="t">
            <a:noAutofit/>
          </a:bodyPr>
          <a:lstStyle/>
          <a:p>
            <a:pPr algn="l">
              <a:lnSpc>
                <a:spcPct val="105000"/>
              </a:lnSpc>
              <a:buNone/>
              <a:defRPr sz="2200" b="0">
                <a:solidFill>
                  <a:srgbClr val="222222"/>
                </a:solidFill>
              </a:defRPr>
            </a:pPr>
            <a:r>
              <a:rPr lang="en-GB" sz="2200" b="0" dirty="0">
                <a:solidFill>
                  <a:srgbClr val="222222"/>
                </a:solidFill>
              </a:rPr>
              <a:t>No model call.</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Skills load expertise on demand</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2</a:t>
            </a:r>
          </a:p>
        </p:txBody>
      </p:sp>
      <p:sp>
        <p:nvSpPr>
          <p:cNvPr id="105" name="TextBox 106"/>
          <p:cNvSpPr txBox="1"/>
          <p:nvPr/>
        </p:nvSpPr>
        <p:spPr>
          <a:xfrm>
            <a:off x="11091950" y="6320000"/>
            <a:ext cx="700000" cy="320000"/>
          </a:xfrm>
          <a:prstGeom prst="rect">
            <a:avLst/>
          </a:prstGeom>
          <a:noFill/>
        </p:spPr>
        <p:txBody>
          <a:bodyPr wrap="square" lIns="0" tIns="0" rIns="0" bIns="0" anchor="t">
            <a:noAutofit/>
          </a:bodyPr>
          <a:lstStyle/>
          <a:p>
            <a:pPr algn="r">
              <a:buNone/>
              <a:defRPr sz="1400" b="0">
                <a:solidFill>
                  <a:srgbClr val="000000"/>
                </a:solidFill>
              </a:defRPr>
            </a:pPr>
            <a:r>
              <a:rPr lang="en-GB" sz="1400" b="0" dirty="0">
                <a:solidFill>
                  <a:srgbClr val="000000"/>
                </a:solidFill>
              </a:rPr>
              <a:t>10</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02</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Agent skills</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A folder: SKILL.md, plus scripts and templates.</a:t>
            </a:r>
          </a:p>
        </p:txBody>
      </p:sp>
      <p:sp>
        <p:nvSpPr>
          <p:cNvPr id="117" name="Rectangle 118"/>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p:cNvSpPr txBox="1"/>
          <p:nvPr/>
        </p:nvSpPr>
        <p:spPr>
          <a:xfrm>
            <a:off x="920050" y="420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Name, description, instructions. That is the file.</a:t>
            </a:r>
          </a:p>
        </p:txBody>
      </p:sp>
      <p:sp>
        <p:nvSpPr>
          <p:cNvPr id="121" name="Rectangle 122"/>
          <p:cNvSpPr>
            <a:spLocks noGrp="1"/>
          </p:cNvSpPr>
          <p:nvPr/>
        </p:nvSpPr>
        <p:spPr>
          <a:xfrm>
            <a:off x="400050" y="5280000"/>
            <a:ext cx="190500" cy="190500"/>
          </a:xfrm>
          <a:prstGeom prst="rect">
            <a:avLst/>
          </a:prstGeom>
          <a:solidFill>
            <a:srgbClr val="000000"/>
          </a:solidFill>
          <a:ln w="0">
            <a:noFill/>
            <a:prstDash val="solid"/>
          </a:ln>
        </p:spPr>
        <p:txBody>
          <a:bodyPr/>
          <a:lstStyle/>
          <a:p>
            <a:endParaRPr lang="en-GB"/>
          </a:p>
        </p:txBody>
      </p:sp>
      <p:sp>
        <p:nvSpPr>
          <p:cNvPr id="123" name="TextBox 124"/>
          <p:cNvSpPr txBox="1"/>
          <p:nvPr/>
        </p:nvSpPr>
        <p:spPr>
          <a:xfrm>
            <a:off x="920050" y="51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Procedural knowledge — how we do it here.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A skill loads in three stages</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2 in depth</a:t>
            </a:r>
          </a:p>
        </p:txBody>
      </p:sp>
      <p:sp>
        <p:nvSpPr>
          <p:cNvPr id="105" name="TextBox 106"/>
          <p:cNvSpPr txBox="1"/>
          <p:nvPr/>
        </p:nvSpPr>
        <p:spPr>
          <a:xfrm>
            <a:off x="11091950" y="6320000"/>
            <a:ext cx="700000" cy="320000"/>
          </a:xfrm>
          <a:prstGeom prst="rect">
            <a:avLst/>
          </a:prstGeom>
          <a:noFill/>
        </p:spPr>
        <p:txBody>
          <a:bodyPr wrap="square" lIns="0" tIns="0" rIns="0" bIns="0" anchor="t">
            <a:noAutofit/>
          </a:bodyPr>
          <a:lstStyle/>
          <a:p>
            <a:pPr algn="r">
              <a:buNone/>
              <a:defRPr sz="1400" b="0">
                <a:solidFill>
                  <a:srgbClr val="000000"/>
                </a:solidFill>
              </a:defRPr>
            </a:pPr>
            <a:r>
              <a:rPr lang="en-GB" sz="1400" b="0" dirty="0">
                <a:solidFill>
                  <a:srgbClr val="000000"/>
                </a:solidFill>
              </a:rPr>
              <a:t>11</a:t>
            </a:r>
          </a:p>
        </p:txBody>
      </p:sp>
      <p:sp>
        <p:nvSpPr>
          <p:cNvPr id="107" name="Rectangle 108"/>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LEVEL 1</a:t>
            </a:r>
          </a:p>
        </p:txBody>
      </p:sp>
      <p:sp>
        <p:nvSpPr>
          <p:cNvPr id="111" name="TextBox 112"/>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Front matter</a:t>
            </a:r>
          </a:p>
        </p:txBody>
      </p:sp>
      <p:sp>
        <p:nvSpPr>
          <p:cNvPr id="113" name="TextBox 114"/>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name + when to use · always loaded</a:t>
            </a:r>
          </a:p>
        </p:txBody>
      </p:sp>
      <p:sp>
        <p:nvSpPr>
          <p:cNvPr id="115" name="Rectangle 116"/>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LEVEL 2</a:t>
            </a:r>
          </a:p>
        </p:txBody>
      </p:sp>
      <p:sp>
        <p:nvSpPr>
          <p:cNvPr id="121" name="TextBox 122"/>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The body</a:t>
            </a:r>
          </a:p>
        </p:txBody>
      </p:sp>
      <p:sp>
        <p:nvSpPr>
          <p:cNvPr id="123" name="TextBox 124"/>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the instructions · loaded on a match</a:t>
            </a:r>
          </a:p>
        </p:txBody>
      </p:sp>
      <p:sp>
        <p:nvSpPr>
          <p:cNvPr id="125" name="Rectangle 126"/>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LEVEL 3</a:t>
            </a:r>
          </a:p>
        </p:txBody>
      </p:sp>
      <p:sp>
        <p:nvSpPr>
          <p:cNvPr id="131" name="TextBox 132"/>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Linked files</a:t>
            </a:r>
          </a:p>
        </p:txBody>
      </p:sp>
      <p:sp>
        <p:nvSpPr>
          <p:cNvPr id="133" name="TextBox 134"/>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scripts · references · on demand</a:t>
            </a:r>
          </a:p>
        </p:txBody>
      </p:sp>
      <p:sp>
        <p:nvSpPr>
          <p:cNvPr id="135" name="TextBox 136"/>
          <p:cNvSpPr txBox="1"/>
          <p:nvPr/>
        </p:nvSpPr>
        <p:spPr>
          <a:xfrm>
            <a:off x="400050" y="5050000"/>
            <a:ext cx="113919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Twenty skills. Twenty summaries in memory. One body loaded.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The description is the trigger</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2 in depth</a:t>
            </a:r>
          </a:p>
        </p:txBody>
      </p:sp>
      <p:sp>
        <p:nvSpPr>
          <p:cNvPr id="105" name="TextBox 106"/>
          <p:cNvSpPr txBox="1"/>
          <p:nvPr/>
        </p:nvSpPr>
        <p:spPr>
          <a:xfrm>
            <a:off x="11091950" y="6320000"/>
            <a:ext cx="700000" cy="320000"/>
          </a:xfrm>
          <a:prstGeom prst="rect">
            <a:avLst/>
          </a:prstGeom>
          <a:noFill/>
        </p:spPr>
        <p:txBody>
          <a:bodyPr wrap="square" lIns="0" tIns="0" rIns="0" bIns="0" anchor="t">
            <a:noAutofit/>
          </a:bodyPr>
          <a:lstStyle/>
          <a:p>
            <a:pPr algn="r">
              <a:buNone/>
              <a:defRPr sz="1400" b="0">
                <a:solidFill>
                  <a:srgbClr val="000000"/>
                </a:solidFill>
              </a:defRPr>
            </a:pPr>
            <a:r>
              <a:rPr lang="en-GB" sz="1400" b="0" dirty="0">
                <a:solidFill>
                  <a:srgbClr val="000000"/>
                </a:solidFill>
              </a:rPr>
              <a:t>12</a:t>
            </a:r>
          </a:p>
        </p:txBody>
      </p:sp>
      <p:sp>
        <p:nvSpPr>
          <p:cNvPr id="107" name="Rectangle 108"/>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VAGUE</a:t>
            </a:r>
          </a:p>
        </p:txBody>
      </p:sp>
      <p:sp>
        <p:nvSpPr>
          <p:cNvPr id="111" name="TextBox 112"/>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generates reports</a:t>
            </a:r>
          </a:p>
        </p:txBody>
      </p:sp>
      <p:sp>
        <p:nvSpPr>
          <p:cNvPr id="113" name="TextBox 114"/>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the agent will skip it</a:t>
            </a:r>
          </a:p>
        </p:txBody>
      </p:sp>
      <p:sp>
        <p:nvSpPr>
          <p:cNvPr id="115" name="Rectangle 116"/>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SPECIFIC</a:t>
            </a:r>
          </a:p>
        </p:txBody>
      </p:sp>
      <p:sp>
        <p:nvSpPr>
          <p:cNvPr id="121" name="TextBox 122"/>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what + when</a:t>
            </a:r>
          </a:p>
        </p:txBody>
      </p:sp>
      <p:sp>
        <p:nvSpPr>
          <p:cNvPr id="123" name="TextBox 124"/>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the job, and the phrases that mean it</a:t>
            </a:r>
          </a:p>
        </p:txBody>
      </p:sp>
      <p:sp>
        <p:nvSpPr>
          <p:cNvPr id="125" name="Rectangle 126"/>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PUSHY</a:t>
            </a:r>
          </a:p>
        </p:txBody>
      </p:sp>
      <p:sp>
        <p:nvSpPr>
          <p:cNvPr id="131" name="TextBox 132"/>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oversell a touch</a:t>
            </a:r>
          </a:p>
        </p:txBody>
      </p:sp>
      <p:sp>
        <p:nvSpPr>
          <p:cNvPr id="133" name="TextBox 134"/>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models under-trigger</a:t>
            </a:r>
          </a:p>
        </p:txBody>
      </p:sp>
      <p:sp>
        <p:nvSpPr>
          <p:cNvPr id="135" name="TextBox 136"/>
          <p:cNvSpPr txBox="1"/>
          <p:nvPr/>
        </p:nvSpPr>
        <p:spPr>
          <a:xfrm>
            <a:off x="400050" y="5050000"/>
            <a:ext cx="113919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If the description is vague, the skill never runs.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Write what the model cannot know</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2 in depth</a:t>
            </a:r>
          </a:p>
        </p:txBody>
      </p:sp>
      <p:sp>
        <p:nvSpPr>
          <p:cNvPr id="105" name="TextBox 106"/>
          <p:cNvSpPr txBox="1"/>
          <p:nvPr/>
        </p:nvSpPr>
        <p:spPr>
          <a:xfrm>
            <a:off x="11091950" y="6320000"/>
            <a:ext cx="700000" cy="320000"/>
          </a:xfrm>
          <a:prstGeom prst="rect">
            <a:avLst/>
          </a:prstGeom>
          <a:noFill/>
        </p:spPr>
        <p:txBody>
          <a:bodyPr wrap="square" lIns="0" tIns="0" rIns="0" bIns="0" anchor="t">
            <a:noAutofit/>
          </a:bodyPr>
          <a:lstStyle/>
          <a:p>
            <a:pPr algn="r">
              <a:buNone/>
              <a:defRPr sz="1400" b="0">
                <a:solidFill>
                  <a:srgbClr val="000000"/>
                </a:solidFill>
              </a:defRPr>
            </a:pPr>
            <a:r>
              <a:rPr lang="en-GB" sz="1400" b="0" dirty="0">
                <a:solidFill>
                  <a:srgbClr val="000000"/>
                </a:solidFill>
              </a:rPr>
              <a:t>13</a:t>
            </a:r>
          </a:p>
        </p:txBody>
      </p:sp>
      <p:sp>
        <p:nvSpPr>
          <p:cNvPr id="107" name="Rectangle 108"/>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GOTCHAS</a:t>
            </a:r>
          </a:p>
        </p:txBody>
      </p:sp>
      <p:sp>
        <p:nvSpPr>
          <p:cNvPr id="111" name="TextBox 112"/>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real expertise</a:t>
            </a:r>
          </a:p>
        </p:txBody>
      </p:sp>
      <p:sp>
        <p:nvSpPr>
          <p:cNvPr id="113" name="TextBox 114"/>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not generic mush</a:t>
            </a:r>
          </a:p>
        </p:txBody>
      </p:sp>
      <p:sp>
        <p:nvSpPr>
          <p:cNvPr id="115" name="Rectangle 116"/>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LEAN</a:t>
            </a:r>
          </a:p>
        </p:txBody>
      </p:sp>
      <p:sp>
        <p:nvSpPr>
          <p:cNvPr id="121" name="TextBox 122"/>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under 500 lines</a:t>
            </a:r>
          </a:p>
        </p:txBody>
      </p:sp>
      <p:sp>
        <p:nvSpPr>
          <p:cNvPr id="123" name="TextBox 124"/>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rest in references/</a:t>
            </a:r>
          </a:p>
        </p:txBody>
      </p:sp>
      <p:sp>
        <p:nvSpPr>
          <p:cNvPr id="125" name="Rectangle 126"/>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SCRIPT</a:t>
            </a:r>
          </a:p>
        </p:txBody>
      </p:sp>
      <p:sp>
        <p:nvSpPr>
          <p:cNvPr id="131" name="TextBox 132"/>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fragile → code</a:t>
            </a:r>
          </a:p>
        </p:txBody>
      </p:sp>
      <p:sp>
        <p:nvSpPr>
          <p:cNvPr id="133" name="TextBox 134"/>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say: run this</a:t>
            </a:r>
          </a:p>
        </p:txBody>
      </p:sp>
      <p:sp>
        <p:nvSpPr>
          <p:cNvPr id="135" name="TextBox 136"/>
          <p:cNvSpPr txBox="1"/>
          <p:nvPr/>
        </p:nvSpPr>
        <p:spPr>
          <a:xfrm>
            <a:off x="400050" y="5050000"/>
            <a:ext cx="113919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You bring the expertise. The model brings the typing.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A skill is a prompt you can share</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2 in depth</a:t>
            </a:r>
          </a:p>
        </p:txBody>
      </p:sp>
      <p:sp>
        <p:nvSpPr>
          <p:cNvPr id="105" name="TextBox 106"/>
          <p:cNvSpPr txBox="1"/>
          <p:nvPr/>
        </p:nvSpPr>
        <p:spPr>
          <a:xfrm>
            <a:off x="11091950" y="6320000"/>
            <a:ext cx="700000" cy="320000"/>
          </a:xfrm>
          <a:prstGeom prst="rect">
            <a:avLst/>
          </a:prstGeom>
          <a:noFill/>
        </p:spPr>
        <p:txBody>
          <a:bodyPr wrap="square" lIns="0" tIns="0" rIns="0" bIns="0" anchor="t">
            <a:noAutofit/>
          </a:bodyPr>
          <a:lstStyle/>
          <a:p>
            <a:pPr algn="r">
              <a:buNone/>
              <a:defRPr sz="1400" b="0">
                <a:solidFill>
                  <a:srgbClr val="000000"/>
                </a:solidFill>
              </a:defRPr>
            </a:pPr>
            <a:r>
              <a:rPr lang="en-GB" sz="1400" b="0" dirty="0">
                <a:solidFill>
                  <a:srgbClr val="000000"/>
                </a:solidFill>
              </a:rPr>
              <a:t>14</a:t>
            </a:r>
          </a:p>
        </p:txBody>
      </p:sp>
      <p:sp>
        <p:nvSpPr>
          <p:cNvPr id="107" name="Rectangle 108"/>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SAVED</a:t>
            </a:r>
          </a:p>
        </p:txBody>
      </p:sp>
      <p:sp>
        <p:nvSpPr>
          <p:cNvPr id="111" name="TextBox 112"/>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Got it right once</a:t>
            </a:r>
          </a:p>
        </p:txBody>
      </p:sp>
      <p:sp>
        <p:nvSpPr>
          <p:cNvPr id="113" name="TextBox 114"/>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stop re-deriving it every Tuesday</a:t>
            </a:r>
          </a:p>
        </p:txBody>
      </p:sp>
      <p:sp>
        <p:nvSpPr>
          <p:cNvPr id="115" name="Rectangle 116"/>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SHARED</a:t>
            </a:r>
          </a:p>
        </p:txBody>
      </p:sp>
      <p:sp>
        <p:nvSpPr>
          <p:cNvPr id="121" name="TextBox 122"/>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Commit it, ship it</a:t>
            </a:r>
          </a:p>
        </p:txBody>
      </p:sp>
      <p:sp>
        <p:nvSpPr>
          <p:cNvPr id="123" name="TextBox 124"/>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reviewed like code, used by everyone</a:t>
            </a:r>
          </a:p>
        </p:txBody>
      </p:sp>
      <p:sp>
        <p:nvSpPr>
          <p:cNvPr id="125" name="Rectangle 126"/>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ENGLISH</a:t>
            </a:r>
          </a:p>
        </p:txBody>
      </p:sp>
      <p:sp>
        <p:nvSpPr>
          <p:cNvPr id="131" name="TextBox 132"/>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Anyone can write one</a:t>
            </a:r>
          </a:p>
        </p:txBody>
      </p:sp>
      <p:sp>
        <p:nvSpPr>
          <p:cNvPr id="133" name="TextBox 134"/>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no SDK, no schema, no developer</a:t>
            </a:r>
          </a:p>
        </p:txBody>
      </p:sp>
      <p:sp>
        <p:nvSpPr>
          <p:cNvPr id="135" name="TextBox 136"/>
          <p:cNvSpPr txBox="1"/>
          <p:nvPr/>
        </p:nvSpPr>
        <p:spPr>
          <a:xfrm>
            <a:off x="400050" y="5050000"/>
            <a:ext cx="113919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“The hottest programming language right now is English.”</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Demo: choose a skill by description</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2 demo</a:t>
            </a:r>
          </a:p>
        </p:txBody>
      </p:sp>
      <p:sp>
        <p:nvSpPr>
          <p:cNvPr id="105" name="TextBox 106"/>
          <p:cNvSpPr txBox="1"/>
          <p:nvPr/>
        </p:nvSpPr>
        <p:spPr>
          <a:xfrm>
            <a:off x="11091950" y="6320000"/>
            <a:ext cx="700000" cy="320000"/>
          </a:xfrm>
          <a:prstGeom prst="rect">
            <a:avLst/>
          </a:prstGeom>
          <a:noFill/>
        </p:spPr>
        <p:txBody>
          <a:bodyPr wrap="square" lIns="0" tIns="0" rIns="0" bIns="0" anchor="t">
            <a:noAutofit/>
          </a:bodyPr>
          <a:lstStyle/>
          <a:p>
            <a:pPr algn="r">
              <a:buNone/>
              <a:defRPr sz="1400" b="0">
                <a:solidFill>
                  <a:srgbClr val="000000"/>
                </a:solidFill>
              </a:defRPr>
            </a:pPr>
            <a:r>
              <a:rPr lang="en-GB" sz="1400" b="0" dirty="0">
                <a:solidFill>
                  <a:srgbClr val="000000"/>
                </a:solidFill>
              </a:rPr>
              <a:t>15</a:t>
            </a:r>
          </a:p>
        </p:txBody>
      </p:sp>
      <p:sp>
        <p:nvSpPr>
          <p:cNvPr id="107" name="Rectangle 108"/>
          <p:cNvSpPr>
            <a:spLocks noGrp="1"/>
          </p:cNvSpPr>
          <p:nvPr/>
        </p:nvSpPr>
        <p:spPr>
          <a:xfrm>
            <a:off x="400050" y="1520000"/>
            <a:ext cx="11391900" cy="540000"/>
          </a:xfrm>
          <a:prstGeom prst="rect">
            <a:avLst/>
          </a:prstGeom>
          <a:solidFill>
            <a:srgbClr val="F7F7F7"/>
          </a:solidFill>
          <a:ln w="0">
            <a:noFill/>
            <a:prstDash val="solid"/>
          </a:ln>
        </p:spPr>
        <p:txBody>
          <a:bodyPr/>
          <a:lstStyle/>
          <a:p>
            <a:endParaRPr lang="en-GB"/>
          </a:p>
        </p:txBody>
      </p:sp>
      <p:sp>
        <p:nvSpPr>
          <p:cNvPr id="109" name="TextBox 110"/>
          <p:cNvSpPr txBox="1"/>
          <p:nvPr/>
        </p:nvSpPr>
        <p:spPr>
          <a:xfrm>
            <a:off x="628650" y="1640000"/>
            <a:ext cx="10934700" cy="400000"/>
          </a:xfrm>
          <a:prstGeom prst="rect">
            <a:avLst/>
          </a:prstGeom>
          <a:noFill/>
        </p:spPr>
        <p:txBody>
          <a:bodyPr wrap="square" lIns="0" tIns="0" rIns="0" bIns="0" anchor="t">
            <a:noAutofit/>
          </a:bodyPr>
          <a:lstStyle/>
          <a:p>
            <a:pPr algn="l">
              <a:buNone/>
              <a:defRPr sz="1800" b="0">
                <a:solidFill>
                  <a:srgbClr val="000000"/>
                </a:solidFill>
              </a:defRPr>
            </a:pPr>
            <a:r>
              <a:rPr lang="en-GB" sz="1800" b="0" dirty="0">
                <a:solidFill>
                  <a:srgbClr val="000000"/>
                </a:solidFill>
                <a:latin typeface="Cascadia Code NF" pitchFamily="50" charset="0"/>
                <a:ea typeface="Cascadia Code NF" pitchFamily="50" charset="0"/>
                <a:cs typeface="Cascadia Code NF" pitchFamily="50" charset="0"/>
              </a:rPr>
              <a:t>dotnet run --project 02-agent-skills -- "plan the jump from net8 to net10"</a:t>
            </a:r>
          </a:p>
        </p:txBody>
      </p:sp>
      <p:sp>
        <p:nvSpPr>
          <p:cNvPr id="111" name="Rectangle 112"/>
          <p:cNvSpPr>
            <a:spLocks noGrp="1"/>
          </p:cNvSpPr>
          <p:nvPr/>
        </p:nvSpPr>
        <p:spPr>
          <a:xfrm>
            <a:off x="400050" y="2150000"/>
            <a:ext cx="7620000" cy="4040000"/>
          </a:xfrm>
          <a:prstGeom prst="rect">
            <a:avLst/>
          </a:prstGeom>
          <a:solidFill>
            <a:srgbClr val="000000"/>
          </a:solidFill>
          <a:ln w="0">
            <a:noFill/>
            <a:prstDash val="solid"/>
          </a:ln>
        </p:spPr>
        <p:txBody>
          <a:bodyPr/>
          <a:lstStyle/>
          <a:p>
            <a:endParaRPr lang="en-GB"/>
          </a:p>
        </p:txBody>
      </p:sp>
      <p:sp>
        <p:nvSpPr>
          <p:cNvPr id="113" name="TextBox 114"/>
          <p:cNvSpPr txBox="1"/>
          <p:nvPr/>
        </p:nvSpPr>
        <p:spPr>
          <a:xfrm>
            <a:off x="628650" y="2378600"/>
            <a:ext cx="7162800" cy="300000"/>
          </a:xfrm>
          <a:prstGeom prst="rect">
            <a:avLst/>
          </a:prstGeom>
          <a:noFill/>
        </p:spPr>
        <p:txBody>
          <a:bodyPr wrap="square" lIns="0" tIns="0" rIns="0" bIns="0" anchor="t">
            <a:noAutofit/>
          </a:bodyPr>
          <a:lstStyle/>
          <a:p>
            <a:pPr algn="l">
              <a:buNone/>
              <a:defRPr sz="1600" b="1">
                <a:solidFill>
                  <a:srgbClr val="FFFFFF"/>
                </a:solidFill>
              </a:defRPr>
            </a:pPr>
            <a:r>
              <a:rPr lang="en-GB" sz="1600" b="1" dirty="0">
                <a:solidFill>
                  <a:srgbClr val="FFFFFF"/>
                </a:solidFill>
                <a:latin typeface="Cascadia Code NF" pitchFamily="50" charset="0"/>
                <a:ea typeface="Cascadia Code NF" pitchFamily="50" charset="0"/>
                <a:cs typeface="Cascadia Code NF" pitchFamily="50" charset="0"/>
              </a:rPr>
              <a:t>02-agent-skills/Program.cs</a:t>
            </a:r>
          </a:p>
        </p:txBody>
      </p:sp>
      <p:sp>
        <p:nvSpPr>
          <p:cNvPr id="115" name="TextBox 116"/>
          <p:cNvSpPr txBox="1"/>
          <p:nvPr/>
        </p:nvSpPr>
        <p:spPr>
          <a:xfrm>
            <a:off x="628650" y="2798600"/>
            <a:ext cx="7162800" cy="3162800"/>
          </a:xfrm>
          <a:prstGeom prst="rect">
            <a:avLst/>
          </a:prstGeom>
          <a:noFill/>
        </p:spPr>
        <p:txBody>
          <a:bodyPr wrap="square" lIns="0" tIns="0" rIns="0" bIns="0" anchor="t">
            <a:noAutofit/>
          </a:bodyPr>
          <a:lstStyle/>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static int Score(string task, Skill skill)</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  var words = Tokenize(</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      $"{skill.Name} {skill.Description}");</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  return Tokenize(task)</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      .Intersect(words)</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      .Count();</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a:t>
            </a:r>
          </a:p>
        </p:txBody>
      </p:sp>
      <p:sp>
        <p:nvSpPr>
          <p:cNvPr id="117" name="Rectangle 118"/>
          <p:cNvSpPr>
            <a:spLocks noGrp="1"/>
          </p:cNvSpPr>
          <p:nvPr/>
        </p:nvSpPr>
        <p:spPr>
          <a:xfrm>
            <a:off x="8229600" y="2150000"/>
            <a:ext cx="3562350" cy="4040000"/>
          </a:xfrm>
          <a:prstGeom prst="rect">
            <a:avLst/>
          </a:prstGeom>
          <a:solidFill>
            <a:srgbClr val="EDEDED"/>
          </a:solidFill>
          <a:ln w="0">
            <a:noFill/>
            <a:prstDash val="solid"/>
          </a:ln>
        </p:spPr>
        <p:txBody>
          <a:bodyPr/>
          <a:lstStyle/>
          <a:p>
            <a:endParaRPr lang="en-GB"/>
          </a:p>
        </p:txBody>
      </p:sp>
      <p:sp>
        <p:nvSpPr>
          <p:cNvPr id="119" name="TextBox 120"/>
          <p:cNvSpPr txBox="1"/>
          <p:nvPr/>
        </p:nvSpPr>
        <p:spPr>
          <a:xfrm>
            <a:off x="8515350" y="2435750"/>
            <a:ext cx="2990850" cy="850000"/>
          </a:xfrm>
          <a:prstGeom prst="rect">
            <a:avLst/>
          </a:prstGeom>
          <a:noFill/>
        </p:spPr>
        <p:txBody>
          <a:bodyPr wrap="square" lIns="0" tIns="0" rIns="0" bIns="0" anchor="t">
            <a:noAutofit/>
          </a:bodyPr>
          <a:lstStyle/>
          <a:p>
            <a:pPr algn="l">
              <a:buNone/>
              <a:defRPr sz="2600" b="1">
                <a:solidFill>
                  <a:srgbClr val="000000"/>
                </a:solidFill>
              </a:defRPr>
            </a:pPr>
            <a:r>
              <a:rPr lang="en-GB" sz="2600" b="1" dirty="0">
                <a:solidFill>
                  <a:srgbClr val="000000"/>
                </a:solidFill>
              </a:rPr>
              <a:t>What to watch</a:t>
            </a:r>
          </a:p>
        </p:txBody>
      </p:sp>
      <p:sp>
        <p:nvSpPr>
          <p:cNvPr id="121" name="Rectangle 122"/>
          <p:cNvSpPr>
            <a:spLocks noGrp="1"/>
          </p:cNvSpPr>
          <p:nvPr/>
        </p:nvSpPr>
        <p:spPr>
          <a:xfrm>
            <a:off x="8515350" y="3470000"/>
            <a:ext cx="152400" cy="152400"/>
          </a:xfrm>
          <a:prstGeom prst="rect">
            <a:avLst/>
          </a:prstGeom>
          <a:solidFill>
            <a:srgbClr val="000000"/>
          </a:solidFill>
          <a:ln w="0">
            <a:noFill/>
            <a:prstDash val="solid"/>
          </a:ln>
        </p:spPr>
        <p:txBody>
          <a:bodyPr/>
          <a:lstStyle/>
          <a:p>
            <a:endParaRPr lang="en-GB"/>
          </a:p>
        </p:txBody>
      </p:sp>
      <p:sp>
        <p:nvSpPr>
          <p:cNvPr id="123" name="TextBox 124"/>
          <p:cNvSpPr txBox="1"/>
          <p:nvPr/>
        </p:nvSpPr>
        <p:spPr>
          <a:xfrm>
            <a:off x="8815350" y="3400000"/>
            <a:ext cx="2690850" cy="760000"/>
          </a:xfrm>
          <a:prstGeom prst="rect">
            <a:avLst/>
          </a:prstGeom>
          <a:noFill/>
        </p:spPr>
        <p:txBody>
          <a:bodyPr wrap="square" lIns="0" tIns="0" rIns="0" bIns="0" anchor="t">
            <a:noAutofit/>
          </a:bodyPr>
          <a:lstStyle/>
          <a:p>
            <a:pPr algn="l">
              <a:lnSpc>
                <a:spcPct val="105000"/>
              </a:lnSpc>
              <a:buNone/>
              <a:defRPr sz="2200" b="0">
                <a:solidFill>
                  <a:srgbClr val="222222"/>
                </a:solidFill>
              </a:defRPr>
            </a:pPr>
            <a:r>
              <a:rPr lang="en-GB" sz="2200" b="0" dirty="0">
                <a:solidFill>
                  <a:srgbClr val="222222"/>
                </a:solidFill>
              </a:rPr>
              <a:t>Four installed. One loads.</a:t>
            </a:r>
          </a:p>
        </p:txBody>
      </p:sp>
      <p:sp>
        <p:nvSpPr>
          <p:cNvPr id="125" name="Rectangle 126"/>
          <p:cNvSpPr>
            <a:spLocks noGrp="1"/>
          </p:cNvSpPr>
          <p:nvPr/>
        </p:nvSpPr>
        <p:spPr>
          <a:xfrm>
            <a:off x="8515350" y="4290000"/>
            <a:ext cx="152400" cy="152400"/>
          </a:xfrm>
          <a:prstGeom prst="rect">
            <a:avLst/>
          </a:prstGeom>
          <a:solidFill>
            <a:srgbClr val="000000"/>
          </a:solidFill>
          <a:ln w="0">
            <a:noFill/>
            <a:prstDash val="solid"/>
          </a:ln>
        </p:spPr>
        <p:txBody>
          <a:bodyPr/>
          <a:lstStyle/>
          <a:p>
            <a:endParaRPr lang="en-GB"/>
          </a:p>
        </p:txBody>
      </p:sp>
      <p:sp>
        <p:nvSpPr>
          <p:cNvPr id="127" name="TextBox 128"/>
          <p:cNvSpPr txBox="1"/>
          <p:nvPr/>
        </p:nvSpPr>
        <p:spPr>
          <a:xfrm>
            <a:off x="8815350" y="4220000"/>
            <a:ext cx="2690850" cy="760000"/>
          </a:xfrm>
          <a:prstGeom prst="rect">
            <a:avLst/>
          </a:prstGeom>
          <a:noFill/>
        </p:spPr>
        <p:txBody>
          <a:bodyPr wrap="square" lIns="0" tIns="0" rIns="0" bIns="0" anchor="t">
            <a:noAutofit/>
          </a:bodyPr>
          <a:lstStyle/>
          <a:p>
            <a:pPr algn="l">
              <a:lnSpc>
                <a:spcPct val="105000"/>
              </a:lnSpc>
              <a:buNone/>
              <a:defRPr sz="2200" b="0">
                <a:solidFill>
                  <a:srgbClr val="222222"/>
                </a:solidFill>
              </a:defRPr>
            </a:pPr>
            <a:r>
              <a:rPr lang="en-GB" sz="2200" b="0" dirty="0">
                <a:solidFill>
                  <a:srgbClr val="222222"/>
                </a:solidFill>
              </a:rPr>
              <a:t>Script refuses leftover net8.</a:t>
            </a:r>
          </a:p>
        </p:txBody>
      </p:sp>
      <p:sp>
        <p:nvSpPr>
          <p:cNvPr id="129" name="Rectangle 130"/>
          <p:cNvSpPr>
            <a:spLocks noGrp="1"/>
          </p:cNvSpPr>
          <p:nvPr/>
        </p:nvSpPr>
        <p:spPr>
          <a:xfrm>
            <a:off x="8515350" y="5110000"/>
            <a:ext cx="152400" cy="152400"/>
          </a:xfrm>
          <a:prstGeom prst="rect">
            <a:avLst/>
          </a:prstGeom>
          <a:solidFill>
            <a:srgbClr val="000000"/>
          </a:solidFill>
          <a:ln w="0">
            <a:noFill/>
            <a:prstDash val="solid"/>
          </a:ln>
        </p:spPr>
        <p:txBody>
          <a:bodyPr/>
          <a:lstStyle/>
          <a:p>
            <a:endParaRPr lang="en-GB"/>
          </a:p>
        </p:txBody>
      </p:sp>
      <p:sp>
        <p:nvSpPr>
          <p:cNvPr id="131" name="TextBox 132"/>
          <p:cNvSpPr txBox="1"/>
          <p:nvPr/>
        </p:nvSpPr>
        <p:spPr>
          <a:xfrm>
            <a:off x="8815350" y="5040000"/>
            <a:ext cx="2690850" cy="760000"/>
          </a:xfrm>
          <a:prstGeom prst="rect">
            <a:avLst/>
          </a:prstGeom>
          <a:noFill/>
        </p:spPr>
        <p:txBody>
          <a:bodyPr wrap="square" lIns="0" tIns="0" rIns="0" bIns="0" anchor="t">
            <a:noAutofit/>
          </a:bodyPr>
          <a:lstStyle/>
          <a:p>
            <a:pPr algn="l">
              <a:lnSpc>
                <a:spcPct val="105000"/>
              </a:lnSpc>
              <a:buNone/>
              <a:defRPr sz="2200" b="0">
                <a:solidFill>
                  <a:srgbClr val="222222"/>
                </a:solidFill>
              </a:defRPr>
            </a:pPr>
            <a:r>
              <a:rPr lang="en-GB" sz="2200" b="0" dirty="0">
                <a:solidFill>
                  <a:srgbClr val="222222"/>
                </a:solidFill>
              </a:rPr>
              <a:t>Weather: nothing loads.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Treat a skill like a dependency</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2 in depth</a:t>
            </a:r>
          </a:p>
        </p:txBody>
      </p:sp>
      <p:sp>
        <p:nvSpPr>
          <p:cNvPr id="105" name="TextBox 106"/>
          <p:cNvSpPr txBox="1"/>
          <p:nvPr/>
        </p:nvSpPr>
        <p:spPr>
          <a:xfrm>
            <a:off x="11091950" y="6320000"/>
            <a:ext cx="700000" cy="320000"/>
          </a:xfrm>
          <a:prstGeom prst="rect">
            <a:avLst/>
          </a:prstGeom>
          <a:noFill/>
        </p:spPr>
        <p:txBody>
          <a:bodyPr wrap="square" lIns="0" tIns="0" rIns="0" bIns="0" anchor="t">
            <a:noAutofit/>
          </a:bodyPr>
          <a:lstStyle/>
          <a:p>
            <a:pPr algn="r">
              <a:buNone/>
              <a:defRPr sz="1400" b="0">
                <a:solidFill>
                  <a:srgbClr val="000000"/>
                </a:solidFill>
              </a:defRPr>
            </a:pPr>
            <a:r>
              <a:rPr lang="en-GB" sz="1400" b="0" dirty="0">
                <a:solidFill>
                  <a:srgbClr val="000000"/>
                </a:solidFill>
              </a:rPr>
              <a:t>16</a:t>
            </a:r>
          </a:p>
        </p:txBody>
      </p:sp>
      <p:sp>
        <p:nvSpPr>
          <p:cNvPr id="107" name="TextBox 108"/>
          <p:cNvSpPr txBox="1"/>
          <p:nvPr/>
        </p:nvSpPr>
        <p:spPr>
          <a:xfrm>
            <a:off x="400050" y="1850000"/>
            <a:ext cx="7000000" cy="2000000"/>
          </a:xfrm>
          <a:prstGeom prst="rect">
            <a:avLst/>
          </a:prstGeom>
          <a:noFill/>
        </p:spPr>
        <p:txBody>
          <a:bodyPr wrap="square" lIns="0" tIns="0" rIns="0" bIns="0" anchor="t">
            <a:noAutofit/>
          </a:bodyPr>
          <a:lstStyle/>
          <a:p>
            <a:pPr algn="l">
              <a:lnSpc>
                <a:spcPct val="95000"/>
              </a:lnSpc>
              <a:buNone/>
              <a:defRPr sz="12000" b="1">
                <a:solidFill>
                  <a:srgbClr val="000000"/>
                </a:solidFill>
              </a:defRPr>
            </a:pPr>
            <a:r>
              <a:rPr lang="en-GB" sz="12000" b="1" dirty="0">
                <a:solidFill>
                  <a:srgbClr val="000000"/>
                </a:solidFill>
              </a:rPr>
              <a:t>35%</a:t>
            </a:r>
          </a:p>
        </p:txBody>
      </p:sp>
      <p:sp>
        <p:nvSpPr>
          <p:cNvPr id="109" name="Rectangle 110"/>
          <p:cNvSpPr>
            <a:spLocks noGrp="1"/>
          </p:cNvSpPr>
          <p:nvPr/>
        </p:nvSpPr>
        <p:spPr>
          <a:xfrm>
            <a:off x="400050" y="4020000"/>
            <a:ext cx="3600000" cy="76200"/>
          </a:xfrm>
          <a:prstGeom prst="rect">
            <a:avLst/>
          </a:prstGeom>
          <a:solidFill>
            <a:srgbClr val="FF6B35"/>
          </a:solidFill>
          <a:ln w="0">
            <a:noFill/>
            <a:prstDash val="solid"/>
          </a:ln>
        </p:spPr>
        <p:txBody>
          <a:bodyPr/>
          <a:lstStyle/>
          <a:p>
            <a:endParaRPr lang="en-GB"/>
          </a:p>
        </p:txBody>
      </p:sp>
      <p:sp>
        <p:nvSpPr>
          <p:cNvPr id="111" name="TextBox 112"/>
          <p:cNvSpPr txBox="1"/>
          <p:nvPr/>
        </p:nvSpPr>
        <p:spPr>
          <a:xfrm>
            <a:off x="400050" y="4320000"/>
            <a:ext cx="10200000" cy="1100000"/>
          </a:xfrm>
          <a:prstGeom prst="rect">
            <a:avLst/>
          </a:prstGeom>
          <a:noFill/>
        </p:spPr>
        <p:txBody>
          <a:bodyPr wrap="square" lIns="0" tIns="0" rIns="0" bIns="0" anchor="t">
            <a:noAutofit/>
          </a:bodyPr>
          <a:lstStyle/>
          <a:p>
            <a:pPr algn="l">
              <a:lnSpc>
                <a:spcPct val="104000"/>
              </a:lnSpc>
              <a:buNone/>
              <a:defRPr sz="3200" b="0">
                <a:solidFill>
                  <a:srgbClr val="222222"/>
                </a:solidFill>
              </a:defRPr>
            </a:pPr>
            <a:r>
              <a:rPr lang="en-GB" sz="3200" b="0" dirty="0">
                <a:solidFill>
                  <a:srgbClr val="222222"/>
                </a:solidFill>
              </a:rPr>
              <a:t>of nearly four thousand public skills had a security flaw</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MCP gives every tool one interface</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3</a:t>
            </a:r>
          </a:p>
        </p:txBody>
      </p:sp>
      <p:sp>
        <p:nvSpPr>
          <p:cNvPr id="105" name="TextBox 106"/>
          <p:cNvSpPr txBox="1"/>
          <p:nvPr/>
        </p:nvSpPr>
        <p:spPr>
          <a:xfrm>
            <a:off x="11091950" y="6320000"/>
            <a:ext cx="700000" cy="320000"/>
          </a:xfrm>
          <a:prstGeom prst="rect">
            <a:avLst/>
          </a:prstGeom>
          <a:noFill/>
        </p:spPr>
        <p:txBody>
          <a:bodyPr wrap="square" lIns="0" tIns="0" rIns="0" bIns="0" anchor="t">
            <a:noAutofit/>
          </a:bodyPr>
          <a:lstStyle/>
          <a:p>
            <a:pPr algn="r">
              <a:buNone/>
              <a:defRPr sz="1400" b="0">
                <a:solidFill>
                  <a:srgbClr val="000000"/>
                </a:solidFill>
              </a:defRPr>
            </a:pPr>
            <a:r>
              <a:rPr lang="en-GB" sz="1400" b="0" dirty="0">
                <a:solidFill>
                  <a:srgbClr val="000000"/>
                </a:solidFill>
              </a:rPr>
              <a:t>17</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Client asks what tools exist, before calling one.</a:t>
            </a:r>
          </a:p>
        </p:txBody>
      </p:sp>
      <p:sp>
        <p:nvSpPr>
          <p:cNvPr id="117" name="Rectangle 118"/>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p:cNvSpPr txBox="1"/>
          <p:nvPr/>
        </p:nvSpPr>
        <p:spPr>
          <a:xfrm>
            <a:off x="920050" y="420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One envelope, whatever backend sits behind it.</a:t>
            </a:r>
          </a:p>
        </p:txBody>
      </p:sp>
      <p:sp>
        <p:nvSpPr>
          <p:cNvPr id="121" name="Rectangle 122"/>
          <p:cNvSpPr>
            <a:spLocks noGrp="1"/>
          </p:cNvSpPr>
          <p:nvPr/>
        </p:nvSpPr>
        <p:spPr>
          <a:xfrm>
            <a:off x="400050" y="5280000"/>
            <a:ext cx="190500" cy="190500"/>
          </a:xfrm>
          <a:prstGeom prst="rect">
            <a:avLst/>
          </a:prstGeom>
          <a:solidFill>
            <a:srgbClr val="000000"/>
          </a:solidFill>
          <a:ln w="0">
            <a:noFill/>
            <a:prstDash val="solid"/>
          </a:ln>
        </p:spPr>
        <p:txBody>
          <a:bodyPr/>
          <a:lstStyle/>
          <a:p>
            <a:endParaRPr lang="en-GB"/>
          </a:p>
        </p:txBody>
      </p:sp>
      <p:sp>
        <p:nvSpPr>
          <p:cNvPr id="123" name="TextBox 124"/>
          <p:cNvSpPr txBox="1"/>
          <p:nvPr/>
        </p:nvSpPr>
        <p:spPr>
          <a:xfrm>
            <a:off x="920050" y="51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The server holds the credentials, not the agent.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2"/>
          <p:cNvSpPr txBox="1"/>
          <p:nvPr/>
        </p:nvSpPr>
        <p:spPr>
          <a:xfrm>
            <a:off x="400050" y="320000"/>
            <a:ext cx="11391900" cy="300000"/>
          </a:xfrm>
          <a:prstGeom prst="rect">
            <a:avLst/>
          </a:prstGeom>
          <a:noFill/>
        </p:spPr>
        <p:txBody>
          <a:bodyPr wrap="square" lIns="0" tIns="0" rIns="0" bIns="0" anchor="t">
            <a:noAutofit/>
          </a:bodyPr>
          <a:lstStyle/>
          <a:p>
            <a:pPr algn="l">
              <a:buNone/>
              <a:defRPr sz="1800" b="1">
                <a:solidFill>
                  <a:srgbClr val="555555"/>
                </a:solidFill>
              </a:defRPr>
            </a:pPr>
            <a:r>
              <a:rPr lang="en-GB" sz="1800" b="1" dirty="0">
                <a:solidFill>
                  <a:srgbClr val="555555"/>
                </a:solidFill>
              </a:rPr>
              <a:t>2026-07-28</a:t>
            </a:r>
          </a:p>
        </p:txBody>
      </p:sp>
      <p:sp>
        <p:nvSpPr>
          <p:cNvPr id="103" name="TextBox 104"/>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The spec got cheaper. The context did not.</a:t>
            </a:r>
          </a:p>
        </p:txBody>
      </p:sp>
      <p:sp>
        <p:nvSpPr>
          <p:cNvPr id="105" name="TextBox 106"/>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3 in depth</a:t>
            </a:r>
          </a:p>
        </p:txBody>
      </p:sp>
      <p:sp>
        <p:nvSpPr>
          <p:cNvPr id="107" name="TextBox 108"/>
          <p:cNvSpPr txBox="1"/>
          <p:nvPr/>
        </p:nvSpPr>
        <p:spPr>
          <a:xfrm>
            <a:off x="11091950" y="6320000"/>
            <a:ext cx="700000" cy="320000"/>
          </a:xfrm>
          <a:prstGeom prst="rect">
            <a:avLst/>
          </a:prstGeom>
          <a:noFill/>
        </p:spPr>
        <p:txBody>
          <a:bodyPr wrap="square" lIns="0" tIns="0" rIns="0" bIns="0" anchor="t">
            <a:noAutofit/>
          </a:bodyPr>
          <a:lstStyle/>
          <a:p>
            <a:pPr algn="r">
              <a:buNone/>
              <a:defRPr sz="1400" b="0">
                <a:solidFill>
                  <a:srgbClr val="000000"/>
                </a:solidFill>
              </a:defRPr>
            </a:pPr>
            <a:r>
              <a:rPr lang="en-GB" sz="1400" b="0" dirty="0">
                <a:solidFill>
                  <a:srgbClr val="000000"/>
                </a:solidFill>
              </a:rPr>
              <a:t>18</a:t>
            </a:r>
          </a:p>
        </p:txBody>
      </p:sp>
      <p:sp>
        <p:nvSpPr>
          <p:cNvPr id="109" name="Rectangle 110"/>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11" name="TextBox 112"/>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THE WIRE</a:t>
            </a:r>
          </a:p>
        </p:txBody>
      </p:sp>
      <p:sp>
        <p:nvSpPr>
          <p:cNvPr id="113" name="TextBox 114"/>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Now stateless</a:t>
            </a:r>
          </a:p>
        </p:txBody>
      </p:sp>
      <p:sp>
        <p:nvSpPr>
          <p:cNvPr id="115" name="TextBox 116"/>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no handshake · no session</a:t>
            </a:r>
          </a:p>
        </p:txBody>
      </p:sp>
      <p:sp>
        <p:nvSpPr>
          <p:cNvPr id="117" name="Rectangle 118"/>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9" name="Rectangle 120"/>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21" name="TextBox 122"/>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THE CATALOG</a:t>
            </a:r>
          </a:p>
        </p:txBody>
      </p:sp>
      <p:sp>
        <p:nvSpPr>
          <p:cNvPr id="123" name="TextBox 124"/>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Now cacheable</a:t>
            </a:r>
          </a:p>
        </p:txBody>
      </p:sp>
      <p:sp>
        <p:nvSpPr>
          <p:cNvPr id="125" name="TextBox 126"/>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a ttl · still the full list</a:t>
            </a:r>
          </a:p>
        </p:txBody>
      </p:sp>
      <p:sp>
        <p:nvSpPr>
          <p:cNvPr id="127" name="Rectangle 128"/>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9" name="Rectangle 130"/>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31" name="TextBox 132"/>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THE MODEL</a:t>
            </a:r>
          </a:p>
        </p:txBody>
      </p:sp>
      <p:sp>
        <p:nvSpPr>
          <p:cNvPr id="133" name="TextBox 134"/>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Still pays</a:t>
            </a:r>
          </a:p>
        </p:txBody>
      </p:sp>
      <p:sp>
        <p:nvSpPr>
          <p:cNvPr id="135" name="TextBox 136"/>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every definition, every turn</a:t>
            </a:r>
          </a:p>
        </p:txBody>
      </p:sp>
      <p:sp>
        <p:nvSpPr>
          <p:cNvPr id="137" name="TextBox 138"/>
          <p:cNvSpPr txBox="1"/>
          <p:nvPr/>
        </p:nvSpPr>
        <p:spPr>
          <a:xfrm>
            <a:off x="400050" y="5050000"/>
            <a:ext cx="113919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The host can cache the menu. The model still has to read it.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Skills and MCP are not competitors</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3 in depth</a:t>
            </a:r>
          </a:p>
        </p:txBody>
      </p:sp>
      <p:sp>
        <p:nvSpPr>
          <p:cNvPr id="105" name="TextBox 106"/>
          <p:cNvSpPr txBox="1"/>
          <p:nvPr/>
        </p:nvSpPr>
        <p:spPr>
          <a:xfrm>
            <a:off x="11091950" y="6320000"/>
            <a:ext cx="700000" cy="320000"/>
          </a:xfrm>
          <a:prstGeom prst="rect">
            <a:avLst/>
          </a:prstGeom>
          <a:noFill/>
        </p:spPr>
        <p:txBody>
          <a:bodyPr wrap="square" lIns="0" tIns="0" rIns="0" bIns="0" anchor="t">
            <a:noAutofit/>
          </a:bodyPr>
          <a:lstStyle/>
          <a:p>
            <a:pPr algn="r">
              <a:buNone/>
              <a:defRPr sz="1400" b="0">
                <a:solidFill>
                  <a:srgbClr val="000000"/>
                </a:solidFill>
              </a:defRPr>
            </a:pPr>
            <a:r>
              <a:rPr lang="en-GB" sz="1400" b="0" dirty="0">
                <a:solidFill>
                  <a:srgbClr val="000000"/>
                </a:solidFill>
              </a:rPr>
              <a:t>19</a:t>
            </a:r>
          </a:p>
        </p:txBody>
      </p:sp>
      <p:sp>
        <p:nvSpPr>
          <p:cNvPr id="107" name="Rectangle 108"/>
          <p:cNvSpPr>
            <a:spLocks noGrp="1"/>
          </p:cNvSpPr>
          <p:nvPr/>
        </p:nvSpPr>
        <p:spPr>
          <a:xfrm>
            <a:off x="400050" y="1850000"/>
            <a:ext cx="5591175" cy="2900000"/>
          </a:xfrm>
          <a:prstGeom prst="rect">
            <a:avLst/>
          </a:prstGeom>
          <a:solidFill>
            <a:srgbClr val="EDEDED"/>
          </a:solidFill>
          <a:ln w="0">
            <a:noFill/>
            <a:prstDash val="solid"/>
          </a:ln>
        </p:spPr>
        <p:txBody>
          <a:bodyPr/>
          <a:lstStyle/>
          <a:p>
            <a:endParaRPr lang="en-GB"/>
          </a:p>
        </p:txBody>
      </p:sp>
      <p:sp>
        <p:nvSpPr>
          <p:cNvPr id="109" name="TextBox 110"/>
          <p:cNvSpPr txBox="1"/>
          <p:nvPr/>
        </p:nvSpPr>
        <p:spPr>
          <a:xfrm>
            <a:off x="685800" y="2135750"/>
            <a:ext cx="5019675" cy="70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Agent skills</a:t>
            </a:r>
          </a:p>
        </p:txBody>
      </p:sp>
      <p:sp>
        <p:nvSpPr>
          <p:cNvPr id="111" name="TextBox 112"/>
          <p:cNvSpPr txBox="1"/>
          <p:nvPr/>
        </p:nvSpPr>
        <p:spPr>
          <a:xfrm>
            <a:off x="685800" y="3050000"/>
            <a:ext cx="5019675" cy="520000"/>
          </a:xfrm>
          <a:prstGeom prst="rect">
            <a:avLst/>
          </a:prstGeom>
          <a:noFill/>
        </p:spPr>
        <p:txBody>
          <a:bodyPr wrap="square" lIns="0" tIns="0" rIns="0" bIns="0" anchor="t">
            <a:noAutofit/>
          </a:bodyPr>
          <a:lstStyle/>
          <a:p>
            <a:pPr algn="l">
              <a:buNone/>
              <a:defRPr sz="2600" b="0">
                <a:solidFill>
                  <a:srgbClr val="222222"/>
                </a:solidFill>
              </a:defRPr>
            </a:pPr>
            <a:r>
              <a:rPr lang="en-GB" sz="2600" b="0" dirty="0">
                <a:solidFill>
                  <a:srgbClr val="222222"/>
                </a:solidFill>
              </a:rPr>
              <a:t>instructions</a:t>
            </a:r>
          </a:p>
        </p:txBody>
      </p:sp>
      <p:sp>
        <p:nvSpPr>
          <p:cNvPr id="113" name="TextBox 114"/>
          <p:cNvSpPr txBox="1"/>
          <p:nvPr/>
        </p:nvSpPr>
        <p:spPr>
          <a:xfrm>
            <a:off x="685800" y="3610000"/>
            <a:ext cx="5019675" cy="520000"/>
          </a:xfrm>
          <a:prstGeom prst="rect">
            <a:avLst/>
          </a:prstGeom>
          <a:noFill/>
        </p:spPr>
        <p:txBody>
          <a:bodyPr wrap="square" lIns="0" tIns="0" rIns="0" bIns="0" anchor="t">
            <a:noAutofit/>
          </a:bodyPr>
          <a:lstStyle/>
          <a:p>
            <a:pPr algn="l">
              <a:buNone/>
              <a:defRPr sz="2600" b="0">
                <a:solidFill>
                  <a:srgbClr val="222222"/>
                </a:solidFill>
              </a:defRPr>
            </a:pPr>
            <a:r>
              <a:rPr lang="en-GB" sz="2600" b="0" dirty="0">
                <a:solidFill>
                  <a:srgbClr val="222222"/>
                </a:solidFill>
              </a:rPr>
              <a:t>know-how</a:t>
            </a:r>
          </a:p>
        </p:txBody>
      </p:sp>
      <p:sp>
        <p:nvSpPr>
          <p:cNvPr id="115" name="TextBox 116"/>
          <p:cNvSpPr txBox="1"/>
          <p:nvPr/>
        </p:nvSpPr>
        <p:spPr>
          <a:xfrm>
            <a:off x="685800" y="4170000"/>
            <a:ext cx="5019675" cy="520000"/>
          </a:xfrm>
          <a:prstGeom prst="rect">
            <a:avLst/>
          </a:prstGeom>
          <a:noFill/>
        </p:spPr>
        <p:txBody>
          <a:bodyPr wrap="square" lIns="0" tIns="0" rIns="0" bIns="0" anchor="t">
            <a:noAutofit/>
          </a:bodyPr>
          <a:lstStyle/>
          <a:p>
            <a:pPr algn="l">
              <a:buNone/>
              <a:defRPr sz="2600" b="0">
                <a:solidFill>
                  <a:srgbClr val="222222"/>
                </a:solidFill>
              </a:defRPr>
            </a:pPr>
            <a:r>
              <a:rPr lang="en-GB" sz="2600" b="0" dirty="0">
                <a:solidFill>
                  <a:srgbClr val="222222"/>
                </a:solidFill>
              </a:rPr>
              <a:t>English</a:t>
            </a:r>
          </a:p>
        </p:txBody>
      </p:sp>
      <p:sp>
        <p:nvSpPr>
          <p:cNvPr id="117" name="Rectangle 118"/>
          <p:cNvSpPr>
            <a:spLocks noGrp="1"/>
          </p:cNvSpPr>
          <p:nvPr/>
        </p:nvSpPr>
        <p:spPr>
          <a:xfrm>
            <a:off x="6200775" y="1850000"/>
            <a:ext cx="5591175" cy="2900000"/>
          </a:xfrm>
          <a:prstGeom prst="rect">
            <a:avLst/>
          </a:prstGeom>
          <a:solidFill>
            <a:srgbClr val="F7F7F7"/>
          </a:solidFill>
          <a:ln w="0">
            <a:noFill/>
            <a:prstDash val="solid"/>
          </a:ln>
        </p:spPr>
        <p:txBody>
          <a:bodyPr/>
          <a:lstStyle/>
          <a:p>
            <a:endParaRPr lang="en-GB"/>
          </a:p>
        </p:txBody>
      </p:sp>
      <p:sp>
        <p:nvSpPr>
          <p:cNvPr id="119" name="TextBox 120"/>
          <p:cNvSpPr txBox="1"/>
          <p:nvPr/>
        </p:nvSpPr>
        <p:spPr>
          <a:xfrm>
            <a:off x="6486525" y="2135750"/>
            <a:ext cx="5019675" cy="70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MCP</a:t>
            </a:r>
          </a:p>
        </p:txBody>
      </p:sp>
      <p:sp>
        <p:nvSpPr>
          <p:cNvPr id="121" name="TextBox 122"/>
          <p:cNvSpPr txBox="1"/>
          <p:nvPr/>
        </p:nvSpPr>
        <p:spPr>
          <a:xfrm>
            <a:off x="6486525" y="3050000"/>
            <a:ext cx="5019675" cy="520000"/>
          </a:xfrm>
          <a:prstGeom prst="rect">
            <a:avLst/>
          </a:prstGeom>
          <a:noFill/>
        </p:spPr>
        <p:txBody>
          <a:bodyPr wrap="square" lIns="0" tIns="0" rIns="0" bIns="0" anchor="t">
            <a:noAutofit/>
          </a:bodyPr>
          <a:lstStyle/>
          <a:p>
            <a:pPr algn="l">
              <a:buNone/>
              <a:defRPr sz="2600" b="0">
                <a:solidFill>
                  <a:srgbClr val="222222"/>
                </a:solidFill>
              </a:defRPr>
            </a:pPr>
            <a:r>
              <a:rPr lang="en-GB" sz="2600" b="0" dirty="0">
                <a:solidFill>
                  <a:srgbClr val="222222"/>
                </a:solidFill>
              </a:rPr>
              <a:t>connections</a:t>
            </a:r>
          </a:p>
        </p:txBody>
      </p:sp>
      <p:sp>
        <p:nvSpPr>
          <p:cNvPr id="123" name="TextBox 124"/>
          <p:cNvSpPr txBox="1"/>
          <p:nvPr/>
        </p:nvSpPr>
        <p:spPr>
          <a:xfrm>
            <a:off x="6486525" y="3610000"/>
            <a:ext cx="5019675" cy="520000"/>
          </a:xfrm>
          <a:prstGeom prst="rect">
            <a:avLst/>
          </a:prstGeom>
          <a:noFill/>
        </p:spPr>
        <p:txBody>
          <a:bodyPr wrap="square" lIns="0" tIns="0" rIns="0" bIns="0" anchor="t">
            <a:noAutofit/>
          </a:bodyPr>
          <a:lstStyle/>
          <a:p>
            <a:pPr algn="l">
              <a:buNone/>
              <a:defRPr sz="2600" b="0">
                <a:solidFill>
                  <a:srgbClr val="222222"/>
                </a:solidFill>
              </a:defRPr>
            </a:pPr>
            <a:r>
              <a:rPr lang="en-GB" sz="2600" b="0" dirty="0">
                <a:solidFill>
                  <a:srgbClr val="222222"/>
                </a:solidFill>
              </a:rPr>
              <a:t>reach</a:t>
            </a:r>
          </a:p>
        </p:txBody>
      </p:sp>
      <p:sp>
        <p:nvSpPr>
          <p:cNvPr id="125" name="TextBox 126"/>
          <p:cNvSpPr txBox="1"/>
          <p:nvPr/>
        </p:nvSpPr>
        <p:spPr>
          <a:xfrm>
            <a:off x="6486525" y="4170000"/>
            <a:ext cx="5019675" cy="520000"/>
          </a:xfrm>
          <a:prstGeom prst="rect">
            <a:avLst/>
          </a:prstGeom>
          <a:noFill/>
        </p:spPr>
        <p:txBody>
          <a:bodyPr wrap="square" lIns="0" tIns="0" rIns="0" bIns="0" anchor="t">
            <a:noAutofit/>
          </a:bodyPr>
          <a:lstStyle/>
          <a:p>
            <a:pPr algn="l">
              <a:buNone/>
              <a:defRPr sz="2600" b="0">
                <a:solidFill>
                  <a:srgbClr val="222222"/>
                </a:solidFill>
              </a:defRPr>
            </a:pPr>
            <a:r>
              <a:rPr lang="en-GB" sz="2600" b="0" dirty="0">
                <a:solidFill>
                  <a:srgbClr val="222222"/>
                </a:solidFill>
              </a:rPr>
              <a:t>code and schemas</a:t>
            </a:r>
          </a:p>
        </p:txBody>
      </p:sp>
      <p:sp>
        <p:nvSpPr>
          <p:cNvPr id="127" name="Rectangle 128"/>
          <p:cNvSpPr>
            <a:spLocks noGrp="1"/>
          </p:cNvSpPr>
          <p:nvPr/>
        </p:nvSpPr>
        <p:spPr>
          <a:xfrm>
            <a:off x="6029325" y="3280000"/>
            <a:ext cx="133350" cy="38100"/>
          </a:xfrm>
          <a:prstGeom prst="rect">
            <a:avLst/>
          </a:prstGeom>
          <a:solidFill>
            <a:srgbClr val="FF6B35"/>
          </a:solidFill>
          <a:ln w="0">
            <a:noFill/>
            <a:prstDash val="solid"/>
          </a:ln>
        </p:spPr>
        <p:txBody>
          <a:bodyPr/>
          <a:lstStyle/>
          <a:p>
            <a:endParaRPr lang="en-GB"/>
          </a:p>
        </p:txBody>
      </p:sp>
      <p:sp>
        <p:nvSpPr>
          <p:cNvPr id="129" name="TextBox 130"/>
          <p:cNvSpPr txBox="1"/>
          <p:nvPr/>
        </p:nvSpPr>
        <p:spPr>
          <a:xfrm>
            <a:off x="400050" y="5050000"/>
            <a:ext cx="113919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MCP gives it hands. The skill gives it judgement.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Demo: discover a tool, then call it</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3 demo</a:t>
            </a:r>
          </a:p>
        </p:txBody>
      </p:sp>
      <p:sp>
        <p:nvSpPr>
          <p:cNvPr id="105" name="TextBox 106"/>
          <p:cNvSpPr txBox="1"/>
          <p:nvPr/>
        </p:nvSpPr>
        <p:spPr>
          <a:xfrm>
            <a:off x="11091950" y="6320000"/>
            <a:ext cx="700000" cy="320000"/>
          </a:xfrm>
          <a:prstGeom prst="rect">
            <a:avLst/>
          </a:prstGeom>
          <a:noFill/>
        </p:spPr>
        <p:txBody>
          <a:bodyPr wrap="square" lIns="0" tIns="0" rIns="0" bIns="0" anchor="t">
            <a:noAutofit/>
          </a:bodyPr>
          <a:lstStyle/>
          <a:p>
            <a:pPr algn="r">
              <a:buNone/>
              <a:defRPr sz="1400" b="0">
                <a:solidFill>
                  <a:srgbClr val="000000"/>
                </a:solidFill>
              </a:defRPr>
            </a:pPr>
            <a:r>
              <a:rPr lang="en-GB" sz="1400" b="0" dirty="0">
                <a:solidFill>
                  <a:srgbClr val="000000"/>
                </a:solidFill>
              </a:rPr>
              <a:t>20</a:t>
            </a:r>
          </a:p>
        </p:txBody>
      </p:sp>
      <p:sp>
        <p:nvSpPr>
          <p:cNvPr id="107" name="Rectangle 108"/>
          <p:cNvSpPr>
            <a:spLocks noGrp="1"/>
          </p:cNvSpPr>
          <p:nvPr/>
        </p:nvSpPr>
        <p:spPr>
          <a:xfrm>
            <a:off x="400050" y="1520000"/>
            <a:ext cx="11391900" cy="540000"/>
          </a:xfrm>
          <a:prstGeom prst="rect">
            <a:avLst/>
          </a:prstGeom>
          <a:solidFill>
            <a:srgbClr val="F7F7F7"/>
          </a:solidFill>
          <a:ln w="0">
            <a:noFill/>
            <a:prstDash val="solid"/>
          </a:ln>
        </p:spPr>
        <p:txBody>
          <a:bodyPr/>
          <a:lstStyle/>
          <a:p>
            <a:endParaRPr lang="en-GB"/>
          </a:p>
        </p:txBody>
      </p:sp>
      <p:sp>
        <p:nvSpPr>
          <p:cNvPr id="109" name="TextBox 110"/>
          <p:cNvSpPr txBox="1"/>
          <p:nvPr/>
        </p:nvSpPr>
        <p:spPr>
          <a:xfrm>
            <a:off x="628650" y="1640000"/>
            <a:ext cx="10934700" cy="400000"/>
          </a:xfrm>
          <a:prstGeom prst="rect">
            <a:avLst/>
          </a:prstGeom>
          <a:noFill/>
        </p:spPr>
        <p:txBody>
          <a:bodyPr wrap="square" lIns="0" tIns="0" rIns="0" bIns="0" anchor="t">
            <a:noAutofit/>
          </a:bodyPr>
          <a:lstStyle/>
          <a:p>
            <a:pPr algn="l">
              <a:buNone/>
              <a:defRPr sz="1800" b="0">
                <a:solidFill>
                  <a:srgbClr val="000000"/>
                </a:solidFill>
              </a:defRPr>
            </a:pPr>
            <a:r>
              <a:rPr lang="en-GB" sz="1800" b="0" dirty="0">
                <a:solidFill>
                  <a:srgbClr val="000000"/>
                </a:solidFill>
                <a:latin typeface="Cascadia Code NF" pitchFamily="50" charset="0"/>
                <a:ea typeface="Cascadia Code NF" pitchFamily="50" charset="0"/>
                <a:cs typeface="Cascadia Code NF" pitchFamily="50" charset="0"/>
              </a:rPr>
              <a:t>dotnet run --project 03-mcp/McpClient</a:t>
            </a:r>
          </a:p>
        </p:txBody>
      </p:sp>
      <p:sp>
        <p:nvSpPr>
          <p:cNvPr id="111" name="Rectangle 112"/>
          <p:cNvSpPr>
            <a:spLocks noGrp="1"/>
          </p:cNvSpPr>
          <p:nvPr/>
        </p:nvSpPr>
        <p:spPr>
          <a:xfrm>
            <a:off x="400050" y="2150000"/>
            <a:ext cx="7620000" cy="4040000"/>
          </a:xfrm>
          <a:prstGeom prst="rect">
            <a:avLst/>
          </a:prstGeom>
          <a:solidFill>
            <a:srgbClr val="000000"/>
          </a:solidFill>
          <a:ln w="0">
            <a:noFill/>
            <a:prstDash val="solid"/>
          </a:ln>
        </p:spPr>
        <p:txBody>
          <a:bodyPr/>
          <a:lstStyle/>
          <a:p>
            <a:endParaRPr lang="en-GB"/>
          </a:p>
        </p:txBody>
      </p:sp>
      <p:sp>
        <p:nvSpPr>
          <p:cNvPr id="113" name="TextBox 114"/>
          <p:cNvSpPr txBox="1"/>
          <p:nvPr/>
        </p:nvSpPr>
        <p:spPr>
          <a:xfrm>
            <a:off x="628650" y="2378600"/>
            <a:ext cx="7162800" cy="300000"/>
          </a:xfrm>
          <a:prstGeom prst="rect">
            <a:avLst/>
          </a:prstGeom>
          <a:noFill/>
        </p:spPr>
        <p:txBody>
          <a:bodyPr wrap="square" lIns="0" tIns="0" rIns="0" bIns="0" anchor="t">
            <a:noAutofit/>
          </a:bodyPr>
          <a:lstStyle/>
          <a:p>
            <a:pPr algn="l">
              <a:buNone/>
              <a:defRPr sz="1600" b="1">
                <a:solidFill>
                  <a:srgbClr val="FFFFFF"/>
                </a:solidFill>
              </a:defRPr>
            </a:pPr>
            <a:r>
              <a:rPr lang="en-GB" sz="1600" b="1" dirty="0">
                <a:solidFill>
                  <a:srgbClr val="FFFFFF"/>
                </a:solidFill>
                <a:latin typeface="Cascadia Code NF" pitchFamily="50" charset="0"/>
                <a:ea typeface="Cascadia Code NF" pitchFamily="50" charset="0"/>
                <a:cs typeface="Cascadia Code NF" pitchFamily="50" charset="0"/>
              </a:rPr>
              <a:t>03-mcp/McpClient/Program.cs</a:t>
            </a:r>
          </a:p>
        </p:txBody>
      </p:sp>
      <p:sp>
        <p:nvSpPr>
          <p:cNvPr id="115" name="TextBox 116"/>
          <p:cNvSpPr txBox="1"/>
          <p:nvPr/>
        </p:nvSpPr>
        <p:spPr>
          <a:xfrm>
            <a:off x="628650" y="2798600"/>
            <a:ext cx="7162800" cy="3162800"/>
          </a:xfrm>
          <a:prstGeom prst="rect">
            <a:avLst/>
          </a:prstGeom>
          <a:noFill/>
        </p:spPr>
        <p:txBody>
          <a:bodyPr wrap="square" lIns="0" tIns="0" rIns="0" bIns="0" anchor="t">
            <a:noAutofit/>
          </a:bodyPr>
          <a:lstStyle/>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initialize  -&gt;  notifications/initialized</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{"jsonrpc":"2.0","id":2,</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 "method":"tools/list"}</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{"jsonrpc":"2.0","id":3,</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 "method":"tools/call",</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 "params":{</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   "name":"inventory.lookup",</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   "arguments":{"sku":"sku-200"}}}</a:t>
            </a:r>
          </a:p>
        </p:txBody>
      </p:sp>
      <p:sp>
        <p:nvSpPr>
          <p:cNvPr id="117" name="Rectangle 118"/>
          <p:cNvSpPr>
            <a:spLocks noGrp="1"/>
          </p:cNvSpPr>
          <p:nvPr/>
        </p:nvSpPr>
        <p:spPr>
          <a:xfrm>
            <a:off x="8229600" y="2150000"/>
            <a:ext cx="3562350" cy="4040000"/>
          </a:xfrm>
          <a:prstGeom prst="rect">
            <a:avLst/>
          </a:prstGeom>
          <a:solidFill>
            <a:srgbClr val="EDEDED"/>
          </a:solidFill>
          <a:ln w="0">
            <a:noFill/>
            <a:prstDash val="solid"/>
          </a:ln>
        </p:spPr>
        <p:txBody>
          <a:bodyPr/>
          <a:lstStyle/>
          <a:p>
            <a:endParaRPr lang="en-GB"/>
          </a:p>
        </p:txBody>
      </p:sp>
      <p:sp>
        <p:nvSpPr>
          <p:cNvPr id="119" name="TextBox 120"/>
          <p:cNvSpPr txBox="1"/>
          <p:nvPr/>
        </p:nvSpPr>
        <p:spPr>
          <a:xfrm>
            <a:off x="8515350" y="2435750"/>
            <a:ext cx="2990850" cy="850000"/>
          </a:xfrm>
          <a:prstGeom prst="rect">
            <a:avLst/>
          </a:prstGeom>
          <a:noFill/>
        </p:spPr>
        <p:txBody>
          <a:bodyPr wrap="square" lIns="0" tIns="0" rIns="0" bIns="0" anchor="t">
            <a:noAutofit/>
          </a:bodyPr>
          <a:lstStyle/>
          <a:p>
            <a:pPr algn="l">
              <a:buNone/>
              <a:defRPr sz="2600" b="1">
                <a:solidFill>
                  <a:srgbClr val="000000"/>
                </a:solidFill>
              </a:defRPr>
            </a:pPr>
            <a:r>
              <a:rPr lang="en-GB" sz="2600" b="1" dirty="0">
                <a:solidFill>
                  <a:srgbClr val="000000"/>
                </a:solidFill>
              </a:rPr>
              <a:t>What to watch</a:t>
            </a:r>
          </a:p>
        </p:txBody>
      </p:sp>
      <p:sp>
        <p:nvSpPr>
          <p:cNvPr id="121" name="Rectangle 122"/>
          <p:cNvSpPr>
            <a:spLocks noGrp="1"/>
          </p:cNvSpPr>
          <p:nvPr/>
        </p:nvSpPr>
        <p:spPr>
          <a:xfrm>
            <a:off x="8515350" y="3470000"/>
            <a:ext cx="152400" cy="152400"/>
          </a:xfrm>
          <a:prstGeom prst="rect">
            <a:avLst/>
          </a:prstGeom>
          <a:solidFill>
            <a:srgbClr val="000000"/>
          </a:solidFill>
          <a:ln w="0">
            <a:noFill/>
            <a:prstDash val="solid"/>
          </a:ln>
        </p:spPr>
        <p:txBody>
          <a:bodyPr/>
          <a:lstStyle/>
          <a:p>
            <a:endParaRPr lang="en-GB"/>
          </a:p>
        </p:txBody>
      </p:sp>
      <p:sp>
        <p:nvSpPr>
          <p:cNvPr id="123" name="TextBox 124"/>
          <p:cNvSpPr txBox="1"/>
          <p:nvPr/>
        </p:nvSpPr>
        <p:spPr>
          <a:xfrm>
            <a:off x="8815350" y="3400000"/>
            <a:ext cx="2690850" cy="760000"/>
          </a:xfrm>
          <a:prstGeom prst="rect">
            <a:avLst/>
          </a:prstGeom>
          <a:noFill/>
        </p:spPr>
        <p:txBody>
          <a:bodyPr wrap="square" lIns="0" tIns="0" rIns="0" bIns="0" anchor="t">
            <a:noAutofit/>
          </a:bodyPr>
          <a:lstStyle/>
          <a:p>
            <a:pPr algn="l">
              <a:lnSpc>
                <a:spcPct val="105000"/>
              </a:lnSpc>
              <a:buNone/>
              <a:defRPr sz="2200" b="0">
                <a:solidFill>
                  <a:srgbClr val="222222"/>
                </a:solidFill>
              </a:defRPr>
            </a:pPr>
            <a:r>
              <a:rPr lang="en-GB" sz="2200" b="0" dirty="0">
                <a:solidFill>
                  <a:srgbClr val="222222"/>
                </a:solidFill>
              </a:rPr>
              <a:t>It lists before it calls.</a:t>
            </a:r>
          </a:p>
        </p:txBody>
      </p:sp>
      <p:sp>
        <p:nvSpPr>
          <p:cNvPr id="125" name="Rectangle 126"/>
          <p:cNvSpPr>
            <a:spLocks noGrp="1"/>
          </p:cNvSpPr>
          <p:nvPr/>
        </p:nvSpPr>
        <p:spPr>
          <a:xfrm>
            <a:off x="8515350" y="4290000"/>
            <a:ext cx="152400" cy="152400"/>
          </a:xfrm>
          <a:prstGeom prst="rect">
            <a:avLst/>
          </a:prstGeom>
          <a:solidFill>
            <a:srgbClr val="000000"/>
          </a:solidFill>
          <a:ln w="0">
            <a:noFill/>
            <a:prstDash val="solid"/>
          </a:ln>
        </p:spPr>
        <p:txBody>
          <a:bodyPr/>
          <a:lstStyle/>
          <a:p>
            <a:endParaRPr lang="en-GB"/>
          </a:p>
        </p:txBody>
      </p:sp>
      <p:sp>
        <p:nvSpPr>
          <p:cNvPr id="127" name="TextBox 128"/>
          <p:cNvSpPr txBox="1"/>
          <p:nvPr/>
        </p:nvSpPr>
        <p:spPr>
          <a:xfrm>
            <a:off x="8815350" y="4220000"/>
            <a:ext cx="2690850" cy="760000"/>
          </a:xfrm>
          <a:prstGeom prst="rect">
            <a:avLst/>
          </a:prstGeom>
          <a:noFill/>
        </p:spPr>
        <p:txBody>
          <a:bodyPr wrap="square" lIns="0" tIns="0" rIns="0" bIns="0" anchor="t">
            <a:noAutofit/>
          </a:bodyPr>
          <a:lstStyle/>
          <a:p>
            <a:pPr algn="l">
              <a:lnSpc>
                <a:spcPct val="105000"/>
              </a:lnSpc>
              <a:buNone/>
              <a:defRPr sz="2200" b="0">
                <a:solidFill>
                  <a:srgbClr val="222222"/>
                </a:solidFill>
              </a:defRPr>
            </a:pPr>
            <a:r>
              <a:rPr lang="en-GB" sz="2200" b="0" dirty="0">
                <a:solidFill>
                  <a:srgbClr val="222222"/>
                </a:solidFill>
              </a:rPr>
              <a:t>No API key on the client.</a:t>
            </a:r>
          </a:p>
        </p:txBody>
      </p:sp>
      <p:sp>
        <p:nvSpPr>
          <p:cNvPr id="129" name="Rectangle 130"/>
          <p:cNvSpPr>
            <a:spLocks noGrp="1"/>
          </p:cNvSpPr>
          <p:nvPr/>
        </p:nvSpPr>
        <p:spPr>
          <a:xfrm>
            <a:off x="8515350" y="5110000"/>
            <a:ext cx="152400" cy="152400"/>
          </a:xfrm>
          <a:prstGeom prst="rect">
            <a:avLst/>
          </a:prstGeom>
          <a:solidFill>
            <a:srgbClr val="000000"/>
          </a:solidFill>
          <a:ln w="0">
            <a:noFill/>
            <a:prstDash val="solid"/>
          </a:ln>
        </p:spPr>
        <p:txBody>
          <a:bodyPr/>
          <a:lstStyle/>
          <a:p>
            <a:endParaRPr lang="en-GB"/>
          </a:p>
        </p:txBody>
      </p:sp>
      <p:sp>
        <p:nvSpPr>
          <p:cNvPr id="131" name="TextBox 132"/>
          <p:cNvSpPr txBox="1"/>
          <p:nvPr/>
        </p:nvSpPr>
        <p:spPr>
          <a:xfrm>
            <a:off x="8815350" y="5040000"/>
            <a:ext cx="2690850" cy="760000"/>
          </a:xfrm>
          <a:prstGeom prst="rect">
            <a:avLst/>
          </a:prstGeom>
          <a:noFill/>
        </p:spPr>
        <p:txBody>
          <a:bodyPr wrap="square" lIns="0" tIns="0" rIns="0" bIns="0" anchor="t">
            <a:noAutofit/>
          </a:bodyPr>
          <a:lstStyle/>
          <a:p>
            <a:pPr algn="l">
              <a:lnSpc>
                <a:spcPct val="105000"/>
              </a:lnSpc>
              <a:buNone/>
              <a:defRPr sz="2200" b="0">
                <a:solidFill>
                  <a:srgbClr val="222222"/>
                </a:solidFill>
              </a:defRPr>
            </a:pPr>
            <a:r>
              <a:rPr lang="en-GB" sz="2200" b="0" dirty="0">
                <a:solidFill>
                  <a:srgbClr val="222222"/>
                </a:solidFill>
              </a:rPr>
              <a:t>Swap the server, keep the client.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A2A lets agents discover and delegate</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4</a:t>
            </a:r>
          </a:p>
        </p:txBody>
      </p:sp>
      <p:sp>
        <p:nvSpPr>
          <p:cNvPr id="105" name="TextBox 106"/>
          <p:cNvSpPr txBox="1"/>
          <p:nvPr/>
        </p:nvSpPr>
        <p:spPr>
          <a:xfrm>
            <a:off x="11091950" y="6320000"/>
            <a:ext cx="700000" cy="320000"/>
          </a:xfrm>
          <a:prstGeom prst="rect">
            <a:avLst/>
          </a:prstGeom>
          <a:noFill/>
        </p:spPr>
        <p:txBody>
          <a:bodyPr wrap="square" lIns="0" tIns="0" rIns="0" bIns="0" anchor="t">
            <a:noAutofit/>
          </a:bodyPr>
          <a:lstStyle/>
          <a:p>
            <a:pPr algn="r">
              <a:buNone/>
              <a:defRPr sz="1400" b="0">
                <a:solidFill>
                  <a:srgbClr val="000000"/>
                </a:solidFill>
              </a:defRPr>
            </a:pPr>
            <a:r>
              <a:rPr lang="en-GB" sz="1400" b="0" dirty="0">
                <a:solidFill>
                  <a:srgbClr val="000000"/>
                </a:solidFill>
              </a:rPr>
              <a:t>21</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04</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A2A</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Each agent publishes a card at a well-known URL.</a:t>
            </a:r>
          </a:p>
        </p:txBody>
      </p:sp>
      <p:sp>
        <p:nvSpPr>
          <p:cNvPr id="117" name="Rectangle 118"/>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p:cNvSpPr txBox="1"/>
          <p:nvPr/>
        </p:nvSpPr>
        <p:spPr>
          <a:xfrm>
            <a:off x="920050" y="420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The card says what it does and where to send work.</a:t>
            </a:r>
          </a:p>
        </p:txBody>
      </p:sp>
      <p:sp>
        <p:nvSpPr>
          <p:cNvPr id="121" name="Rectangle 122"/>
          <p:cNvSpPr>
            <a:spLocks noGrp="1"/>
          </p:cNvSpPr>
          <p:nvPr/>
        </p:nvSpPr>
        <p:spPr>
          <a:xfrm>
            <a:off x="400050" y="5280000"/>
            <a:ext cx="190500" cy="190500"/>
          </a:xfrm>
          <a:prstGeom prst="rect">
            <a:avLst/>
          </a:prstGeom>
          <a:solidFill>
            <a:srgbClr val="000000"/>
          </a:solidFill>
          <a:ln w="0">
            <a:noFill/>
            <a:prstDash val="solid"/>
          </a:ln>
        </p:spPr>
        <p:txBody>
          <a:bodyPr/>
          <a:lstStyle/>
          <a:p>
            <a:endParaRPr lang="en-GB"/>
          </a:p>
        </p:txBody>
      </p:sp>
      <p:sp>
        <p:nvSpPr>
          <p:cNvPr id="123" name="TextBox 124"/>
          <p:cNvSpPr txBox="1"/>
          <p:nvPr/>
        </p:nvSpPr>
        <p:spPr>
          <a:xfrm>
            <a:off x="920050" y="51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No shared library. No hard wiring. No coupling.</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Demo: read a card, send a task</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4 demo</a:t>
            </a:r>
          </a:p>
        </p:txBody>
      </p:sp>
      <p:sp>
        <p:nvSpPr>
          <p:cNvPr id="105" name="TextBox 106"/>
          <p:cNvSpPr txBox="1"/>
          <p:nvPr/>
        </p:nvSpPr>
        <p:spPr>
          <a:xfrm>
            <a:off x="11091950" y="6320000"/>
            <a:ext cx="700000" cy="320000"/>
          </a:xfrm>
          <a:prstGeom prst="rect">
            <a:avLst/>
          </a:prstGeom>
          <a:noFill/>
        </p:spPr>
        <p:txBody>
          <a:bodyPr wrap="square" lIns="0" tIns="0" rIns="0" bIns="0" anchor="t">
            <a:noAutofit/>
          </a:bodyPr>
          <a:lstStyle/>
          <a:p>
            <a:pPr algn="r">
              <a:buNone/>
              <a:defRPr sz="1400" b="0">
                <a:solidFill>
                  <a:srgbClr val="000000"/>
                </a:solidFill>
              </a:defRPr>
            </a:pPr>
            <a:r>
              <a:rPr lang="en-GB" sz="1400" b="0" dirty="0">
                <a:solidFill>
                  <a:srgbClr val="000000"/>
                </a:solidFill>
              </a:rPr>
              <a:t>22</a:t>
            </a:r>
          </a:p>
        </p:txBody>
      </p:sp>
      <p:sp>
        <p:nvSpPr>
          <p:cNvPr id="107" name="Rectangle 108"/>
          <p:cNvSpPr>
            <a:spLocks noGrp="1"/>
          </p:cNvSpPr>
          <p:nvPr/>
        </p:nvSpPr>
        <p:spPr>
          <a:xfrm>
            <a:off x="400050" y="1520000"/>
            <a:ext cx="11391900" cy="540000"/>
          </a:xfrm>
          <a:prstGeom prst="rect">
            <a:avLst/>
          </a:prstGeom>
          <a:solidFill>
            <a:srgbClr val="F7F7F7"/>
          </a:solidFill>
          <a:ln w="0">
            <a:noFill/>
            <a:prstDash val="solid"/>
          </a:ln>
        </p:spPr>
        <p:txBody>
          <a:bodyPr/>
          <a:lstStyle/>
          <a:p>
            <a:endParaRPr lang="en-GB"/>
          </a:p>
        </p:txBody>
      </p:sp>
      <p:sp>
        <p:nvSpPr>
          <p:cNvPr id="109" name="TextBox 110"/>
          <p:cNvSpPr txBox="1"/>
          <p:nvPr/>
        </p:nvSpPr>
        <p:spPr>
          <a:xfrm>
            <a:off x="628650" y="1640000"/>
            <a:ext cx="10934700" cy="400000"/>
          </a:xfrm>
          <a:prstGeom prst="rect">
            <a:avLst/>
          </a:prstGeom>
          <a:noFill/>
        </p:spPr>
        <p:txBody>
          <a:bodyPr wrap="square" lIns="0" tIns="0" rIns="0" bIns="0" anchor="t">
            <a:noAutofit/>
          </a:bodyPr>
          <a:lstStyle/>
          <a:p>
            <a:pPr algn="l">
              <a:buNone/>
              <a:defRPr sz="1800" b="0">
                <a:solidFill>
                  <a:srgbClr val="000000"/>
                </a:solidFill>
              </a:defRPr>
            </a:pPr>
            <a:r>
              <a:rPr lang="en-GB" sz="1800" b="0" dirty="0">
                <a:solidFill>
                  <a:srgbClr val="000000"/>
                </a:solidFill>
                <a:latin typeface="Cascadia Code NF" pitchFamily="50" charset="0"/>
                <a:ea typeface="Cascadia Code NF" pitchFamily="50" charset="0"/>
                <a:cs typeface="Cascadia Code NF" pitchFamily="50" charset="0"/>
              </a:rPr>
              <a:t>dotnet run --project 04-a2a</a:t>
            </a:r>
          </a:p>
        </p:txBody>
      </p:sp>
      <p:sp>
        <p:nvSpPr>
          <p:cNvPr id="111" name="Rectangle 112"/>
          <p:cNvSpPr>
            <a:spLocks noGrp="1"/>
          </p:cNvSpPr>
          <p:nvPr/>
        </p:nvSpPr>
        <p:spPr>
          <a:xfrm>
            <a:off x="400050" y="2150000"/>
            <a:ext cx="7620000" cy="4040000"/>
          </a:xfrm>
          <a:prstGeom prst="rect">
            <a:avLst/>
          </a:prstGeom>
          <a:solidFill>
            <a:srgbClr val="000000"/>
          </a:solidFill>
          <a:ln w="0">
            <a:noFill/>
            <a:prstDash val="solid"/>
          </a:ln>
        </p:spPr>
        <p:txBody>
          <a:bodyPr/>
          <a:lstStyle/>
          <a:p>
            <a:endParaRPr lang="en-GB"/>
          </a:p>
        </p:txBody>
      </p:sp>
      <p:sp>
        <p:nvSpPr>
          <p:cNvPr id="113" name="TextBox 114"/>
          <p:cNvSpPr txBox="1"/>
          <p:nvPr/>
        </p:nvSpPr>
        <p:spPr>
          <a:xfrm>
            <a:off x="628650" y="2378600"/>
            <a:ext cx="7162800" cy="300000"/>
          </a:xfrm>
          <a:prstGeom prst="rect">
            <a:avLst/>
          </a:prstGeom>
          <a:noFill/>
        </p:spPr>
        <p:txBody>
          <a:bodyPr wrap="square" lIns="0" tIns="0" rIns="0" bIns="0" anchor="t">
            <a:noAutofit/>
          </a:bodyPr>
          <a:lstStyle/>
          <a:p>
            <a:pPr algn="l">
              <a:buNone/>
              <a:defRPr sz="1600" b="1">
                <a:solidFill>
                  <a:srgbClr val="FFFFFF"/>
                </a:solidFill>
              </a:defRPr>
            </a:pPr>
            <a:r>
              <a:rPr lang="en-GB" sz="1600" b="1" dirty="0">
                <a:solidFill>
                  <a:srgbClr val="FFFFFF"/>
                </a:solidFill>
                <a:latin typeface="Cascadia Code NF" pitchFamily="50" charset="0"/>
                <a:ea typeface="Cascadia Code NF" pitchFamily="50" charset="0"/>
                <a:cs typeface="Cascadia Code NF" pitchFamily="50" charset="0"/>
              </a:rPr>
              <a:t>04-a2a/Program.cs</a:t>
            </a:r>
          </a:p>
        </p:txBody>
      </p:sp>
      <p:sp>
        <p:nvSpPr>
          <p:cNvPr id="115" name="TextBox 116"/>
          <p:cNvSpPr txBox="1"/>
          <p:nvPr/>
        </p:nvSpPr>
        <p:spPr>
          <a:xfrm>
            <a:off x="628650" y="2798600"/>
            <a:ext cx="7162800" cy="3162800"/>
          </a:xfrm>
          <a:prstGeom prst="rect">
            <a:avLst/>
          </a:prstGeom>
          <a:noFill/>
        </p:spPr>
        <p:txBody>
          <a:bodyPr wrap="square" lIns="0" tIns="0" rIns="0" bIns="0" anchor="t">
            <a:noAutofit/>
          </a:bodyPr>
          <a:lstStyle/>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var card = await client</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  .GetFromJsonAsync&lt;AgentCard&gt;(</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     "/.well-known/agent-card.json");</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 The card says where to delegate.</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var taskUrl = card!.Tasks[0].Url;</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var result = await client.PostAsJsonAsync(</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  taskUrl,</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  new SpendRequest("Acme Training", 4_200));</a:t>
            </a:r>
          </a:p>
        </p:txBody>
      </p:sp>
      <p:sp>
        <p:nvSpPr>
          <p:cNvPr id="117" name="Rectangle 118"/>
          <p:cNvSpPr>
            <a:spLocks noGrp="1"/>
          </p:cNvSpPr>
          <p:nvPr/>
        </p:nvSpPr>
        <p:spPr>
          <a:xfrm>
            <a:off x="8229600" y="2150000"/>
            <a:ext cx="3562350" cy="4040000"/>
          </a:xfrm>
          <a:prstGeom prst="rect">
            <a:avLst/>
          </a:prstGeom>
          <a:solidFill>
            <a:srgbClr val="EDEDED"/>
          </a:solidFill>
          <a:ln w="0">
            <a:noFill/>
            <a:prstDash val="solid"/>
          </a:ln>
        </p:spPr>
        <p:txBody>
          <a:bodyPr/>
          <a:lstStyle/>
          <a:p>
            <a:endParaRPr lang="en-GB"/>
          </a:p>
        </p:txBody>
      </p:sp>
      <p:sp>
        <p:nvSpPr>
          <p:cNvPr id="119" name="TextBox 120"/>
          <p:cNvSpPr txBox="1"/>
          <p:nvPr/>
        </p:nvSpPr>
        <p:spPr>
          <a:xfrm>
            <a:off x="8515350" y="2435750"/>
            <a:ext cx="2990850" cy="850000"/>
          </a:xfrm>
          <a:prstGeom prst="rect">
            <a:avLst/>
          </a:prstGeom>
          <a:noFill/>
        </p:spPr>
        <p:txBody>
          <a:bodyPr wrap="square" lIns="0" tIns="0" rIns="0" bIns="0" anchor="t">
            <a:noAutofit/>
          </a:bodyPr>
          <a:lstStyle/>
          <a:p>
            <a:pPr algn="l">
              <a:buNone/>
              <a:defRPr sz="2600" b="1">
                <a:solidFill>
                  <a:srgbClr val="000000"/>
                </a:solidFill>
              </a:defRPr>
            </a:pPr>
            <a:r>
              <a:rPr lang="en-GB" sz="2600" b="1" dirty="0">
                <a:solidFill>
                  <a:srgbClr val="000000"/>
                </a:solidFill>
              </a:rPr>
              <a:t>What to watch</a:t>
            </a:r>
          </a:p>
        </p:txBody>
      </p:sp>
      <p:sp>
        <p:nvSpPr>
          <p:cNvPr id="121" name="Rectangle 122"/>
          <p:cNvSpPr>
            <a:spLocks noGrp="1"/>
          </p:cNvSpPr>
          <p:nvPr/>
        </p:nvSpPr>
        <p:spPr>
          <a:xfrm>
            <a:off x="8515350" y="3470000"/>
            <a:ext cx="152400" cy="152400"/>
          </a:xfrm>
          <a:prstGeom prst="rect">
            <a:avLst/>
          </a:prstGeom>
          <a:solidFill>
            <a:srgbClr val="000000"/>
          </a:solidFill>
          <a:ln w="0">
            <a:noFill/>
            <a:prstDash val="solid"/>
          </a:ln>
        </p:spPr>
        <p:txBody>
          <a:bodyPr/>
          <a:lstStyle/>
          <a:p>
            <a:endParaRPr lang="en-GB"/>
          </a:p>
        </p:txBody>
      </p:sp>
      <p:sp>
        <p:nvSpPr>
          <p:cNvPr id="123" name="TextBox 124"/>
          <p:cNvSpPr txBox="1"/>
          <p:nvPr/>
        </p:nvSpPr>
        <p:spPr>
          <a:xfrm>
            <a:off x="8815350" y="3400000"/>
            <a:ext cx="2690850" cy="760000"/>
          </a:xfrm>
          <a:prstGeom prst="rect">
            <a:avLst/>
          </a:prstGeom>
          <a:noFill/>
        </p:spPr>
        <p:txBody>
          <a:bodyPr wrap="square" lIns="0" tIns="0" rIns="0" bIns="0" anchor="t">
            <a:noAutofit/>
          </a:bodyPr>
          <a:lstStyle/>
          <a:p>
            <a:pPr algn="l">
              <a:lnSpc>
                <a:spcPct val="105000"/>
              </a:lnSpc>
              <a:buNone/>
              <a:defRPr sz="2200" b="0">
                <a:solidFill>
                  <a:srgbClr val="222222"/>
                </a:solidFill>
              </a:defRPr>
            </a:pPr>
            <a:r>
              <a:rPr lang="en-GB" sz="2200" b="0" dirty="0">
                <a:solidFill>
                  <a:srgbClr val="222222"/>
                </a:solidFill>
              </a:rPr>
              <a:t>No import of finance.</a:t>
            </a:r>
          </a:p>
        </p:txBody>
      </p:sp>
      <p:sp>
        <p:nvSpPr>
          <p:cNvPr id="125" name="Rectangle 126"/>
          <p:cNvSpPr>
            <a:spLocks noGrp="1"/>
          </p:cNvSpPr>
          <p:nvPr/>
        </p:nvSpPr>
        <p:spPr>
          <a:xfrm>
            <a:off x="8515350" y="4290000"/>
            <a:ext cx="152400" cy="152400"/>
          </a:xfrm>
          <a:prstGeom prst="rect">
            <a:avLst/>
          </a:prstGeom>
          <a:solidFill>
            <a:srgbClr val="000000"/>
          </a:solidFill>
          <a:ln w="0">
            <a:noFill/>
            <a:prstDash val="solid"/>
          </a:ln>
        </p:spPr>
        <p:txBody>
          <a:bodyPr/>
          <a:lstStyle/>
          <a:p>
            <a:endParaRPr lang="en-GB"/>
          </a:p>
        </p:txBody>
      </p:sp>
      <p:sp>
        <p:nvSpPr>
          <p:cNvPr id="127" name="TextBox 128"/>
          <p:cNvSpPr txBox="1"/>
          <p:nvPr/>
        </p:nvSpPr>
        <p:spPr>
          <a:xfrm>
            <a:off x="8815350" y="4220000"/>
            <a:ext cx="2690850" cy="760000"/>
          </a:xfrm>
          <a:prstGeom prst="rect">
            <a:avLst/>
          </a:prstGeom>
          <a:noFill/>
        </p:spPr>
        <p:txBody>
          <a:bodyPr wrap="square" lIns="0" tIns="0" rIns="0" bIns="0" anchor="t">
            <a:noAutofit/>
          </a:bodyPr>
          <a:lstStyle/>
          <a:p>
            <a:pPr algn="l">
              <a:lnSpc>
                <a:spcPct val="105000"/>
              </a:lnSpc>
              <a:buNone/>
              <a:defRPr sz="2200" b="0">
                <a:solidFill>
                  <a:srgbClr val="222222"/>
                </a:solidFill>
              </a:defRPr>
            </a:pPr>
            <a:r>
              <a:rPr lang="en-GB" sz="2200" b="0" dirty="0">
                <a:solidFill>
                  <a:srgbClr val="222222"/>
                </a:solidFill>
              </a:rPr>
              <a:t>The endpoint came from the card.</a:t>
            </a:r>
          </a:p>
        </p:txBody>
      </p:sp>
      <p:sp>
        <p:nvSpPr>
          <p:cNvPr id="129" name="Rectangle 130"/>
          <p:cNvSpPr>
            <a:spLocks noGrp="1"/>
          </p:cNvSpPr>
          <p:nvPr/>
        </p:nvSpPr>
        <p:spPr>
          <a:xfrm>
            <a:off x="8515350" y="5110000"/>
            <a:ext cx="152400" cy="152400"/>
          </a:xfrm>
          <a:prstGeom prst="rect">
            <a:avLst/>
          </a:prstGeom>
          <a:solidFill>
            <a:srgbClr val="000000"/>
          </a:solidFill>
          <a:ln w="0">
            <a:noFill/>
            <a:prstDash val="solid"/>
          </a:ln>
        </p:spPr>
        <p:txBody>
          <a:bodyPr/>
          <a:lstStyle/>
          <a:p>
            <a:endParaRPr lang="en-GB"/>
          </a:p>
        </p:txBody>
      </p:sp>
      <p:sp>
        <p:nvSpPr>
          <p:cNvPr id="131" name="TextBox 132"/>
          <p:cNvSpPr txBox="1"/>
          <p:nvPr/>
        </p:nvSpPr>
        <p:spPr>
          <a:xfrm>
            <a:off x="8815350" y="5040000"/>
            <a:ext cx="2690850" cy="760000"/>
          </a:xfrm>
          <a:prstGeom prst="rect">
            <a:avLst/>
          </a:prstGeom>
          <a:noFill/>
        </p:spPr>
        <p:txBody>
          <a:bodyPr wrap="square" lIns="0" tIns="0" rIns="0" bIns="0" anchor="t">
            <a:noAutofit/>
          </a:bodyPr>
          <a:lstStyle/>
          <a:p>
            <a:pPr algn="l">
              <a:lnSpc>
                <a:spcPct val="105000"/>
              </a:lnSpc>
              <a:buNone/>
              <a:defRPr sz="2200" b="0">
                <a:solidFill>
                  <a:srgbClr val="222222"/>
                </a:solidFill>
              </a:defRPr>
            </a:pPr>
            <a:r>
              <a:rPr lang="en-GB" sz="2200" b="0" dirty="0">
                <a:solidFill>
                  <a:srgbClr val="222222"/>
                </a:solidFill>
              </a:rPr>
              <a:t>A structured answer, not prose.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Subagents keep the parent clean</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5</a:t>
            </a:r>
          </a:p>
        </p:txBody>
      </p:sp>
      <p:sp>
        <p:nvSpPr>
          <p:cNvPr id="105" name="TextBox 106"/>
          <p:cNvSpPr txBox="1"/>
          <p:nvPr/>
        </p:nvSpPr>
        <p:spPr>
          <a:xfrm>
            <a:off x="11091950" y="6320000"/>
            <a:ext cx="700000" cy="320000"/>
          </a:xfrm>
          <a:prstGeom prst="rect">
            <a:avLst/>
          </a:prstGeom>
          <a:noFill/>
        </p:spPr>
        <p:txBody>
          <a:bodyPr wrap="square" lIns="0" tIns="0" rIns="0" bIns="0" anchor="t">
            <a:noAutofit/>
          </a:bodyPr>
          <a:lstStyle/>
          <a:p>
            <a:pPr algn="r">
              <a:buNone/>
              <a:defRPr sz="1400" b="0">
                <a:solidFill>
                  <a:srgbClr val="000000"/>
                </a:solidFill>
              </a:defRPr>
            </a:pPr>
            <a:r>
              <a:rPr lang="en-GB" sz="1400" b="0" dirty="0">
                <a:solidFill>
                  <a:srgbClr val="000000"/>
                </a:solidFill>
              </a:rPr>
              <a:t>23</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05</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Subagents</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p:cNvSpPr>
            <a:spLocks noGrp="1"/>
          </p:cNvSpPr>
          <p:nvPr/>
        </p:nvSpPr>
        <p:spPr>
          <a:xfrm>
            <a:off x="5196000" y="3160000"/>
            <a:ext cx="1800000" cy="800000"/>
          </a:xfrm>
          <a:prstGeom prst="rect">
            <a:avLst/>
          </a:prstGeom>
          <a:solidFill>
            <a:srgbClr val="000000"/>
          </a:solidFill>
          <a:ln w="0">
            <a:noFill/>
            <a:prstDash val="solid"/>
          </a:ln>
        </p:spPr>
        <p:txBody>
          <a:bodyPr/>
          <a:lstStyle/>
          <a:p>
            <a:endParaRPr lang="en-GB"/>
          </a:p>
        </p:txBody>
      </p:sp>
      <p:sp>
        <p:nvSpPr>
          <p:cNvPr id="115" name="TextBox 116"/>
          <p:cNvSpPr txBox="1"/>
          <p:nvPr/>
        </p:nvSpPr>
        <p:spPr>
          <a:xfrm>
            <a:off x="5196000" y="3380000"/>
            <a:ext cx="1800000" cy="460000"/>
          </a:xfrm>
          <a:prstGeom prst="rect">
            <a:avLst/>
          </a:prstGeom>
          <a:noFill/>
        </p:spPr>
        <p:txBody>
          <a:bodyPr wrap="square" lIns="0" tIns="0" rIns="0" bIns="0" anchor="t">
            <a:noAutofit/>
          </a:bodyPr>
          <a:lstStyle/>
          <a:p>
            <a:pPr algn="ctr">
              <a:buNone/>
              <a:defRPr sz="2600" b="0">
                <a:solidFill>
                  <a:srgbClr val="FFFFFF"/>
                </a:solidFill>
              </a:defRPr>
            </a:pPr>
            <a:r>
              <a:rPr lang="en-GB" sz="2600" b="0" dirty="0">
                <a:solidFill>
                  <a:srgbClr val="FFFFFF"/>
                </a:solidFill>
              </a:rPr>
              <a:t>parent</a:t>
            </a:r>
          </a:p>
        </p:txBody>
      </p:sp>
      <p:sp>
        <p:nvSpPr>
          <p:cNvPr id="117" name="Rectangle 118"/>
          <p:cNvSpPr>
            <a:spLocks noGrp="1"/>
          </p:cNvSpPr>
          <p:nvPr/>
        </p:nvSpPr>
        <p:spPr>
          <a:xfrm>
            <a:off x="6081712" y="3960000"/>
            <a:ext cx="28575" cy="380000"/>
          </a:xfrm>
          <a:prstGeom prst="rect">
            <a:avLst/>
          </a:prstGeom>
          <a:solidFill>
            <a:srgbClr val="B8BCC4"/>
          </a:solidFill>
          <a:ln w="0">
            <a:noFill/>
            <a:prstDash val="solid"/>
          </a:ln>
        </p:spPr>
        <p:txBody>
          <a:bodyPr/>
          <a:lstStyle/>
          <a:p>
            <a:endParaRPr lang="en-GB"/>
          </a:p>
        </p:txBody>
      </p:sp>
      <p:sp>
        <p:nvSpPr>
          <p:cNvPr id="119" name="Rectangle 120"/>
          <p:cNvSpPr>
            <a:spLocks noGrp="1"/>
          </p:cNvSpPr>
          <p:nvPr/>
        </p:nvSpPr>
        <p:spPr>
          <a:xfrm>
            <a:off x="1600050" y="4340000"/>
            <a:ext cx="8991900" cy="28575"/>
          </a:xfrm>
          <a:prstGeom prst="rect">
            <a:avLst/>
          </a:prstGeom>
          <a:solidFill>
            <a:srgbClr val="B8BCC4"/>
          </a:solidFill>
          <a:ln w="0">
            <a:noFill/>
            <a:prstDash val="solid"/>
          </a:ln>
        </p:spPr>
        <p:txBody>
          <a:bodyPr/>
          <a:lstStyle/>
          <a:p>
            <a:endParaRPr lang="en-GB"/>
          </a:p>
        </p:txBody>
      </p:sp>
      <p:sp>
        <p:nvSpPr>
          <p:cNvPr id="121" name="Rectangle 122"/>
          <p:cNvSpPr>
            <a:spLocks noGrp="1"/>
          </p:cNvSpPr>
          <p:nvPr/>
        </p:nvSpPr>
        <p:spPr>
          <a:xfrm>
            <a:off x="1585763" y="4368575"/>
            <a:ext cx="28575" cy="180000"/>
          </a:xfrm>
          <a:prstGeom prst="rect">
            <a:avLst/>
          </a:prstGeom>
          <a:solidFill>
            <a:srgbClr val="B8BCC4"/>
          </a:solidFill>
          <a:ln w="0">
            <a:noFill/>
            <a:prstDash val="solid"/>
          </a:ln>
        </p:spPr>
        <p:txBody>
          <a:bodyPr/>
          <a:lstStyle/>
          <a:p>
            <a:endParaRPr lang="en-GB"/>
          </a:p>
        </p:txBody>
      </p:sp>
      <p:sp>
        <p:nvSpPr>
          <p:cNvPr id="123" name="Rectangle 124"/>
          <p:cNvSpPr>
            <a:spLocks noGrp="1"/>
          </p:cNvSpPr>
          <p:nvPr/>
        </p:nvSpPr>
        <p:spPr>
          <a:xfrm>
            <a:off x="400050" y="4548575"/>
            <a:ext cx="2400000" cy="800000"/>
          </a:xfrm>
          <a:prstGeom prst="rect">
            <a:avLst/>
          </a:prstGeom>
          <a:solidFill>
            <a:srgbClr val="EDEDED"/>
          </a:solidFill>
          <a:ln w="0">
            <a:noFill/>
            <a:prstDash val="solid"/>
          </a:ln>
        </p:spPr>
        <p:txBody>
          <a:bodyPr/>
          <a:lstStyle/>
          <a:p>
            <a:endParaRPr lang="en-GB"/>
          </a:p>
        </p:txBody>
      </p:sp>
      <p:sp>
        <p:nvSpPr>
          <p:cNvPr id="125" name="TextBox 126"/>
          <p:cNvSpPr txBox="1"/>
          <p:nvPr/>
        </p:nvSpPr>
        <p:spPr>
          <a:xfrm>
            <a:off x="400050" y="4770000"/>
            <a:ext cx="2400000" cy="420000"/>
          </a:xfrm>
          <a:prstGeom prst="rect">
            <a:avLst/>
          </a:prstGeom>
          <a:noFill/>
        </p:spPr>
        <p:txBody>
          <a:bodyPr wrap="square" lIns="0" tIns="0" rIns="0" bIns="0" anchor="t">
            <a:noAutofit/>
          </a:bodyPr>
          <a:lstStyle/>
          <a:p>
            <a:pPr algn="ctr">
              <a:buNone/>
              <a:defRPr sz="2400" b="0">
                <a:solidFill>
                  <a:srgbClr val="000000"/>
                </a:solidFill>
              </a:defRPr>
            </a:pPr>
            <a:r>
              <a:rPr lang="en-GB" sz="2400" b="0" dirty="0">
                <a:solidFill>
                  <a:srgbClr val="000000"/>
                </a:solidFill>
              </a:rPr>
              <a:t>child 1</a:t>
            </a:r>
          </a:p>
        </p:txBody>
      </p:sp>
      <p:sp>
        <p:nvSpPr>
          <p:cNvPr id="127" name="Rectangle 128"/>
          <p:cNvSpPr>
            <a:spLocks noGrp="1"/>
          </p:cNvSpPr>
          <p:nvPr/>
        </p:nvSpPr>
        <p:spPr>
          <a:xfrm>
            <a:off x="4583063" y="4368575"/>
            <a:ext cx="28575" cy="180000"/>
          </a:xfrm>
          <a:prstGeom prst="rect">
            <a:avLst/>
          </a:prstGeom>
          <a:solidFill>
            <a:srgbClr val="B8BCC4"/>
          </a:solidFill>
          <a:ln w="0">
            <a:noFill/>
            <a:prstDash val="solid"/>
          </a:ln>
        </p:spPr>
        <p:txBody>
          <a:bodyPr/>
          <a:lstStyle/>
          <a:p>
            <a:endParaRPr lang="en-GB"/>
          </a:p>
        </p:txBody>
      </p:sp>
      <p:sp>
        <p:nvSpPr>
          <p:cNvPr id="129" name="Rectangle 130"/>
          <p:cNvSpPr>
            <a:spLocks noGrp="1"/>
          </p:cNvSpPr>
          <p:nvPr/>
        </p:nvSpPr>
        <p:spPr>
          <a:xfrm>
            <a:off x="3397350" y="4548575"/>
            <a:ext cx="2400000" cy="800000"/>
          </a:xfrm>
          <a:prstGeom prst="rect">
            <a:avLst/>
          </a:prstGeom>
          <a:solidFill>
            <a:srgbClr val="EDEDED"/>
          </a:solidFill>
          <a:ln w="0">
            <a:noFill/>
            <a:prstDash val="solid"/>
          </a:ln>
        </p:spPr>
        <p:txBody>
          <a:bodyPr/>
          <a:lstStyle/>
          <a:p>
            <a:endParaRPr lang="en-GB"/>
          </a:p>
        </p:txBody>
      </p:sp>
      <p:sp>
        <p:nvSpPr>
          <p:cNvPr id="131" name="TextBox 132"/>
          <p:cNvSpPr txBox="1"/>
          <p:nvPr/>
        </p:nvSpPr>
        <p:spPr>
          <a:xfrm>
            <a:off x="3397350" y="4770000"/>
            <a:ext cx="2400000" cy="420000"/>
          </a:xfrm>
          <a:prstGeom prst="rect">
            <a:avLst/>
          </a:prstGeom>
          <a:noFill/>
        </p:spPr>
        <p:txBody>
          <a:bodyPr wrap="square" lIns="0" tIns="0" rIns="0" bIns="0" anchor="t">
            <a:noAutofit/>
          </a:bodyPr>
          <a:lstStyle/>
          <a:p>
            <a:pPr algn="ctr">
              <a:buNone/>
              <a:defRPr sz="2400" b="0">
                <a:solidFill>
                  <a:srgbClr val="000000"/>
                </a:solidFill>
              </a:defRPr>
            </a:pPr>
            <a:r>
              <a:rPr lang="en-GB" sz="2400" b="0" dirty="0">
                <a:solidFill>
                  <a:srgbClr val="000000"/>
                </a:solidFill>
              </a:rPr>
              <a:t>child 2</a:t>
            </a:r>
          </a:p>
        </p:txBody>
      </p:sp>
      <p:sp>
        <p:nvSpPr>
          <p:cNvPr id="133" name="Rectangle 134"/>
          <p:cNvSpPr>
            <a:spLocks noGrp="1"/>
          </p:cNvSpPr>
          <p:nvPr/>
        </p:nvSpPr>
        <p:spPr>
          <a:xfrm>
            <a:off x="7580363" y="4368575"/>
            <a:ext cx="28575" cy="180000"/>
          </a:xfrm>
          <a:prstGeom prst="rect">
            <a:avLst/>
          </a:prstGeom>
          <a:solidFill>
            <a:srgbClr val="B8BCC4"/>
          </a:solidFill>
          <a:ln w="0">
            <a:noFill/>
            <a:prstDash val="solid"/>
          </a:ln>
        </p:spPr>
        <p:txBody>
          <a:bodyPr/>
          <a:lstStyle/>
          <a:p>
            <a:endParaRPr lang="en-GB"/>
          </a:p>
        </p:txBody>
      </p:sp>
      <p:sp>
        <p:nvSpPr>
          <p:cNvPr id="135" name="Rectangle 136"/>
          <p:cNvSpPr>
            <a:spLocks noGrp="1"/>
          </p:cNvSpPr>
          <p:nvPr/>
        </p:nvSpPr>
        <p:spPr>
          <a:xfrm>
            <a:off x="6394650" y="4548575"/>
            <a:ext cx="2400000" cy="800000"/>
          </a:xfrm>
          <a:prstGeom prst="rect">
            <a:avLst/>
          </a:prstGeom>
          <a:solidFill>
            <a:srgbClr val="EDEDED"/>
          </a:solidFill>
          <a:ln w="0">
            <a:noFill/>
            <a:prstDash val="solid"/>
          </a:ln>
        </p:spPr>
        <p:txBody>
          <a:bodyPr/>
          <a:lstStyle/>
          <a:p>
            <a:endParaRPr lang="en-GB"/>
          </a:p>
        </p:txBody>
      </p:sp>
      <p:sp>
        <p:nvSpPr>
          <p:cNvPr id="137" name="TextBox 138"/>
          <p:cNvSpPr txBox="1"/>
          <p:nvPr/>
        </p:nvSpPr>
        <p:spPr>
          <a:xfrm>
            <a:off x="6394650" y="4770000"/>
            <a:ext cx="2400000" cy="420000"/>
          </a:xfrm>
          <a:prstGeom prst="rect">
            <a:avLst/>
          </a:prstGeom>
          <a:noFill/>
        </p:spPr>
        <p:txBody>
          <a:bodyPr wrap="square" lIns="0" tIns="0" rIns="0" bIns="0" anchor="t">
            <a:noAutofit/>
          </a:bodyPr>
          <a:lstStyle/>
          <a:p>
            <a:pPr algn="ctr">
              <a:buNone/>
              <a:defRPr sz="2400" b="0">
                <a:solidFill>
                  <a:srgbClr val="000000"/>
                </a:solidFill>
              </a:defRPr>
            </a:pPr>
            <a:r>
              <a:rPr lang="en-GB" sz="2400" b="0" dirty="0">
                <a:solidFill>
                  <a:srgbClr val="000000"/>
                </a:solidFill>
              </a:rPr>
              <a:t>child 3</a:t>
            </a:r>
          </a:p>
        </p:txBody>
      </p:sp>
      <p:sp>
        <p:nvSpPr>
          <p:cNvPr id="139" name="Rectangle 140"/>
          <p:cNvSpPr>
            <a:spLocks noGrp="1"/>
          </p:cNvSpPr>
          <p:nvPr/>
        </p:nvSpPr>
        <p:spPr>
          <a:xfrm>
            <a:off x="10577663" y="4368575"/>
            <a:ext cx="28575" cy="180000"/>
          </a:xfrm>
          <a:prstGeom prst="rect">
            <a:avLst/>
          </a:prstGeom>
          <a:solidFill>
            <a:srgbClr val="B8BCC4"/>
          </a:solidFill>
          <a:ln w="0">
            <a:noFill/>
            <a:prstDash val="solid"/>
          </a:ln>
        </p:spPr>
        <p:txBody>
          <a:bodyPr/>
          <a:lstStyle/>
          <a:p>
            <a:endParaRPr lang="en-GB"/>
          </a:p>
        </p:txBody>
      </p:sp>
      <p:sp>
        <p:nvSpPr>
          <p:cNvPr id="141" name="Rectangle 142"/>
          <p:cNvSpPr>
            <a:spLocks noGrp="1"/>
          </p:cNvSpPr>
          <p:nvPr/>
        </p:nvSpPr>
        <p:spPr>
          <a:xfrm>
            <a:off x="9391950" y="4548575"/>
            <a:ext cx="2400000" cy="800000"/>
          </a:xfrm>
          <a:prstGeom prst="rect">
            <a:avLst/>
          </a:prstGeom>
          <a:solidFill>
            <a:srgbClr val="EDEDED"/>
          </a:solidFill>
          <a:ln w="0">
            <a:noFill/>
            <a:prstDash val="solid"/>
          </a:ln>
        </p:spPr>
        <p:txBody>
          <a:bodyPr/>
          <a:lstStyle/>
          <a:p>
            <a:endParaRPr lang="en-GB"/>
          </a:p>
        </p:txBody>
      </p:sp>
      <p:sp>
        <p:nvSpPr>
          <p:cNvPr id="143" name="TextBox 144"/>
          <p:cNvSpPr txBox="1"/>
          <p:nvPr/>
        </p:nvSpPr>
        <p:spPr>
          <a:xfrm>
            <a:off x="9391950" y="4770000"/>
            <a:ext cx="2400000" cy="420000"/>
          </a:xfrm>
          <a:prstGeom prst="rect">
            <a:avLst/>
          </a:prstGeom>
          <a:noFill/>
        </p:spPr>
        <p:txBody>
          <a:bodyPr wrap="square" lIns="0" tIns="0" rIns="0" bIns="0" anchor="t">
            <a:noAutofit/>
          </a:bodyPr>
          <a:lstStyle/>
          <a:p>
            <a:pPr algn="ctr">
              <a:buNone/>
              <a:defRPr sz="2400" b="0">
                <a:solidFill>
                  <a:srgbClr val="000000"/>
                </a:solidFill>
              </a:defRPr>
            </a:pPr>
            <a:r>
              <a:rPr lang="en-GB" sz="2400" b="0" dirty="0">
                <a:solidFill>
                  <a:srgbClr val="000000"/>
                </a:solidFill>
              </a:rPr>
              <a:t>child 4</a:t>
            </a:r>
          </a:p>
        </p:txBody>
      </p:sp>
      <p:sp>
        <p:nvSpPr>
          <p:cNvPr id="145" name="TextBox 146"/>
          <p:cNvSpPr txBox="1"/>
          <p:nvPr/>
        </p:nvSpPr>
        <p:spPr>
          <a:xfrm>
            <a:off x="400050" y="5620000"/>
            <a:ext cx="11391900" cy="56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Too broad for one context. Or naturally parallel.</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Demo: four reviews in parallel</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5 demo</a:t>
            </a:r>
          </a:p>
        </p:txBody>
      </p:sp>
      <p:sp>
        <p:nvSpPr>
          <p:cNvPr id="105" name="TextBox 106"/>
          <p:cNvSpPr txBox="1"/>
          <p:nvPr/>
        </p:nvSpPr>
        <p:spPr>
          <a:xfrm>
            <a:off x="11091950" y="6320000"/>
            <a:ext cx="700000" cy="320000"/>
          </a:xfrm>
          <a:prstGeom prst="rect">
            <a:avLst/>
          </a:prstGeom>
          <a:noFill/>
        </p:spPr>
        <p:txBody>
          <a:bodyPr wrap="square" lIns="0" tIns="0" rIns="0" bIns="0" anchor="t">
            <a:noAutofit/>
          </a:bodyPr>
          <a:lstStyle/>
          <a:p>
            <a:pPr algn="r">
              <a:buNone/>
              <a:defRPr sz="1400" b="0">
                <a:solidFill>
                  <a:srgbClr val="000000"/>
                </a:solidFill>
              </a:defRPr>
            </a:pPr>
            <a:r>
              <a:rPr lang="en-GB" sz="1400" b="0" dirty="0">
                <a:solidFill>
                  <a:srgbClr val="000000"/>
                </a:solidFill>
              </a:rPr>
              <a:t>24</a:t>
            </a:r>
          </a:p>
        </p:txBody>
      </p:sp>
      <p:sp>
        <p:nvSpPr>
          <p:cNvPr id="107" name="Rectangle 108"/>
          <p:cNvSpPr>
            <a:spLocks noGrp="1"/>
          </p:cNvSpPr>
          <p:nvPr/>
        </p:nvSpPr>
        <p:spPr>
          <a:xfrm>
            <a:off x="400050" y="1520000"/>
            <a:ext cx="11391900" cy="540000"/>
          </a:xfrm>
          <a:prstGeom prst="rect">
            <a:avLst/>
          </a:prstGeom>
          <a:solidFill>
            <a:srgbClr val="F7F7F7"/>
          </a:solidFill>
          <a:ln w="0">
            <a:noFill/>
            <a:prstDash val="solid"/>
          </a:ln>
        </p:spPr>
        <p:txBody>
          <a:bodyPr/>
          <a:lstStyle/>
          <a:p>
            <a:endParaRPr lang="en-GB"/>
          </a:p>
        </p:txBody>
      </p:sp>
      <p:sp>
        <p:nvSpPr>
          <p:cNvPr id="109" name="TextBox 110"/>
          <p:cNvSpPr txBox="1"/>
          <p:nvPr/>
        </p:nvSpPr>
        <p:spPr>
          <a:xfrm>
            <a:off x="628650" y="1640000"/>
            <a:ext cx="10934700" cy="400000"/>
          </a:xfrm>
          <a:prstGeom prst="rect">
            <a:avLst/>
          </a:prstGeom>
          <a:noFill/>
        </p:spPr>
        <p:txBody>
          <a:bodyPr wrap="square" lIns="0" tIns="0" rIns="0" bIns="0" anchor="t">
            <a:noAutofit/>
          </a:bodyPr>
          <a:lstStyle/>
          <a:p>
            <a:pPr algn="l">
              <a:buNone/>
              <a:defRPr sz="1800" b="0">
                <a:solidFill>
                  <a:srgbClr val="000000"/>
                </a:solidFill>
              </a:defRPr>
            </a:pPr>
            <a:r>
              <a:rPr lang="en-GB" sz="1800" b="0" dirty="0">
                <a:solidFill>
                  <a:srgbClr val="000000"/>
                </a:solidFill>
                <a:latin typeface="Cascadia Code NF" pitchFamily="50" charset="0"/>
                <a:ea typeface="Cascadia Code NF" pitchFamily="50" charset="0"/>
                <a:cs typeface="Cascadia Code NF" pitchFamily="50" charset="0"/>
              </a:rPr>
              <a:t>dotnet run --project 05-subagents</a:t>
            </a:r>
          </a:p>
        </p:txBody>
      </p:sp>
      <p:sp>
        <p:nvSpPr>
          <p:cNvPr id="111" name="Rectangle 112"/>
          <p:cNvSpPr>
            <a:spLocks noGrp="1"/>
          </p:cNvSpPr>
          <p:nvPr/>
        </p:nvSpPr>
        <p:spPr>
          <a:xfrm>
            <a:off x="400050" y="2150000"/>
            <a:ext cx="7620000" cy="4040000"/>
          </a:xfrm>
          <a:prstGeom prst="rect">
            <a:avLst/>
          </a:prstGeom>
          <a:solidFill>
            <a:srgbClr val="000000"/>
          </a:solidFill>
          <a:ln w="0">
            <a:noFill/>
            <a:prstDash val="solid"/>
          </a:ln>
        </p:spPr>
        <p:txBody>
          <a:bodyPr/>
          <a:lstStyle/>
          <a:p>
            <a:endParaRPr lang="en-GB"/>
          </a:p>
        </p:txBody>
      </p:sp>
      <p:sp>
        <p:nvSpPr>
          <p:cNvPr id="113" name="TextBox 114"/>
          <p:cNvSpPr txBox="1"/>
          <p:nvPr/>
        </p:nvSpPr>
        <p:spPr>
          <a:xfrm>
            <a:off x="628650" y="2378600"/>
            <a:ext cx="7162800" cy="300000"/>
          </a:xfrm>
          <a:prstGeom prst="rect">
            <a:avLst/>
          </a:prstGeom>
          <a:noFill/>
        </p:spPr>
        <p:txBody>
          <a:bodyPr wrap="square" lIns="0" tIns="0" rIns="0" bIns="0" anchor="t">
            <a:noAutofit/>
          </a:bodyPr>
          <a:lstStyle/>
          <a:p>
            <a:pPr algn="l">
              <a:buNone/>
              <a:defRPr sz="1600" b="1">
                <a:solidFill>
                  <a:srgbClr val="FFFFFF"/>
                </a:solidFill>
              </a:defRPr>
            </a:pPr>
            <a:r>
              <a:rPr lang="en-GB" sz="1600" b="1" dirty="0">
                <a:solidFill>
                  <a:srgbClr val="FFFFFF"/>
                </a:solidFill>
                <a:latin typeface="Cascadia Code NF" pitchFamily="50" charset="0"/>
                <a:ea typeface="Cascadia Code NF" pitchFamily="50" charset="0"/>
                <a:cs typeface="Cascadia Code NF" pitchFamily="50" charset="0"/>
              </a:rPr>
              <a:t>05-subagents/Program.cs</a:t>
            </a:r>
          </a:p>
        </p:txBody>
      </p:sp>
      <p:sp>
        <p:nvSpPr>
          <p:cNvPr id="115" name="TextBox 116"/>
          <p:cNvSpPr txBox="1"/>
          <p:nvPr/>
        </p:nvSpPr>
        <p:spPr>
          <a:xfrm>
            <a:off x="628650" y="2798600"/>
            <a:ext cx="7162800" cy="3162800"/>
          </a:xfrm>
          <a:prstGeom prst="rect">
            <a:avLst/>
          </a:prstGeom>
          <a:noFill/>
        </p:spPr>
        <p:txBody>
          <a:bodyPr wrap="square" lIns="0" tIns="0" rIns="0" bIns="0" anchor="t">
            <a:noAutofit/>
          </a:bodyPr>
          <a:lstStyle/>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var pending = checks</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  .Select(RunSubagentAsync)</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  .ToList();</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while (pending.Count &gt; 0)</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  var done = await Task.WhenAny(pending);</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  pending.Remove(done);</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  Console.WriteLine(await done);</a:t>
            </a:r>
          </a:p>
          <a:p>
            <a:pPr algn="l">
              <a:lnSpc>
                <a:spcPct val="102000"/>
              </a:lnSpc>
              <a:buNone/>
              <a:defRPr sz="1800" b="0">
                <a:solidFill>
                  <a:srgbClr val="FFC000"/>
                </a:solidFill>
              </a:defRPr>
            </a:pPr>
            <a:r>
              <a:rPr lang="en-GB" sz="1800" b="0" dirty="0">
                <a:solidFill>
                  <a:srgbClr val="FFC000"/>
                </a:solidFill>
                <a:latin typeface="Cascadia Code NF" pitchFamily="50" charset="0"/>
                <a:ea typeface="Cascadia Code NF" pitchFamily="50" charset="0"/>
                <a:cs typeface="Cascadia Code NF" pitchFamily="50" charset="0"/>
              </a:rPr>
              <a:t>}</a:t>
            </a:r>
          </a:p>
        </p:txBody>
      </p:sp>
      <p:sp>
        <p:nvSpPr>
          <p:cNvPr id="117" name="Rectangle 118"/>
          <p:cNvSpPr>
            <a:spLocks noGrp="1"/>
          </p:cNvSpPr>
          <p:nvPr/>
        </p:nvSpPr>
        <p:spPr>
          <a:xfrm>
            <a:off x="8229600" y="2150000"/>
            <a:ext cx="3562350" cy="4040000"/>
          </a:xfrm>
          <a:prstGeom prst="rect">
            <a:avLst/>
          </a:prstGeom>
          <a:solidFill>
            <a:srgbClr val="EDEDED"/>
          </a:solidFill>
          <a:ln w="0">
            <a:noFill/>
            <a:prstDash val="solid"/>
          </a:ln>
        </p:spPr>
        <p:txBody>
          <a:bodyPr/>
          <a:lstStyle/>
          <a:p>
            <a:endParaRPr lang="en-GB"/>
          </a:p>
        </p:txBody>
      </p:sp>
      <p:sp>
        <p:nvSpPr>
          <p:cNvPr id="119" name="TextBox 120"/>
          <p:cNvSpPr txBox="1"/>
          <p:nvPr/>
        </p:nvSpPr>
        <p:spPr>
          <a:xfrm>
            <a:off x="8515350" y="2435750"/>
            <a:ext cx="2990850" cy="850000"/>
          </a:xfrm>
          <a:prstGeom prst="rect">
            <a:avLst/>
          </a:prstGeom>
          <a:noFill/>
        </p:spPr>
        <p:txBody>
          <a:bodyPr wrap="square" lIns="0" tIns="0" rIns="0" bIns="0" anchor="t">
            <a:noAutofit/>
          </a:bodyPr>
          <a:lstStyle/>
          <a:p>
            <a:pPr algn="l">
              <a:buNone/>
              <a:defRPr sz="2600" b="1">
                <a:solidFill>
                  <a:srgbClr val="000000"/>
                </a:solidFill>
              </a:defRPr>
            </a:pPr>
            <a:r>
              <a:rPr lang="en-GB" sz="2600" b="1" dirty="0">
                <a:solidFill>
                  <a:srgbClr val="000000"/>
                </a:solidFill>
              </a:rPr>
              <a:t>What to watch</a:t>
            </a:r>
          </a:p>
        </p:txBody>
      </p:sp>
      <p:sp>
        <p:nvSpPr>
          <p:cNvPr id="121" name="Rectangle 122"/>
          <p:cNvSpPr>
            <a:spLocks noGrp="1"/>
          </p:cNvSpPr>
          <p:nvPr/>
        </p:nvSpPr>
        <p:spPr>
          <a:xfrm>
            <a:off x="8515350" y="3470000"/>
            <a:ext cx="152400" cy="152400"/>
          </a:xfrm>
          <a:prstGeom prst="rect">
            <a:avLst/>
          </a:prstGeom>
          <a:solidFill>
            <a:srgbClr val="000000"/>
          </a:solidFill>
          <a:ln w="0">
            <a:noFill/>
            <a:prstDash val="solid"/>
          </a:ln>
        </p:spPr>
        <p:txBody>
          <a:bodyPr/>
          <a:lstStyle/>
          <a:p>
            <a:endParaRPr lang="en-GB"/>
          </a:p>
        </p:txBody>
      </p:sp>
      <p:sp>
        <p:nvSpPr>
          <p:cNvPr id="123" name="TextBox 124"/>
          <p:cNvSpPr txBox="1"/>
          <p:nvPr/>
        </p:nvSpPr>
        <p:spPr>
          <a:xfrm>
            <a:off x="8815350" y="3400000"/>
            <a:ext cx="2690850" cy="760000"/>
          </a:xfrm>
          <a:prstGeom prst="rect">
            <a:avLst/>
          </a:prstGeom>
          <a:noFill/>
        </p:spPr>
        <p:txBody>
          <a:bodyPr wrap="square" lIns="0" tIns="0" rIns="0" bIns="0" anchor="t">
            <a:noAutofit/>
          </a:bodyPr>
          <a:lstStyle/>
          <a:p>
            <a:pPr algn="l">
              <a:lnSpc>
                <a:spcPct val="105000"/>
              </a:lnSpc>
              <a:buNone/>
              <a:defRPr sz="2200" b="0">
                <a:solidFill>
                  <a:srgbClr val="222222"/>
                </a:solidFill>
              </a:defRPr>
            </a:pPr>
            <a:r>
              <a:rPr lang="en-GB" sz="2200" b="0" dirty="0">
                <a:solidFill>
                  <a:srgbClr val="222222"/>
                </a:solidFill>
              </a:rPr>
              <a:t>They finish out of order.</a:t>
            </a:r>
          </a:p>
        </p:txBody>
      </p:sp>
      <p:sp>
        <p:nvSpPr>
          <p:cNvPr id="125" name="Rectangle 126"/>
          <p:cNvSpPr>
            <a:spLocks noGrp="1"/>
          </p:cNvSpPr>
          <p:nvPr/>
        </p:nvSpPr>
        <p:spPr>
          <a:xfrm>
            <a:off x="8515350" y="4290000"/>
            <a:ext cx="152400" cy="152400"/>
          </a:xfrm>
          <a:prstGeom prst="rect">
            <a:avLst/>
          </a:prstGeom>
          <a:solidFill>
            <a:srgbClr val="000000"/>
          </a:solidFill>
          <a:ln w="0">
            <a:noFill/>
            <a:prstDash val="solid"/>
          </a:ln>
        </p:spPr>
        <p:txBody>
          <a:bodyPr/>
          <a:lstStyle/>
          <a:p>
            <a:endParaRPr lang="en-GB"/>
          </a:p>
        </p:txBody>
      </p:sp>
      <p:sp>
        <p:nvSpPr>
          <p:cNvPr id="127" name="TextBox 128"/>
          <p:cNvSpPr txBox="1"/>
          <p:nvPr/>
        </p:nvSpPr>
        <p:spPr>
          <a:xfrm>
            <a:off x="8815350" y="4220000"/>
            <a:ext cx="2690850" cy="760000"/>
          </a:xfrm>
          <a:prstGeom prst="rect">
            <a:avLst/>
          </a:prstGeom>
          <a:noFill/>
        </p:spPr>
        <p:txBody>
          <a:bodyPr wrap="square" lIns="0" tIns="0" rIns="0" bIns="0" anchor="t">
            <a:noAutofit/>
          </a:bodyPr>
          <a:lstStyle/>
          <a:p>
            <a:pPr algn="l">
              <a:lnSpc>
                <a:spcPct val="105000"/>
              </a:lnSpc>
              <a:buNone/>
              <a:defRPr sz="2200" b="0">
                <a:solidFill>
                  <a:srgbClr val="222222"/>
                </a:solidFill>
              </a:defRPr>
            </a:pPr>
            <a:r>
              <a:rPr lang="en-GB" sz="2200" b="0" dirty="0">
                <a:solidFill>
                  <a:srgbClr val="222222"/>
                </a:solidFill>
              </a:rPr>
              <a:t>Each gets one small slice.</a:t>
            </a:r>
          </a:p>
        </p:txBody>
      </p:sp>
      <p:sp>
        <p:nvSpPr>
          <p:cNvPr id="129" name="Rectangle 130"/>
          <p:cNvSpPr>
            <a:spLocks noGrp="1"/>
          </p:cNvSpPr>
          <p:nvPr/>
        </p:nvSpPr>
        <p:spPr>
          <a:xfrm>
            <a:off x="8515350" y="5110000"/>
            <a:ext cx="152400" cy="152400"/>
          </a:xfrm>
          <a:prstGeom prst="rect">
            <a:avLst/>
          </a:prstGeom>
          <a:solidFill>
            <a:srgbClr val="000000"/>
          </a:solidFill>
          <a:ln w="0">
            <a:noFill/>
            <a:prstDash val="solid"/>
          </a:ln>
        </p:spPr>
        <p:txBody>
          <a:bodyPr/>
          <a:lstStyle/>
          <a:p>
            <a:endParaRPr lang="en-GB"/>
          </a:p>
        </p:txBody>
      </p:sp>
      <p:sp>
        <p:nvSpPr>
          <p:cNvPr id="131" name="TextBox 132"/>
          <p:cNvSpPr txBox="1"/>
          <p:nvPr/>
        </p:nvSpPr>
        <p:spPr>
          <a:xfrm>
            <a:off x="8815350" y="5040000"/>
            <a:ext cx="2690850" cy="760000"/>
          </a:xfrm>
          <a:prstGeom prst="rect">
            <a:avLst/>
          </a:prstGeom>
          <a:noFill/>
        </p:spPr>
        <p:txBody>
          <a:bodyPr wrap="square" lIns="0" tIns="0" rIns="0" bIns="0" anchor="t">
            <a:noAutofit/>
          </a:bodyPr>
          <a:lstStyle/>
          <a:p>
            <a:pPr algn="l">
              <a:lnSpc>
                <a:spcPct val="105000"/>
              </a:lnSpc>
              <a:buNone/>
              <a:defRPr sz="2200" b="0">
                <a:solidFill>
                  <a:srgbClr val="222222"/>
                </a:solidFill>
              </a:defRPr>
            </a:pPr>
            <a:r>
              <a:rPr lang="en-GB" sz="2200" b="0" dirty="0">
                <a:solidFill>
                  <a:srgbClr val="222222"/>
                </a:solidFill>
              </a:rPr>
              <a:t>The parent sees summaries only.</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Delete your skills</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the habit</a:t>
            </a:r>
          </a:p>
        </p:txBody>
      </p:sp>
      <p:sp>
        <p:nvSpPr>
          <p:cNvPr id="105" name="TextBox 106"/>
          <p:cNvSpPr txBox="1"/>
          <p:nvPr/>
        </p:nvSpPr>
        <p:spPr>
          <a:xfrm>
            <a:off x="11091950" y="6320000"/>
            <a:ext cx="700000" cy="320000"/>
          </a:xfrm>
          <a:prstGeom prst="rect">
            <a:avLst/>
          </a:prstGeom>
          <a:noFill/>
        </p:spPr>
        <p:txBody>
          <a:bodyPr wrap="square" lIns="0" tIns="0" rIns="0" bIns="0" anchor="t">
            <a:noAutofit/>
          </a:bodyPr>
          <a:lstStyle/>
          <a:p>
            <a:pPr algn="r">
              <a:buNone/>
              <a:defRPr sz="1400" b="0">
                <a:solidFill>
                  <a:srgbClr val="000000"/>
                </a:solidFill>
              </a:defRPr>
            </a:pPr>
            <a:r>
              <a:rPr lang="en-GB" sz="1400" b="0" dirty="0">
                <a:solidFill>
                  <a:srgbClr val="000000"/>
                </a:solidFill>
              </a:rPr>
              <a:t>25</a:t>
            </a:r>
          </a:p>
        </p:txBody>
      </p:sp>
      <p:sp>
        <p:nvSpPr>
          <p:cNvPr id="107" name="Rectangle 108"/>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DELETE</a:t>
            </a:r>
          </a:p>
        </p:txBody>
      </p:sp>
      <p:sp>
        <p:nvSpPr>
          <p:cNvPr id="111" name="TextBox 112"/>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Every six months</a:t>
            </a:r>
          </a:p>
        </p:txBody>
      </p:sp>
      <p:sp>
        <p:nvSpPr>
          <p:cNvPr id="113" name="TextBox 114"/>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AGENTS.md and the whole skills folder</a:t>
            </a:r>
          </a:p>
        </p:txBody>
      </p:sp>
      <p:sp>
        <p:nvSpPr>
          <p:cNvPr id="115" name="Rectangle 116"/>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USE</a:t>
            </a:r>
          </a:p>
        </p:txBody>
      </p:sp>
      <p:sp>
        <p:nvSpPr>
          <p:cNvPr id="121" name="TextBox 122"/>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Run it bare</a:t>
            </a:r>
          </a:p>
        </p:txBody>
      </p:sp>
      <p:sp>
        <p:nvSpPr>
          <p:cNvPr id="123" name="TextBox 124"/>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watch where the new model really fails</a:t>
            </a:r>
          </a:p>
        </p:txBody>
      </p:sp>
      <p:sp>
        <p:nvSpPr>
          <p:cNvPr id="125" name="Rectangle 126"/>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RE-ADD</a:t>
            </a:r>
          </a:p>
        </p:txBody>
      </p:sp>
      <p:sp>
        <p:nvSpPr>
          <p:cNvPr id="131" name="TextBox 132"/>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Only proven needs</a:t>
            </a:r>
          </a:p>
        </p:txBody>
      </p:sp>
      <p:sp>
        <p:nvSpPr>
          <p:cNvPr id="133" name="TextBox 134"/>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repeatedly, not once</a:t>
            </a:r>
          </a:p>
        </p:txBody>
      </p:sp>
      <p:sp>
        <p:nvSpPr>
          <p:cNvPr id="135" name="TextBox 136"/>
          <p:cNvSpPr txBox="1"/>
          <p:nvPr/>
        </p:nvSpPr>
        <p:spPr>
          <a:xfrm>
            <a:off x="400050" y="5050000"/>
            <a:ext cx="113919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Ablation over accumulation. Make every line earn its tokens.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Name the boundary. Pick the term.</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
            </a:r>
          </a:p>
        </p:txBody>
      </p:sp>
      <p:sp>
        <p:nvSpPr>
          <p:cNvPr id="105" name="TextBox 106"/>
          <p:cNvSpPr txBox="1"/>
          <p:nvPr/>
        </p:nvSpPr>
        <p:spPr>
          <a:xfrm>
            <a:off x="11091950" y="6320000"/>
            <a:ext cx="700000" cy="320000"/>
          </a:xfrm>
          <a:prstGeom prst="rect">
            <a:avLst/>
          </a:prstGeom>
          <a:noFill/>
        </p:spPr>
        <p:txBody>
          <a:bodyPr wrap="square" lIns="0" tIns="0" rIns="0" bIns="0" anchor="t">
            <a:noAutofit/>
          </a:bodyPr>
          <a:lstStyle/>
          <a:p>
            <a:pPr algn="r">
              <a:buNone/>
              <a:defRPr sz="1400" b="0">
                <a:solidFill>
                  <a:srgbClr val="000000"/>
                </a:solidFill>
              </a:defRPr>
            </a:pPr>
            <a:r>
              <a:rPr lang="en-GB" sz="1400" b="0" dirty="0">
                <a:solidFill>
                  <a:srgbClr val="000000"/>
                </a:solidFill>
              </a:rPr>
              <a:t>26</a:t>
            </a:r>
          </a:p>
        </p:txBody>
      </p:sp>
      <p:sp>
        <p:nvSpPr>
          <p:cNvPr id="107" name="Rectangle 108"/>
          <p:cNvSpPr>
            <a:spLocks noGrp="1"/>
          </p:cNvSpPr>
          <p:nvPr/>
        </p:nvSpPr>
        <p:spPr>
          <a:xfrm>
            <a:off x="400050" y="1700000"/>
            <a:ext cx="11391900" cy="640000"/>
          </a:xfrm>
          <a:prstGeom prst="rect">
            <a:avLst/>
          </a:prstGeom>
          <a:solidFill>
            <a:srgbClr val="F7F7F7"/>
          </a:solidFill>
          <a:ln w="0">
            <a:noFill/>
            <a:prstDash val="solid"/>
          </a:ln>
        </p:spPr>
        <p:txBody>
          <a:bodyPr/>
          <a:lstStyle/>
          <a:p>
            <a:endParaRPr lang="en-GB"/>
          </a:p>
        </p:txBody>
      </p:sp>
      <p:sp>
        <p:nvSpPr>
          <p:cNvPr id="109" name="TextBox 110"/>
          <p:cNvSpPr txBox="1"/>
          <p:nvPr/>
        </p:nvSpPr>
        <p:spPr>
          <a:xfrm>
            <a:off x="628650" y="178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AGENTS.md</a:t>
            </a:r>
          </a:p>
        </p:txBody>
      </p:sp>
      <p:sp>
        <p:nvSpPr>
          <p:cNvPr id="111" name="TextBox 112"/>
          <p:cNvSpPr txBox="1"/>
          <p:nvPr/>
        </p:nvSpPr>
        <p:spPr>
          <a:xfrm>
            <a:off x="5300050" y="178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project behaviour</a:t>
            </a:r>
          </a:p>
        </p:txBody>
      </p:sp>
      <p:sp>
        <p:nvSpPr>
          <p:cNvPr id="113" name="TextBox 114"/>
          <p:cNvSpPr txBox="1"/>
          <p:nvPr/>
        </p:nvSpPr>
        <p:spPr>
          <a:xfrm>
            <a:off x="628650" y="248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Agent skills</a:t>
            </a:r>
          </a:p>
        </p:txBody>
      </p:sp>
      <p:sp>
        <p:nvSpPr>
          <p:cNvPr id="115" name="TextBox 116"/>
          <p:cNvSpPr txBox="1"/>
          <p:nvPr/>
        </p:nvSpPr>
        <p:spPr>
          <a:xfrm>
            <a:off x="5300050" y="248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task expertise</a:t>
            </a:r>
          </a:p>
        </p:txBody>
      </p:sp>
      <p:sp>
        <p:nvSpPr>
          <p:cNvPr id="117" name="Rectangle 118"/>
          <p:cNvSpPr>
            <a:spLocks noGrp="1"/>
          </p:cNvSpPr>
          <p:nvPr/>
        </p:nvSpPr>
        <p:spPr>
          <a:xfrm>
            <a:off x="400050" y="3100000"/>
            <a:ext cx="11391900" cy="640000"/>
          </a:xfrm>
          <a:prstGeom prst="rect">
            <a:avLst/>
          </a:prstGeom>
          <a:solidFill>
            <a:srgbClr val="F7F7F7"/>
          </a:solidFill>
          <a:ln w="0">
            <a:noFill/>
            <a:prstDash val="solid"/>
          </a:ln>
        </p:spPr>
        <p:txBody>
          <a:bodyPr/>
          <a:lstStyle/>
          <a:p>
            <a:endParaRPr lang="en-GB"/>
          </a:p>
        </p:txBody>
      </p:sp>
      <p:sp>
        <p:nvSpPr>
          <p:cNvPr id="119" name="TextBox 120"/>
          <p:cNvSpPr txBox="1"/>
          <p:nvPr/>
        </p:nvSpPr>
        <p:spPr>
          <a:xfrm>
            <a:off x="628650" y="318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MCP</a:t>
            </a:r>
          </a:p>
        </p:txBody>
      </p:sp>
      <p:sp>
        <p:nvSpPr>
          <p:cNvPr id="121" name="TextBox 122"/>
          <p:cNvSpPr txBox="1"/>
          <p:nvPr/>
        </p:nvSpPr>
        <p:spPr>
          <a:xfrm>
            <a:off x="5300050" y="318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tools and data</a:t>
            </a:r>
          </a:p>
        </p:txBody>
      </p:sp>
      <p:sp>
        <p:nvSpPr>
          <p:cNvPr id="123" name="TextBox 124"/>
          <p:cNvSpPr txBox="1"/>
          <p:nvPr/>
        </p:nvSpPr>
        <p:spPr>
          <a:xfrm>
            <a:off x="628650" y="388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A2A</a:t>
            </a:r>
          </a:p>
        </p:txBody>
      </p:sp>
      <p:sp>
        <p:nvSpPr>
          <p:cNvPr id="125" name="TextBox 126"/>
          <p:cNvSpPr txBox="1"/>
          <p:nvPr/>
        </p:nvSpPr>
        <p:spPr>
          <a:xfrm>
            <a:off x="5300050" y="388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peer agents</a:t>
            </a:r>
          </a:p>
        </p:txBody>
      </p:sp>
      <p:sp>
        <p:nvSpPr>
          <p:cNvPr id="127" name="Rectangle 128"/>
          <p:cNvSpPr>
            <a:spLocks noGrp="1"/>
          </p:cNvSpPr>
          <p:nvPr/>
        </p:nvSpPr>
        <p:spPr>
          <a:xfrm>
            <a:off x="400050" y="4500000"/>
            <a:ext cx="11391900" cy="640000"/>
          </a:xfrm>
          <a:prstGeom prst="rect">
            <a:avLst/>
          </a:prstGeom>
          <a:solidFill>
            <a:srgbClr val="F7F7F7"/>
          </a:solidFill>
          <a:ln w="0">
            <a:noFill/>
            <a:prstDash val="solid"/>
          </a:ln>
        </p:spPr>
        <p:txBody>
          <a:bodyPr/>
          <a:lstStyle/>
          <a:p>
            <a:endParaRPr lang="en-GB"/>
          </a:p>
        </p:txBody>
      </p:sp>
      <p:sp>
        <p:nvSpPr>
          <p:cNvPr id="129" name="TextBox 130"/>
          <p:cNvSpPr txBox="1"/>
          <p:nvPr/>
        </p:nvSpPr>
        <p:spPr>
          <a:xfrm>
            <a:off x="628650" y="458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Subagents</a:t>
            </a:r>
          </a:p>
        </p:txBody>
      </p:sp>
      <p:sp>
        <p:nvSpPr>
          <p:cNvPr id="131" name="TextBox 132"/>
          <p:cNvSpPr txBox="1"/>
          <p:nvPr/>
        </p:nvSpPr>
        <p:spPr>
          <a:xfrm>
            <a:off x="5300050" y="458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work scale</a:t>
            </a:r>
          </a:p>
        </p:txBody>
      </p:sp>
      <p:sp>
        <p:nvSpPr>
          <p:cNvPr id="133" name="TextBox 134"/>
          <p:cNvSpPr txBox="1"/>
          <p:nvPr/>
        </p:nvSpPr>
        <p:spPr>
          <a:xfrm>
            <a:off x="400050" y="5400000"/>
            <a:ext cx="11391900" cy="56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Files before weights. Then prune the files.</a:t>
            </a:r>
          </a:p>
        </p:txBody>
      </p:sp>
      <p:sp>
        <p:nvSpPr>
          <p:cNvPr id="135" name="TextBox 136"/>
          <p:cNvSpPr txBox="1"/>
          <p:nvPr/>
        </p:nvSpPr>
        <p:spPr>
          <a:xfrm>
            <a:off x="400050" y="6060000"/>
            <a:ext cx="10500000" cy="280000"/>
          </a:xfrm>
          <a:prstGeom prst="rect">
            <a:avLst/>
          </a:prstGeom>
          <a:noFill/>
        </p:spPr>
        <p:txBody>
          <a:bodyPr wrap="square" lIns="0" tIns="0" rIns="0" bIns="0" anchor="t">
            <a:noAutofit/>
          </a:bodyPr>
          <a:lstStyle/>
          <a:p>
            <a:pPr algn="l">
              <a:buNone/>
              <a:defRPr sz="1600" b="0">
                <a:solidFill>
                  <a:srgbClr val="555555"/>
                </a:solidFill>
              </a:defRPr>
            </a:pPr>
            <a:r>
              <a:rPr lang="en-GB" sz="1600" b="0" dirty="0">
                <a:solidFill>
                  <a:srgbClr val="555555"/>
                </a:solidFill>
              </a:rPr>
              <a:t>linuxfoundation.org · aaif.io · agentskills.io · modelcontextprotocol.io · a2aproject/A2A</a:t>
            </a:r>
          </a:p>
        </p:txBody>
      </p:sp>
      <p:sp>
        <p:nvSpPr>
          <p:cNvPr id="137" name="TextBox 138"/>
          <p:cNvSpPr txBox="1"/>
          <p:nvPr/>
        </p:nvSpPr>
        <p:spPr>
          <a:xfrm>
            <a:off x="400050" y="6360000"/>
            <a:ext cx="10500000" cy="280000"/>
          </a:xfrm>
          <a:prstGeom prst="rect">
            <a:avLst/>
          </a:prstGeom>
          <a:noFill/>
        </p:spPr>
        <p:txBody>
          <a:bodyPr wrap="square" lIns="0" tIns="0" rIns="0" bIns="0" anchor="t">
            <a:noAutofit/>
          </a:bodyPr>
          <a:lstStyle/>
          <a:p>
            <a:pPr algn="l">
              <a:buNone/>
              <a:defRPr sz="1600" b="0">
                <a:solidFill>
                  <a:srgbClr val="555555"/>
                </a:solidFill>
              </a:defRPr>
            </a:pPr>
            <a:r>
              <a:rPr lang="en-GB" sz="1600" b="0" dirty="0">
                <a:solidFill>
                  <a:srgbClr val="555555"/>
                </a:solidFill>
              </a:rPr>
              <a:t>MCP 2026-07-28 · IBM Technology: fine-tuning + skill practices · ycombinator.com (Boris Cherny)</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Application>Microsoft Office PowerPoint</Application>
  <DocSecurity>0</DocSecurity>
  <PresentationFormat>Widescreen</PresentationFormat>
  <Slides>26</Slides>
  <Notes>26</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 AI Agent Terms You Need to Know (45 min)</dc:title>
  <dc:creator>Devlin Duldulao</dc:creator>
  <cp:lastModifiedBy>Devlin Duldulao</cp:lastModifiedB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ocumentInfoFinished">
    <vt:lpwstr>True</vt:lpwstr>
  </property>
</Properties>
</file>
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328" r:id="rId3"/>
    <p:sldId id="329" r:id="rId4"/>
    <p:sldId id="291" r:id="rId5"/>
    <p:sldId id="292" r:id="rId6"/>
    <p:sldId id="290" r:id="rId7"/>
    <p:sldId id="270" r:id="rId8"/>
    <p:sldId id="293" r:id="rId9"/>
    <p:sldId id="294" r:id="rId10"/>
    <p:sldId id="295" r:id="rId11"/>
    <p:sldId id="296" r:id="rId12"/>
    <p:sldId id="297" r:id="rId13"/>
    <p:sldId id="286" r:id="rId14"/>
    <p:sldId id="298" r:id="rId15"/>
    <p:sldId id="299" r:id="rId16"/>
    <p:sldId id="300" r:id="rId17"/>
    <p:sldId id="301" r:id="rId18"/>
    <p:sldId id="316" r:id="rId19"/>
    <p:sldId id="289" r:id="rId20"/>
    <p:sldId id="302" r:id="rId21"/>
    <p:sldId id="317" r:id="rId22"/>
    <p:sldId id="303" r:id="rId23"/>
    <p:sldId id="304" r:id="rId24"/>
    <p:sldId id="305" r:id="rId25"/>
    <p:sldId id="318" r:id="rId26"/>
    <p:sldId id="306" r:id="rId27"/>
    <p:sldId id="311" r:id="rId28"/>
    <p:sldId id="307" r:id="rId29"/>
    <p:sldId id="308" r:id="rId30"/>
    <p:sldId id="314" r:id="rId31"/>
    <p:sldId id="322" r:id="rId32"/>
    <p:sldId id="319" r:id="rId33"/>
    <p:sldId id="320" r:id="rId34"/>
    <p:sldId id="321" r:id="rId35"/>
    <p:sldId id="309" r:id="rId36"/>
    <p:sldId id="323" r:id="rId37"/>
    <p:sldId id="310" r:id="rId38"/>
    <p:sldId id="312" r:id="rId39"/>
    <p:sldId id="324" r:id="rId40"/>
    <p:sldId id="315" r:id="rId41"/>
    <p:sldId id="326" r:id="rId42"/>
    <p:sldId id="327" r:id="rId43"/>
    <p:sldId id="334" r:id="rId44"/>
    <p:sldId id="332" r:id="rId45"/>
    <p:sldId id="333" r:id="rId46"/>
    <p:sldId id="335" r:id="rId47"/>
    <p:sldId id="336" r:id="rId48"/>
    <p:sldId id="330" r:id="rId49"/>
    <p:sldId id="331" r:id="rId50"/>
    <p:sldId id="313" r:id="rId5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73" autoAdjust="0"/>
    <p:restoredTop sz="79976" autoAdjust="0"/>
  </p:normalViewPr>
  <p:slideViewPr>
    <p:cSldViewPr snapToGrid="0">
      <p:cViewPr varScale="1">
        <p:scale>
          <a:sx n="118" d="100"/>
          <a:sy n="118" d="100"/>
        </p:scale>
        <p:origin x="11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600" dirty="0"/>
          </a:p>
          <a:p>
            <a:r>
              <a:rPr lang="en-GB" sz="1600" dirty="0"/>
              <a:t>So today we are going to talk about 5 official terms in ai. AGENTS.md. Agent skills. MCP. A2A. And subagents.</a:t>
            </a:r>
          </a:p>
          <a:p>
            <a:endParaRPr lang="en-GB" sz="1600" dirty="0"/>
          </a:p>
          <a:p>
            <a:r>
              <a:rPr lang="en-GB" sz="1600" dirty="0"/>
              <a:t>But I am not going to start there. So, we are going to spend the first five minutes on how we got here.</a:t>
            </a:r>
          </a:p>
          <a:p>
            <a:endParaRPr lang="en-GB" sz="1600" dirty="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fontScale="25000" lnSpcReduction="20000"/>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fontScale="250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Three things happened at the same time. </a:t>
            </a:r>
          </a:p>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fontScale="25000" lnSpcReduction="20000"/>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fontScale="25000" lnSpcReduction="20000"/>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fontScale="25000" lnSpcReduction="20000"/>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fontScale="25000" lnSpcReduction="20000"/>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fontScale="25000" lnSpcReduction="20000"/>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fontScale="25000" lnSpcReduction="20000"/>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fontScale="25000" lnSpcReduction="20000"/>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fontScale="25000" lnSpcReduction="20000"/>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fontScale="25000" lnSpcReduction="20000"/>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fontScale="25000" lnSpcReduction="20000"/>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fontScale="25000" lnSpcReduction="20000"/>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fontScale="25000" lnSpcReduction="20000"/>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fontScale="25000" lnSpcReduction="20000"/>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solidFill>
                  <a:schemeClr val="tx1"/>
                </a:solidFill>
                <a:effectLst/>
                <a:latin typeface="+mn-lt"/>
                <a:ea typeface="+mn-ea"/>
                <a:cs typeface="+mn-cs"/>
              </a:rPr>
              <a:t>An </a:t>
            </a:r>
            <a:r>
              <a:rPr lang="en-US" sz="1200" b="0" i="1" kern="1200" dirty="0">
                <a:solidFill>
                  <a:schemeClr val="tx1"/>
                </a:solidFill>
                <a:effectLst/>
                <a:latin typeface="+mn-lt"/>
                <a:ea typeface="+mn-ea"/>
                <a:cs typeface="+mn-cs"/>
              </a:rPr>
              <a:t>agent harness</a:t>
            </a:r>
            <a:r>
              <a:rPr lang="en-US" sz="1200" b="0" i="0" kern="1200" dirty="0">
                <a:solidFill>
                  <a:schemeClr val="tx1"/>
                </a:solidFill>
                <a:effectLst/>
                <a:latin typeface="+mn-lt"/>
                <a:ea typeface="+mn-ea"/>
                <a:cs typeface="+mn-cs"/>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4C149-155A-E9C4-57AB-3FE1C10D7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D0FDA-5D3D-09B2-0650-61D7D62A1E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D896A-2E19-C59B-2A05-F3E50EEFEF3C}"/>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28BF0507-9B40-A25F-206A-466746E0B2B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7217209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9174103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splits an AI agent into its two constituent parts: the model and the harness wrapped around it. </a:t>
            </a:r>
          </a:p>
          <a:p>
            <a:endParaRPr lang="en-US" dirty="0"/>
          </a:p>
          <a:p>
            <a:r>
              <a:rPr lang="en-US" dirty="0"/>
              <a:t>The model is just the neural network — capable, but unable to open a file, execute code, or reach the web by itself, which is the brain-in-a-jar framing. </a:t>
            </a:r>
          </a:p>
          <a:p>
            <a:endParaRPr lang="en-US" dirty="0"/>
          </a:p>
          <a:p>
            <a:r>
              <a:rPr lang="en-US" dirty="0"/>
              <a:t>The harness supplies three things: </a:t>
            </a:r>
          </a:p>
          <a:p>
            <a:endParaRPr lang="en-US" dirty="0"/>
          </a:p>
          <a:p>
            <a:r>
              <a:rPr lang="en-US" dirty="0"/>
              <a:t>tools (file access, code execution in a sandbox, browsing, computer use, and MCP for services that don't live on the machine), </a:t>
            </a:r>
          </a:p>
          <a:p>
            <a:endParaRPr lang="en-US" dirty="0"/>
          </a:p>
          <a:p>
            <a:r>
              <a:rPr lang="en-US" dirty="0"/>
              <a:t>memory (instruction files like AGENTS.md, context compaction as the window fills, and search so only relevant code gets pulled in), </a:t>
            </a:r>
          </a:p>
          <a:p>
            <a:endParaRPr lang="en-US" dirty="0"/>
          </a:p>
          <a:p>
            <a:r>
              <a:rPr lang="en-US" dirty="0"/>
              <a:t>and the agentic loop where the model plans, the harness acts, results come back, and the cycle repeats for seconds or hours. Verification runs throughout that loop rather than at the end — tests as it goes, screenshots, sometimes a separate model acting as reviewer — which is what lets a run go long without drifting off course. The reason this distinction matters is in the caption: benchmark gaps between the top labs have narrowed to a few points, so when one product clearly outperforms another on the same model, the harness is usually the explanation. </a:t>
            </a:r>
          </a:p>
          <a:p>
            <a:endParaRPr lang="en-US" dirty="0"/>
          </a:p>
          <a:p>
            <a:r>
              <a:rPr lang="en-US" dirty="0"/>
              <a:t>The boundary is also fluid, since long-horizon planning and self-verification are increasingly trained into the models themselves, while consistency across a long task is increasingly shaped by harness conventions and project files.</a:t>
            </a:r>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8377300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p:txBody>
      </p:sp>
    </p:spTree>
    <p:extLst>
      <p:ext uri="{BB962C8B-B14F-4D97-AF65-F5344CB8AC3E}">
        <p14:creationId xmlns:p14="http://schemas.microsoft.com/office/powerpoint/2010/main" val="6758698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7407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26535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73C98F-763D-129E-817F-DC764A81D199}"/>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strike="sngStrike" dirty="0">
                <a:solidFill>
                  <a:srgbClr val="000000"/>
                </a:solidFill>
              </a:rPr>
              <a:t>5</a:t>
            </a:r>
            <a:r>
              <a:rPr lang="en-GB" sz="5400" b="1" dirty="0">
                <a:solidFill>
                  <a:srgbClr val="000000"/>
                </a:solidFill>
              </a:rPr>
              <a:t> AI Agent Terms You Need to Know</a:t>
            </a:r>
          </a:p>
        </p:txBody>
      </p:sp>
      <p:sp>
        <p:nvSpPr>
          <p:cNvPr id="3" name="TextBox 2">
            <a:extLst>
              <a:ext uri="{FF2B5EF4-FFF2-40B4-BE49-F238E27FC236}">
                <a16:creationId xmlns:a16="http://schemas.microsoft.com/office/drawing/2014/main" id="{FA11D1AB-469B-7553-FAE3-003BC17D1564}"/>
              </a:ext>
            </a:extLst>
          </p:cNvPr>
          <p:cNvSpPr txBox="1"/>
          <p:nvPr/>
        </p:nvSpPr>
        <p:spPr>
          <a:xfrm>
            <a:off x="548640" y="4572000"/>
            <a:ext cx="8778240" cy="974434"/>
          </a:xfrm>
          <a:prstGeom prst="rect">
            <a:avLst/>
          </a:prstGeom>
          <a:noFill/>
        </p:spPr>
        <p:txBody>
          <a:bodyPr wrap="square" lIns="0" tIns="0" rIns="0" bIns="0" anchor="t">
            <a:spAutoFit/>
          </a:bodyPr>
          <a:lstStyle/>
          <a:p>
            <a:pPr algn="l">
              <a:lnSpc>
                <a:spcPct val="140000"/>
              </a:lnSpc>
            </a:pPr>
            <a:r>
              <a:rPr lang="en-US" sz="2400" b="0" i="0" dirty="0">
                <a:solidFill>
                  <a:schemeClr val="tx1">
                    <a:lumMod val="95000"/>
                    <a:lumOff val="5000"/>
                  </a:schemeClr>
                </a:solidFill>
                <a:latin typeface="Helvetica Neue"/>
              </a:rPr>
              <a:t>@DevlinDuldulao</a:t>
            </a:r>
          </a:p>
          <a:p>
            <a:pPr algn="l">
              <a:lnSpc>
                <a:spcPct val="140000"/>
              </a:lnSpc>
            </a:pPr>
            <a:r>
              <a:rPr lang="en-US" sz="2400" dirty="0">
                <a:solidFill>
                  <a:schemeClr val="tx1">
                    <a:lumMod val="95000"/>
                    <a:lumOff val="5000"/>
                  </a:schemeClr>
                </a:solidFill>
                <a:latin typeface="Helvetica Neue"/>
              </a:rPr>
              <a:t>Senior consultant at SoftwareOne Norway</a:t>
            </a:r>
            <a:endParaRPr sz="2400" b="0" i="0" dirty="0">
              <a:solidFill>
                <a:schemeClr val="tx1">
                  <a:lumMod val="95000"/>
                  <a:lumOff val="5000"/>
                </a:schemeClr>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strike="sngStrike" dirty="0">
                <a:solidFill>
                  <a:srgbClr val="000000"/>
                </a:solidFill>
              </a:rPr>
              <a:t>5</a:t>
            </a:r>
            <a:r>
              <a:rPr lang="en-GB" sz="5400" b="1" dirty="0">
                <a:solidFill>
                  <a:srgbClr val="000000"/>
                </a:solidFill>
              </a:rPr>
              <a:t> AI Agent Terms</a:t>
            </a:r>
          </a:p>
        </p:txBody>
      </p:sp>
    </p:spTree>
    <p:extLst>
      <p:ext uri="{BB962C8B-B14F-4D97-AF65-F5344CB8AC3E}">
        <p14:creationId xmlns:p14="http://schemas.microsoft.com/office/powerpoint/2010/main" val="2540605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err="1">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err="1">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JSON-RPC 2.0</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035C8-7685-4F57-94F1-769886BEC786}"/>
            </a:ext>
          </a:extLst>
        </p:cNvPr>
        <p:cNvGrpSpPr/>
        <p:nvPr/>
      </p:nvGrpSpPr>
      <p:grpSpPr>
        <a:xfrm>
          <a:off x="0" y="0"/>
          <a:ext cx="0" cy="0"/>
          <a:chOff x="0" y="0"/>
          <a:chExt cx="0" cy="0"/>
        </a:xfrm>
      </p:grpSpPr>
      <p:sp>
        <p:nvSpPr>
          <p:cNvPr id="107" name="TextBox 108">
            <a:extLst>
              <a:ext uri="{FF2B5EF4-FFF2-40B4-BE49-F238E27FC236}">
                <a16:creationId xmlns:a16="http://schemas.microsoft.com/office/drawing/2014/main" id="{0369B5AB-11F6-C18A-C0DC-7845E277B9D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06</a:t>
            </a:r>
          </a:p>
        </p:txBody>
      </p:sp>
      <p:sp>
        <p:nvSpPr>
          <p:cNvPr id="109" name="TextBox 110">
            <a:extLst>
              <a:ext uri="{FF2B5EF4-FFF2-40B4-BE49-F238E27FC236}">
                <a16:creationId xmlns:a16="http://schemas.microsoft.com/office/drawing/2014/main" id="{07F0D5C1-D2D1-1A6A-9E6D-360EBD4E30CC}"/>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Agentic Harness</a:t>
            </a:r>
          </a:p>
        </p:txBody>
      </p:sp>
    </p:spTree>
    <p:extLst>
      <p:ext uri="{BB962C8B-B14F-4D97-AF65-F5344CB8AC3E}">
        <p14:creationId xmlns:p14="http://schemas.microsoft.com/office/powerpoint/2010/main" val="9438422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1DBC24-DF7C-D482-94CD-D646C9C04EB7}"/>
              </a:ext>
            </a:extLst>
          </p:cNvPr>
          <p:cNvSpPr txBox="1"/>
          <p:nvPr/>
        </p:nvSpPr>
        <p:spPr>
          <a:xfrm>
            <a:off x="1024780" y="2274838"/>
            <a:ext cx="10142440" cy="2308324"/>
          </a:xfrm>
          <a:prstGeom prst="rect">
            <a:avLst/>
          </a:prstGeom>
          <a:noFill/>
        </p:spPr>
        <p:txBody>
          <a:bodyPr wrap="square" rtlCol="0">
            <a:spAutoFit/>
          </a:bodyPr>
          <a:lstStyle/>
          <a:p>
            <a:r>
              <a:rPr lang="en-US" sz="3600" dirty="0"/>
              <a:t>An </a:t>
            </a:r>
            <a:r>
              <a:rPr lang="en-US" sz="3600" b="1" u="sng" dirty="0"/>
              <a:t>agentic harness </a:t>
            </a:r>
            <a:r>
              <a:rPr lang="en-US" sz="3600" dirty="0"/>
              <a:t>is the runtime and control layer around an AI model that gives it tools, context, execution, feedback, and guardrails so it can autonomously complete multi-step tasks.</a:t>
            </a:r>
            <a:endParaRPr lang="en-GB" sz="3600" dirty="0"/>
          </a:p>
        </p:txBody>
      </p:sp>
    </p:spTree>
    <p:extLst>
      <p:ext uri="{BB962C8B-B14F-4D97-AF65-F5344CB8AC3E}">
        <p14:creationId xmlns:p14="http://schemas.microsoft.com/office/powerpoint/2010/main" val="28961340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E869F8-FC6A-4356-F580-26768AA9EB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58" y="0"/>
            <a:ext cx="12176084" cy="6858000"/>
          </a:xfrm>
          <a:prstGeom prst="rect">
            <a:avLst/>
          </a:prstGeom>
        </p:spPr>
      </p:pic>
    </p:spTree>
    <p:extLst>
      <p:ext uri="{BB962C8B-B14F-4D97-AF65-F5344CB8AC3E}">
        <p14:creationId xmlns:p14="http://schemas.microsoft.com/office/powerpoint/2010/main" val="20952233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24DB5D-07C1-F809-25C7-302056A61825}"/>
              </a:ext>
            </a:extLst>
          </p:cNvPr>
          <p:cNvPicPr>
            <a:picLocks noChangeAspect="1"/>
          </p:cNvPicPr>
          <p:nvPr/>
        </p:nvPicPr>
        <p:blipFill>
          <a:blip r:embed="rId2"/>
          <a:stretch>
            <a:fillRect/>
          </a:stretch>
        </p:blipFill>
        <p:spPr>
          <a:xfrm>
            <a:off x="0" y="140809"/>
            <a:ext cx="12192000" cy="6576381"/>
          </a:xfrm>
          <a:prstGeom prst="rect">
            <a:avLst/>
          </a:prstGeom>
        </p:spPr>
      </p:pic>
    </p:spTree>
    <p:extLst>
      <p:ext uri="{BB962C8B-B14F-4D97-AF65-F5344CB8AC3E}">
        <p14:creationId xmlns:p14="http://schemas.microsoft.com/office/powerpoint/2010/main" val="7016852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E8AA35-2D1C-69B8-AC16-41860642AF1E}"/>
              </a:ext>
            </a:extLst>
          </p:cNvPr>
          <p:cNvPicPr>
            <a:picLocks noChangeAspect="1"/>
          </p:cNvPicPr>
          <p:nvPr/>
        </p:nvPicPr>
        <p:blipFill>
          <a:blip r:embed="rId2"/>
          <a:stretch>
            <a:fillRect/>
          </a:stretch>
        </p:blipFill>
        <p:spPr>
          <a:xfrm>
            <a:off x="0" y="247348"/>
            <a:ext cx="12192000" cy="6363304"/>
          </a:xfrm>
          <a:prstGeom prst="rect">
            <a:avLst/>
          </a:prstGeom>
        </p:spPr>
      </p:pic>
    </p:spTree>
    <p:extLst>
      <p:ext uri="{BB962C8B-B14F-4D97-AF65-F5344CB8AC3E}">
        <p14:creationId xmlns:p14="http://schemas.microsoft.com/office/powerpoint/2010/main" val="27688925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590" y="138017"/>
            <a:ext cx="12188475" cy="6719090"/>
          </a:xfrm>
          <a:prstGeom prst="rect">
            <a:avLst/>
          </a:prstGeom>
        </p:spPr>
      </p:pic>
    </p:spTree>
    <p:extLst>
      <p:ext uri="{BB962C8B-B14F-4D97-AF65-F5344CB8AC3E}">
        <p14:creationId xmlns:p14="http://schemas.microsoft.com/office/powerpoint/2010/main" val="2380541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latin typeface="Kunstler Script" panose="030304020206070D0D06" pitchFamily="66" charset="0"/>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1065</TotalTime>
  <Words>3261</Words>
  <Application>Microsoft Macintosh PowerPoint</Application>
  <DocSecurity>0</DocSecurity>
  <PresentationFormat>Widescreen</PresentationFormat>
  <Paragraphs>353</Paragraphs>
  <Slides>50</Slides>
  <Notes>48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50</vt:i4>
      </vt:variant>
    </vt:vector>
  </HeadingPairs>
  <TitlesOfParts>
    <vt:vector size="58" baseType="lpstr">
      <vt:lpstr>anthropic-sans</vt:lpstr>
      <vt:lpstr>Aptos</vt:lpstr>
      <vt:lpstr>Arial</vt:lpstr>
      <vt:lpstr>Calibri</vt:lpstr>
      <vt:lpstr>Courier New</vt:lpstr>
      <vt:lpstr>Helvetica Neue</vt:lpstr>
      <vt:lpstr>Kunstler Script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Devlin Duldulao</cp:lastModifiedBy>
  <cp:revision>191</cp:revision>
  <dcterms:modified xsi:type="dcterms:W3CDTF">2026-09-27T12:11:07Z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2026-09-27T12:10:48Z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c5827ddc-7e60-44ec-87d5-4dd3ff7acc60</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ChatGPT:3</vt:lpwstr>
  </property>
  <property fmtid="{D5CDD505-2E9C-101B-9397-08002B2CF9AE}" pid="12" name="ClassificationContentMarkingFooterText">
    <vt:lpwstr>Internal Only</vt:lpwstr>
  </property>
</Properties>
</file>
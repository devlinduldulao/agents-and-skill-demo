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 r:id="rId2"/>
    <p:sldId id="328" r:id="rId3"/>
    <p:sldId id="329" r:id="rId4"/>
    <p:sldId id="291" r:id="rId5"/>
    <p:sldId id="292" r:id="rId6"/>
    <p:sldId id="290" r:id="rId7"/>
    <p:sldId id="270" r:id="rId8"/>
    <p:sldId id="293" r:id="rId9"/>
    <p:sldId id="294" r:id="rId10"/>
    <p:sldId id="295" r:id="rId11"/>
    <p:sldId id="296" r:id="rId12"/>
    <p:sldId id="297" r:id="rId13"/>
    <p:sldId id="286" r:id="rId14"/>
    <p:sldId id="298" r:id="rId15"/>
    <p:sldId id="299" r:id="rId16"/>
    <p:sldId id="300" r:id="rId17"/>
    <p:sldId id="301" r:id="rId18"/>
    <p:sldId id="316" r:id="rId19"/>
    <p:sldId id="289" r:id="rId20"/>
    <p:sldId id="302" r:id="rId21"/>
    <p:sldId id="317" r:id="rId22"/>
    <p:sldId id="303" r:id="rId23"/>
    <p:sldId id="304" r:id="rId24"/>
    <p:sldId id="305" r:id="rId25"/>
    <p:sldId id="318" r:id="rId26"/>
    <p:sldId id="306" r:id="rId27"/>
    <p:sldId id="311" r:id="rId28"/>
    <p:sldId id="307" r:id="rId29"/>
    <p:sldId id="308" r:id="rId30"/>
    <p:sldId id="314" r:id="rId31"/>
    <p:sldId id="322" r:id="rId32"/>
    <p:sldId id="319" r:id="rId33"/>
    <p:sldId id="320" r:id="rId34"/>
    <p:sldId id="321" r:id="rId35"/>
    <p:sldId id="309" r:id="rId36"/>
    <p:sldId id="323" r:id="rId37"/>
    <p:sldId id="310" r:id="rId38"/>
    <p:sldId id="312" r:id="rId39"/>
    <p:sldId id="324" r:id="rId40"/>
    <p:sldId id="315" r:id="rId41"/>
    <p:sldId id="326" r:id="rId42"/>
    <p:sldId id="327" r:id="rId43"/>
    <p:sldId id="334" r:id="rId44"/>
    <p:sldId id="332" r:id="rId45"/>
    <p:sldId id="333" r:id="rId46"/>
    <p:sldId id="335" r:id="rId47"/>
    <p:sldId id="336" r:id="rId48"/>
    <p:sldId id="331" r:id="rId49"/>
    <p:sldId id="313" r:id="rId5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73" autoAdjust="0"/>
    <p:restoredTop sz="80000" autoAdjust="0"/>
  </p:normalViewPr>
  <p:slideViewPr>
    <p:cSldViewPr snapToGrid="0">
      <p:cViewPr varScale="1">
        <p:scale>
          <a:sx n="100" d="100"/>
          <a:sy n="100" d="100"/>
        </p:scale>
        <p:origin x="13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daloyjs.dev/docs/odm/ottoman.md"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What is an agent? Everything is new so it can still be a bit confusing. One developer is thinking about a chatbot, and another developer is thinking about a script with a while-loop in it, and another developer is thinking about fine-tuning. </a:t>
            </a:r>
          </a:p>
          <a:p>
            <a:endParaRPr lang="en-GB" sz="1600" dirty="0"/>
          </a:p>
          <a:p>
            <a:r>
              <a:rPr lang="en-GB" sz="1600" dirty="0"/>
              <a:t>So today we are going to talk about 5 official terms in ai. AGENTS.md. Agent skills. MCP. A2A. And subagents.</a:t>
            </a:r>
          </a:p>
          <a:p>
            <a:endParaRPr lang="en-GB" sz="1600" dirty="0"/>
          </a:p>
          <a:p>
            <a:r>
              <a:rPr lang="en-GB" sz="1600" dirty="0"/>
              <a:t>But I am not going to start there. So, we are going to spend the first five minutes on how we got here.</a:t>
            </a:r>
          </a:p>
          <a:p>
            <a:endParaRPr lang="en-GB" sz="1600" dirty="0"/>
          </a:p>
          <a:p>
            <a:r>
              <a:rPr lang="en-GB" sz="1600" dirty="0"/>
              <a:t>Let's go back to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3" y="1524000"/>
            <a:ext cx="7312026"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2968103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3" y="1524000"/>
            <a:ext cx="7312026"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3842075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In 2023, a well-known legal tech start-up, Harvey, decided that a general-purpose model was not good enough for legal work.</a:t>
            </a:r>
          </a:p>
          <a:p>
            <a:endParaRPr lang="en-GB" sz="1200" dirty="0"/>
          </a:p>
          <a:p>
            <a:r>
              <a:rPr lang="en-GB" sz="1200" dirty="0"/>
              <a:t>So, they partnered with OpenAI, and they built their own. They fine-tuned a custom model on legal data.</a:t>
            </a:r>
          </a:p>
          <a:p>
            <a:endParaRPr lang="en-GB" sz="1200" dirty="0"/>
          </a:p>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04357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Then they ran blind tests. Real attorneys or lawyers. Given output from the custom model, and output from “GPT-4”, which at the time was the best model on earth..</a:t>
            </a:r>
          </a:p>
          <a:p>
            <a:endParaRPr lang="en-GB" sz="1200" dirty="0"/>
          </a:p>
          <a:p>
            <a:r>
              <a:rPr lang="en-GB" sz="1200" dirty="0"/>
              <a:t>Guess what. The attorneys preferred the custom model. Ninety-seven percent of the time.</a:t>
            </a:r>
          </a:p>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8261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C587F-6B2E-D276-F6C0-F58FFEFE7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B7E30-8208-3A76-44C0-83F8F2BAE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5FFE5-1EF9-2754-70D4-F54E69201E79}"/>
              </a:ext>
            </a:extLst>
          </p:cNvPr>
          <p:cNvSpPr>
            <a:spLocks noGrp="1"/>
          </p:cNvSpPr>
          <p:nvPr>
            <p:ph type="body" idx="1"/>
          </p:nvPr>
        </p:nvSpPr>
        <p:spPr/>
        <p:txBody>
          <a:bodyPr>
            <a:normAutofit fontScale="25000" lnSpcReduction="20000"/>
          </a:bodyPr>
          <a:lstStyle/>
          <a:p>
            <a:r>
              <a:rPr lang="en-GB" sz="1600" dirty="0"/>
              <a:t>Ninety-seven means almost all.</a:t>
            </a:r>
          </a:p>
          <a:p>
            <a:endParaRPr lang="en-GB" sz="1600" dirty="0"/>
          </a:p>
          <a:p>
            <a:r>
              <a:rPr lang="en-GB" sz="1600" dirty="0"/>
              <a:t>And the lesson looked completely obvious. If the general model is not quite right for your domain, train your own. That was correct advice in 2023. </a:t>
            </a:r>
          </a:p>
          <a:p>
            <a:endParaRPr lang="en-GB" sz="1600" dirty="0"/>
          </a:p>
          <a:p>
            <a:r>
              <a:rPr lang="en-GB" sz="1600" dirty="0"/>
              <a:t>The thing is, models are getting better every 3 months.</a:t>
            </a:r>
          </a:p>
        </p:txBody>
      </p:sp>
      <p:sp>
        <p:nvSpPr>
          <p:cNvPr id="4" name="Slide Number Placeholder 3">
            <a:extLst>
              <a:ext uri="{FF2B5EF4-FFF2-40B4-BE49-F238E27FC236}">
                <a16:creationId xmlns:a16="http://schemas.microsoft.com/office/drawing/2014/main" id="{9A24B745-59B2-6264-85F4-7535695F430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03048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Two years later, the same company did something genuinely admirable. They built and published their own legal benchmark. A real measurement of how well a model does actual legal work.</a:t>
            </a:r>
          </a:p>
          <a:p>
            <a:endParaRPr lang="en-GB" sz="1600" dirty="0"/>
          </a:p>
          <a:p>
            <a:r>
              <a:rPr lang="en-GB" sz="1600" dirty="0"/>
              <a:t>And then they ran their own custom model against the current frontier models.</a:t>
            </a:r>
          </a:p>
          <a:p>
            <a:endParaRPr lang="en-GB" sz="1600" dirty="0"/>
          </a:p>
          <a:p>
            <a:r>
              <a:rPr lang="en-GB" sz="1600" dirty="0"/>
              <a:t>Seven of the general-purpose models beat it.</a:t>
            </a:r>
          </a:p>
          <a:p>
            <a:endParaRPr lang="en-GB" sz="1600" dirty="0"/>
          </a:p>
          <a:p>
            <a:r>
              <a:rPr lang="en-GB" sz="1600" dirty="0"/>
              <a:t>Those were not trained or fine-tuned. The models are really good even without domain data, cases, or contracts injected in the context.</a:t>
            </a:r>
          </a:p>
          <a:p>
            <a:endParaRPr lang="en-GB" sz="16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The same thing happened to Bloomberg. They trained </a:t>
            </a:r>
            <a:r>
              <a:rPr lang="en-GB" sz="1200" dirty="0" err="1"/>
              <a:t>BloombergGPT</a:t>
            </a:r>
            <a:r>
              <a:rPr lang="en-GB" sz="1200" dirty="0"/>
              <a:t> from scratch on financial data. Serious, expensive, well-executed engineering. And later evaluations found GPT-4 beating it on many financial benchmarks.</a:t>
            </a:r>
          </a:p>
          <a:p>
            <a:endParaRPr lang="en-GB" sz="1200" dirty="0"/>
          </a:p>
          <a:p>
            <a:r>
              <a:rPr lang="en-GB" sz="1200" dirty="0"/>
              <a:t>Now, neither of those teams made a bad decision. I want to be clear about that. In 2023 they were right.</a:t>
            </a:r>
          </a:p>
          <a:p>
            <a:endParaRPr lang="en-GB" sz="1200" dirty="0"/>
          </a:p>
          <a:p>
            <a:r>
              <a:rPr lang="en-GB" sz="1200" dirty="0"/>
              <a:t>So, the question is: why?</a:t>
            </a:r>
          </a:p>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22796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D885-FFEA-B4A6-E396-00ECAD2EA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DF7FE-FA7D-696E-BEAD-457A2512B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8C3C2-4D50-04DC-3AA8-5FC9088B2E60}"/>
              </a:ext>
            </a:extLst>
          </p:cNvPr>
          <p:cNvSpPr>
            <a:spLocks noGrp="1"/>
          </p:cNvSpPr>
          <p:nvPr>
            <p:ph type="body" idx="1"/>
          </p:nvPr>
        </p:nvSpPr>
        <p:spPr/>
        <p:txBody>
          <a:bodyP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Three things happened at the same time. </a:t>
            </a:r>
          </a:p>
          <a:p>
            <a:r>
              <a:rPr lang="en-GB" sz="1600" dirty="0"/>
              <a:t>Context windows exploded. GPT-3 held two thousand tokens. Today a frontier model reads a million. Think about what that changes. If the model can read five hundred pages of contracts directly in the prompt, why would you ever bake those documents into the weights? </a:t>
            </a:r>
            <a:br>
              <a:rPr lang="en-GB" sz="1600" dirty="0"/>
            </a:br>
            <a:br>
              <a:rPr lang="en-GB" sz="1600" dirty="0"/>
            </a:br>
            <a:r>
              <a:rPr lang="en-US" sz="1600" dirty="0"/>
              <a:t>A weight is a learned numerical value in an LLM that determines how strongly one piece of information influences the model's output. Without weights being adjusted, the model wouldn't actually learn from the training data.</a:t>
            </a:r>
            <a:endParaRPr lang="en-GB" sz="1600" dirty="0"/>
          </a:p>
        </p:txBody>
      </p:sp>
      <p:sp>
        <p:nvSpPr>
          <p:cNvPr id="4" name="Slide Number Placeholder 3">
            <a:extLst>
              <a:ext uri="{FF2B5EF4-FFF2-40B4-BE49-F238E27FC236}">
                <a16:creationId xmlns:a16="http://schemas.microsoft.com/office/drawing/2014/main" id="{2A839E74-C107-F111-09B0-CA5D80BBAB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2997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36D63-EB96-9B3C-68CA-9A53DC8F4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DC911-4619-BB9B-A573-E7DFF54F8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D5C7D-7EE6-6A08-6886-149923A981E6}"/>
              </a:ext>
            </a:extLst>
          </p:cNvPr>
          <p:cNvSpPr>
            <a:spLocks noGrp="1"/>
          </p:cNvSpPr>
          <p:nvPr>
            <p:ph type="body" idx="1"/>
          </p:nvPr>
        </p:nvSpPr>
        <p:spPr/>
        <p:txBody>
          <a:bodyPr>
            <a:normAutofit fontScale="25000" lnSpcReduction="20000"/>
          </a:bodyPr>
          <a:lstStyle/>
          <a:p>
            <a:r>
              <a:rPr lang="en-GB" sz="1600" dirty="0"/>
              <a:t>Second, reasoning moved to inference time. The model now thinks when you ask the question. Reasoning models will just work on your question step-by-step before answering. It does it’s own loop inside.</a:t>
            </a:r>
          </a:p>
        </p:txBody>
      </p:sp>
      <p:sp>
        <p:nvSpPr>
          <p:cNvPr id="4" name="Slide Number Placeholder 3">
            <a:extLst>
              <a:ext uri="{FF2B5EF4-FFF2-40B4-BE49-F238E27FC236}">
                <a16:creationId xmlns:a16="http://schemas.microsoft.com/office/drawing/2014/main" id="{A1CB8878-7B1B-DD9C-D984-B6C50D27E7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6246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6726-45A8-E322-74CB-15F84EB1F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70C8F-7022-4299-93F3-12CE6515F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72F03-BDEB-EB27-B61C-53475B19937F}"/>
              </a:ext>
            </a:extLst>
          </p:cNvPr>
          <p:cNvSpPr>
            <a:spLocks noGrp="1"/>
          </p:cNvSpPr>
          <p:nvPr>
            <p:ph type="body" idx="1"/>
          </p:nvPr>
        </p:nvSpPr>
        <p:spPr/>
        <p:txBody>
          <a:bodyPr>
            <a:normAutofit fontScale="25000" lnSpcReduction="20000"/>
          </a:bodyPr>
          <a:lstStyle/>
          <a:p>
            <a:r>
              <a:rPr lang="en-GB" sz="1600" dirty="0"/>
              <a:t>And third, cost fell. And it keeps falling.</a:t>
            </a:r>
          </a:p>
          <a:p>
            <a:endParaRPr lang="en-GB" sz="1600" dirty="0"/>
          </a:p>
          <a:p>
            <a:r>
              <a:rPr lang="en-GB" sz="1600" dirty="0"/>
              <a:t>The baseline you are trying to beat gets better every few months while the model you fine-tuned is stuck in that knowledge you used to customize it..</a:t>
            </a:r>
          </a:p>
          <a:p>
            <a:endParaRPr lang="en-GB" sz="1600" dirty="0"/>
          </a:p>
        </p:txBody>
      </p:sp>
      <p:sp>
        <p:nvSpPr>
          <p:cNvPr id="4" name="Slide Number Placeholder 3">
            <a:extLst>
              <a:ext uri="{FF2B5EF4-FFF2-40B4-BE49-F238E27FC236}">
                <a16:creationId xmlns:a16="http://schemas.microsoft.com/office/drawing/2014/main" id="{89C6F67F-888F-4220-0C45-FDC2FE83EEE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75834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8983-CA8C-73EC-41B0-8751679AE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A7FB9-A929-8776-5455-E0BD31C51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6FB98-F1AC-49A5-09F9-847F458C3FB3}"/>
              </a:ext>
            </a:extLst>
          </p:cNvPr>
          <p:cNvSpPr>
            <a:spLocks noGrp="1"/>
          </p:cNvSpPr>
          <p:nvPr>
            <p:ph type="body" idx="1"/>
          </p:nvPr>
        </p:nvSpPr>
        <p:spPr/>
        <p:txBody>
          <a:bodyPr>
            <a:normAutofit fontScale="25000" lnSpcReduction="20000"/>
          </a:bodyPr>
          <a:lstStyle/>
          <a:p>
            <a:r>
              <a:rPr lang="en-GB" sz="1600" dirty="0"/>
              <a:t>A quick analogy here: </a:t>
            </a:r>
            <a:br>
              <a:rPr lang="en-GB" sz="1600" dirty="0"/>
            </a:br>
            <a:br>
              <a:rPr lang="en-GB" sz="1600" dirty="0"/>
            </a:br>
            <a:r>
              <a:rPr lang="en-GB" sz="1600" dirty="0"/>
              <a:t>A fine-tune model is a snapshot. A frontier model is a video.</a:t>
            </a:r>
          </a:p>
        </p:txBody>
      </p:sp>
      <p:sp>
        <p:nvSpPr>
          <p:cNvPr id="4" name="Slide Number Placeholder 3">
            <a:extLst>
              <a:ext uri="{FF2B5EF4-FFF2-40B4-BE49-F238E27FC236}">
                <a16:creationId xmlns:a16="http://schemas.microsoft.com/office/drawing/2014/main" id="{700A726A-46F7-D88F-4770-DEBA5F8368C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3522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So, if you are not adjusting weights anymore, how do you make a general model behave like a specialist of a domain you are working on? Like the best lawyer or doctor?</a:t>
            </a:r>
          </a:p>
          <a:p>
            <a:endParaRPr lang="en-GB" sz="1600" dirty="0"/>
          </a:p>
          <a:p>
            <a:r>
              <a:rPr lang="en-GB" sz="1600" dirty="0"/>
              <a:t>It turns out there is a whole stack for that.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E468-D376-CBF8-EA99-46551401E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002CA-BF8E-3F99-E447-907959079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81A2D-4654-ED9C-735F-EFAF2A58F92E}"/>
              </a:ext>
            </a:extLst>
          </p:cNvPr>
          <p:cNvSpPr>
            <a:spLocks noGrp="1"/>
          </p:cNvSpPr>
          <p:nvPr>
            <p:ph type="body" idx="1"/>
          </p:nvPr>
        </p:nvSpPr>
        <p:spPr/>
        <p:txBody>
          <a:bodyPr>
            <a:normAutofit fontScale="25000" lnSpcReduction="20000"/>
          </a:bodyPr>
          <a:lstStyle/>
          <a:p>
            <a:r>
              <a:rPr lang="en-GB" sz="1600" dirty="0"/>
              <a:t>If what is missing is facts, you retrieve them. You go and fetch the right documents at the moment of the question and put them in the prompt. That is RAG short for Retrieval-Augmented Generation. It is fresh, you can cite the source, and it still respects who is allowed to see what. </a:t>
            </a:r>
          </a:p>
        </p:txBody>
      </p:sp>
      <p:sp>
        <p:nvSpPr>
          <p:cNvPr id="4" name="Slide Number Placeholder 3">
            <a:extLst>
              <a:ext uri="{FF2B5EF4-FFF2-40B4-BE49-F238E27FC236}">
                <a16:creationId xmlns:a16="http://schemas.microsoft.com/office/drawing/2014/main" id="{3D61C87F-4B09-D8D9-D427-9BC0482EFC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89734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6069F-BA6F-4FCF-425F-8E7BEEE20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030E3-334C-A077-DB3D-01B8780BA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96052-9778-6350-6A7A-5AF238652106}"/>
              </a:ext>
            </a:extLst>
          </p:cNvPr>
          <p:cNvSpPr>
            <a:spLocks noGrp="1"/>
          </p:cNvSpPr>
          <p:nvPr>
            <p:ph type="body" idx="1"/>
          </p:nvPr>
        </p:nvSpPr>
        <p:spPr/>
        <p:txBody>
          <a:bodyPr>
            <a:normAutofit fontScale="25000" lnSpcReduction="20000"/>
          </a:bodyPr>
          <a:lstStyle/>
          <a:p>
            <a:r>
              <a:rPr lang="en-GB" sz="1600" dirty="0"/>
              <a:t>If what is missing is framing, that is context engineering. Deciding, in code, exactly what the model sees when it is called. </a:t>
            </a:r>
          </a:p>
        </p:txBody>
      </p:sp>
      <p:sp>
        <p:nvSpPr>
          <p:cNvPr id="4" name="Slide Number Placeholder 3">
            <a:extLst>
              <a:ext uri="{FF2B5EF4-FFF2-40B4-BE49-F238E27FC236}">
                <a16:creationId xmlns:a16="http://schemas.microsoft.com/office/drawing/2014/main" id="{33C474CE-6BDD-89E7-CBB2-6DFEB53E8F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8034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A68C-E03D-5F67-42FF-770FBDD20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45166-DB66-3D31-F937-E6127363E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79C90-7B2D-D172-0A86-06DEF7950BF1}"/>
              </a:ext>
            </a:extLst>
          </p:cNvPr>
          <p:cNvSpPr>
            <a:spLocks noGrp="1"/>
          </p:cNvSpPr>
          <p:nvPr>
            <p:ph type="body" idx="1"/>
          </p:nvPr>
        </p:nvSpPr>
        <p:spPr/>
        <p:txBody>
          <a:bodyPr>
            <a:normAutofit fontScale="25000" lnSpcReduction="20000"/>
          </a:bodyPr>
          <a:lstStyle/>
          <a:p>
            <a:r>
              <a:rPr lang="en-GB" sz="1600" dirty="0"/>
              <a:t>Skill.md file if what is missing is know-how, how we do this here, the actual procedure.</a:t>
            </a:r>
          </a:p>
        </p:txBody>
      </p:sp>
      <p:sp>
        <p:nvSpPr>
          <p:cNvPr id="4" name="Slide Number Placeholder 3">
            <a:extLst>
              <a:ext uri="{FF2B5EF4-FFF2-40B4-BE49-F238E27FC236}">
                <a16:creationId xmlns:a16="http://schemas.microsoft.com/office/drawing/2014/main" id="{DD733901-E453-1CC5-88B2-BEE265F7BC0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72457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1FC37-A746-D790-64C7-5DD6001B3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FF70E-BE2C-8C94-36ED-F4DA8F80C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19930-8088-7588-2C1E-2A93E2BBE246}"/>
              </a:ext>
            </a:extLst>
          </p:cNvPr>
          <p:cNvSpPr>
            <a:spLocks noGrp="1"/>
          </p:cNvSpPr>
          <p:nvPr>
            <p:ph type="body" idx="1"/>
          </p:nvPr>
        </p:nvSpPr>
        <p:spPr/>
        <p:txBody>
          <a:bodyPr>
            <a:normAutofit fontScale="25000" lnSpcReduction="20000"/>
          </a:bodyPr>
          <a:lstStyle/>
          <a:p>
            <a:r>
              <a:rPr lang="en-GB" sz="1600" dirty="0"/>
              <a:t>They don’t need training.</a:t>
            </a:r>
          </a:p>
        </p:txBody>
      </p:sp>
      <p:sp>
        <p:nvSpPr>
          <p:cNvPr id="4" name="Slide Number Placeholder 3">
            <a:extLst>
              <a:ext uri="{FF2B5EF4-FFF2-40B4-BE49-F238E27FC236}">
                <a16:creationId xmlns:a16="http://schemas.microsoft.com/office/drawing/2014/main" id="{19DC323A-20D9-7FB1-E497-9C01D304FF8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24216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have an annoying personality. I love telling movie or sports spoilers to my friends and families. </a:t>
            </a:r>
          </a:p>
          <a:p>
            <a:endParaRPr lang="en-GB" dirty="0"/>
          </a:p>
          <a:p>
            <a:r>
              <a:rPr lang="en-GB" dirty="0"/>
              <a:t>Here are the spoilers, so you  don’t have to spend a lot of time figuring out where do they live or what are them.</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39420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more like a TL;DR. </a:t>
            </a:r>
          </a:p>
          <a:p>
            <a:endParaRPr lang="en-GB" dirty="0"/>
          </a:p>
          <a:p>
            <a:r>
              <a:rPr lang="en-GB" dirty="0"/>
              <a:t>MCP and A2A are external workflows. Let’s imagine each one of us has a software company….</a:t>
            </a:r>
          </a:p>
          <a:p>
            <a:endParaRPr lang="en-GB" dirty="0"/>
          </a:p>
          <a:p>
            <a:r>
              <a:rPr lang="en-GB" dirty="0"/>
              <a:t>I will show 2 slides after this for the AGENTS.md and SKILL.md then I will go to my VS Code to show you a real-world sample.</a:t>
            </a:r>
          </a:p>
          <a:p>
            <a:endParaRPr lang="en-GB" dirty="0"/>
          </a:p>
          <a:p>
            <a:r>
              <a:rPr lang="en-GB" dirty="0"/>
              <a:t>Subagents is just for your own solution. It is an internal workflow. You own it, you control it.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98946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1</a:t>
            </a:r>
            <a:r>
              <a:rPr lang="en-GB" sz="1600" baseline="30000" dirty="0"/>
              <a:t>st</a:t>
            </a:r>
            <a:r>
              <a:rPr lang="en-GB" sz="1600" dirty="0"/>
              <a:t> term: AGENTS dot md.</a:t>
            </a:r>
          </a:p>
          <a:p>
            <a:endParaRPr lang="en-GB" sz="1600" dirty="0"/>
          </a:p>
          <a:p>
            <a:r>
              <a:rPr lang="en-GB" sz="1600" dirty="0"/>
              <a:t>It is just a markdown file. You don’t need to install anything. You create a file called AGENTS.md into your repository.</a:t>
            </a:r>
          </a:p>
          <a:p>
            <a:endParaRPr lang="en-GB" sz="1600" dirty="0"/>
          </a:p>
          <a:p>
            <a:r>
              <a:rPr lang="en-GB" sz="1600" dirty="0"/>
              <a:t>What’s you write there? The things you would tell a new developer on their first day. This is how you build the project. These are the commands that run the tests. We use this naming convention. Do not touch the generated folder. Pull requests look like this. Etc. </a:t>
            </a:r>
          </a:p>
          <a:p>
            <a:endParaRPr lang="en-GB" sz="1600" dirty="0"/>
          </a:p>
          <a:p>
            <a:r>
              <a:rPr lang="en-GB" sz="1600" dirty="0"/>
              <a:t>This will always be loaded in your ai context. </a:t>
            </a:r>
          </a:p>
          <a:p>
            <a:endParaRPr lang="en-GB" sz="1600" dirty="0"/>
          </a:p>
          <a:p>
            <a:r>
              <a:rPr lang="en-GB" sz="1600" dirty="0"/>
              <a:t>You can still add more AGENTS.md files if you have other applications in your repository.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7EB3E-F339-1332-9EA9-706F0AE38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EC06E-3F45-E3A1-0A8F-877DA0AE7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C31E1-A097-93AF-4D82-36826DF810DE}"/>
              </a:ext>
            </a:extLst>
          </p:cNvPr>
          <p:cNvSpPr>
            <a:spLocks noGrp="1"/>
          </p:cNvSpPr>
          <p:nvPr>
            <p:ph type="body" idx="1"/>
          </p:nvPr>
        </p:nvSpPr>
        <p:spPr/>
        <p:txBody>
          <a:bodyPr>
            <a:normAutofit fontScale="25000" lnSpcReduction="20000"/>
          </a:bodyPr>
          <a:lstStyle/>
          <a:p>
            <a:endParaRPr lang="en-GB" sz="1600" dirty="0"/>
          </a:p>
        </p:txBody>
      </p:sp>
      <p:sp>
        <p:nvSpPr>
          <p:cNvPr id="4" name="Slide Number Placeholder 3">
            <a:extLst>
              <a:ext uri="{FF2B5EF4-FFF2-40B4-BE49-F238E27FC236}">
                <a16:creationId xmlns:a16="http://schemas.microsoft.com/office/drawing/2014/main" id="{6E6B95E5-AE2B-E0FD-7018-7171B7CCE6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5362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2</a:t>
            </a:r>
            <a:r>
              <a:rPr lang="en-GB" sz="1600" baseline="30000" dirty="0"/>
              <a:t>nd</a:t>
            </a:r>
            <a:r>
              <a:rPr lang="en-GB" sz="1600" dirty="0"/>
              <a:t> term: agent skills. I think this what matters most right now for engineers or developers or data scientists who deal with repositories. </a:t>
            </a:r>
          </a:p>
          <a:p>
            <a:endParaRPr lang="en-GB" sz="1600" dirty="0"/>
          </a:p>
          <a:p>
            <a:r>
              <a:rPr lang="en-GB" sz="1600" dirty="0"/>
              <a:t>A skill is a folder. Inside that folder is a file called SKILL dot md file, and that file has three things or parts: a name, a trigger also known as the description, and instructions.</a:t>
            </a:r>
          </a:p>
          <a:p>
            <a:endParaRPr lang="en-GB" sz="1600" dirty="0"/>
          </a:p>
          <a:p>
            <a:r>
              <a:rPr lang="en-GB" sz="1600" dirty="0"/>
              <a:t>The trigger is the important one.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Level one is the front matter. This loads to the context window right away. The name and the trigger.</a:t>
            </a:r>
          </a:p>
          <a:p>
            <a:endParaRPr lang="en-GB" sz="1600" dirty="0"/>
          </a:p>
          <a:p>
            <a:r>
              <a:rPr lang="en-GB" sz="1600" dirty="0"/>
              <a:t>Level two is the body. This gets loaded on demand or when only it is needed or get triggered. The actual instructions. </a:t>
            </a:r>
          </a:p>
          <a:p>
            <a:endParaRPr lang="en-GB" sz="1600" dirty="0"/>
          </a:p>
          <a:p>
            <a:r>
              <a:rPr lang="en-GB" sz="1600" dirty="0"/>
              <a:t>Level three is optional: linked files, scripts or commands, and a references folder for the extra detail linked from the body.</a:t>
            </a:r>
          </a:p>
          <a:p>
            <a:endParaRPr lang="en-GB" sz="1600" dirty="0"/>
          </a:p>
          <a:p>
            <a:r>
              <a:rPr lang="en-GB" sz="1600" dirty="0"/>
              <a:t>So, the AI builds itself a little internal registry in itself. Whenever you prompt, the model looks at its registry.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There is a tendency in agents that they will ignore your skills especially if they are vague. Not unless you specifically include the path of your skills and tell it to use it.</a:t>
            </a:r>
          </a:p>
          <a:p>
            <a:r>
              <a:rPr lang="en-GB" sz="1600" dirty="0"/>
              <a:t>So the best practice is include what and when and you have to oversell like verbose sentences to use the 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D3FA-3973-DCF4-25F6-57B6EA74F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93ABA-A8CE-CA40-70BF-D4BF681AB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3DA2A-C0CB-A77A-772D-97C2FE7474A1}"/>
              </a:ext>
            </a:extLst>
          </p:cNvPr>
          <p:cNvSpPr>
            <a:spLocks noGrp="1"/>
          </p:cNvSpPr>
          <p:nvPr>
            <p:ph type="body" idx="1"/>
          </p:nvPr>
        </p:nvSpPr>
        <p:spPr/>
        <p:txBody>
          <a:bodyPr>
            <a:normAutofit fontScale="25000" lnSpcReduction="20000"/>
          </a:bodyPr>
          <a:lstStyle/>
          <a:p>
            <a:endParaRPr lang="en-GB" sz="1600" dirty="0"/>
          </a:p>
        </p:txBody>
      </p:sp>
      <p:sp>
        <p:nvSpPr>
          <p:cNvPr id="4" name="Slide Number Placeholder 3">
            <a:extLst>
              <a:ext uri="{FF2B5EF4-FFF2-40B4-BE49-F238E27FC236}">
                <a16:creationId xmlns:a16="http://schemas.microsoft.com/office/drawing/2014/main" id="{8F60F5A6-A613-9101-38D9-65767499FE1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448345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A skill file can run code into your machine and can go to your file system and environment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B1B6-053E-1091-02A2-E30E10ADC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CCF44-D2A3-1674-2BBC-51E646DC3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CB9BD-8E41-5EB6-85E3-3352BEBB45EB}"/>
              </a:ext>
            </a:extLst>
          </p:cNvPr>
          <p:cNvSpPr>
            <a:spLocks noGrp="1"/>
          </p:cNvSpPr>
          <p:nvPr>
            <p:ph type="body" idx="1"/>
          </p:nvPr>
        </p:nvSpPr>
        <p:spPr/>
        <p:txBody>
          <a:bodyPr>
            <a:normAutofit fontScale="25000" lnSpcReduction="20000"/>
          </a:bodyPr>
          <a:lstStyle/>
          <a:p>
            <a:r>
              <a:rPr lang="en-GB" sz="1600" dirty="0"/>
              <a:t>Almost four thousand public skills and 35% of it had a security flaw thru prompt injection. So it make sense to know or read a third-party skills or skills written by someone and sharing it to the internet and framing it as a skill for writing python codes with best practice in mind.</a:t>
            </a:r>
          </a:p>
        </p:txBody>
      </p:sp>
      <p:sp>
        <p:nvSpPr>
          <p:cNvPr id="4" name="Slide Number Placeholder 3">
            <a:extLst>
              <a:ext uri="{FF2B5EF4-FFF2-40B4-BE49-F238E27FC236}">
                <a16:creationId xmlns:a16="http://schemas.microsoft.com/office/drawing/2014/main" id="{4833C999-A9BC-ABD5-64E0-2850FBED6B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755975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Update AGENTS, delete some of your skills.</a:t>
            </a:r>
          </a:p>
          <a:p>
            <a:endParaRPr lang="en-GB" sz="1600" dirty="0"/>
          </a:p>
          <a:p>
            <a:r>
              <a:rPr lang="en-GB" sz="1600" dirty="0"/>
              <a:t>The models today might already have reflex or knowledge of the instructions you wrote 6 months ago. Models today might already know them. </a:t>
            </a:r>
          </a:p>
          <a:p>
            <a:endParaRPr lang="en-GB" sz="1600" dirty="0"/>
          </a:p>
          <a:p>
            <a:r>
              <a:rPr lang="en-US" sz="1600" dirty="0">
                <a:hlinkClick r:id="rId3"/>
              </a:rPr>
              <a:t>daloyjs.dev/docs/odm/ottoman.md</a:t>
            </a:r>
            <a:endParaRPr lang="en-GB" sz="1600"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407445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3</a:t>
            </a:r>
            <a:r>
              <a:rPr lang="en-GB" sz="1600" baseline="30000" dirty="0"/>
              <a:t>rd</a:t>
            </a:r>
            <a:r>
              <a:rPr lang="en-GB" sz="1600" dirty="0"/>
              <a:t> terminology: MCP. Model Context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In web development, developers use Swagger or </a:t>
            </a:r>
            <a:r>
              <a:rPr lang="en-GB" sz="1200" dirty="0" err="1"/>
              <a:t>OpenApi</a:t>
            </a:r>
            <a:r>
              <a:rPr lang="en-GB" sz="1200" dirty="0"/>
              <a:t> spec. It’s a list of operations you can do in the backend server.</a:t>
            </a:r>
          </a:p>
          <a:p>
            <a:endParaRPr lang="en-GB" sz="1200" dirty="0"/>
          </a:p>
          <a:p>
            <a:r>
              <a:rPr lang="en-GB" sz="1200" dirty="0"/>
              <a:t>This is the same in the MCP. You create a list of operations of what an AI agent can request from the backend server.</a:t>
            </a:r>
          </a:p>
          <a:p>
            <a:endParaRPr lang="en-GB" sz="1200"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02149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44739-7A05-D795-0BFF-0ED776F27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370C6-0D63-6D41-525B-6073DC10C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878CF-3D6B-7676-9980-A89FF2C5E9A5}"/>
              </a:ext>
            </a:extLst>
          </p:cNvPr>
          <p:cNvSpPr>
            <a:spLocks noGrp="1"/>
          </p:cNvSpPr>
          <p:nvPr>
            <p:ph type="body" idx="1"/>
          </p:nvPr>
        </p:nvSpPr>
        <p:spPr/>
        <p:txBody>
          <a:bodyPr>
            <a:normAutofit fontScale="25000" lnSpcReduction="20000"/>
          </a:bodyPr>
          <a:lstStyle/>
          <a:p>
            <a:r>
              <a:rPr lang="en-GB" sz="1600" dirty="0"/>
              <a:t>MCP replaces all of that with one shape. Three parts.</a:t>
            </a:r>
          </a:p>
        </p:txBody>
      </p:sp>
      <p:sp>
        <p:nvSpPr>
          <p:cNvPr id="4" name="Slide Number Placeholder 3">
            <a:extLst>
              <a:ext uri="{FF2B5EF4-FFF2-40B4-BE49-F238E27FC236}">
                <a16:creationId xmlns:a16="http://schemas.microsoft.com/office/drawing/2014/main" id="{70491CEE-CDF8-1502-2A32-1120AB50CF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40841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4638-7F7B-CF4A-1CFB-3667CBE0D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9B461-E67E-8E93-08EC-C587FA22F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D7E8B-5500-7F73-5CFB-1D50FB4DE5BB}"/>
              </a:ext>
            </a:extLst>
          </p:cNvPr>
          <p:cNvSpPr>
            <a:spLocks noGrp="1"/>
          </p:cNvSpPr>
          <p:nvPr>
            <p:ph type="body" idx="1"/>
          </p:nvPr>
        </p:nvSpPr>
        <p:spPr/>
        <p:txBody>
          <a:bodyPr>
            <a:normAutofit fontScale="25000" lnSpcReduction="20000"/>
          </a:bodyPr>
          <a:lstStyle/>
          <a:p>
            <a:r>
              <a:rPr lang="en-GB" sz="1600" dirty="0"/>
              <a:t>MCP client is a module that calls the tools of MCP server. Cursor, Claude Code, VS Code, Slack, and Microsoft Teams have this MCP client built-in. These groups of software who have built-in MCP clients are called MCP hosts.</a:t>
            </a:r>
          </a:p>
        </p:txBody>
      </p:sp>
      <p:sp>
        <p:nvSpPr>
          <p:cNvPr id="4" name="Slide Number Placeholder 3">
            <a:extLst>
              <a:ext uri="{FF2B5EF4-FFF2-40B4-BE49-F238E27FC236}">
                <a16:creationId xmlns:a16="http://schemas.microsoft.com/office/drawing/2014/main" id="{7EED3537-582E-C8C5-95CB-6F866A7536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678596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08AA1-3D9C-A7EE-4ACA-23F2444C9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CB1FE-D351-84A6-07A2-60D1AA8BF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3D602-DA6A-2D03-BE3B-FF3E063CC148}"/>
              </a:ext>
            </a:extLst>
          </p:cNvPr>
          <p:cNvSpPr>
            <a:spLocks noGrp="1"/>
          </p:cNvSpPr>
          <p:nvPr>
            <p:ph type="body" idx="1"/>
          </p:nvPr>
        </p:nvSpPr>
        <p:spPr/>
        <p:txBody>
          <a:bodyPr>
            <a:normAutofit fontScale="25000" lnSpcReduction="20000"/>
          </a:bodyPr>
          <a:lstStyle/>
          <a:p>
            <a:r>
              <a:rPr lang="en-US" sz="1600" dirty="0"/>
              <a:t>Model Context Protocol (MCP) uses JSON-RPC 2.0 as its underlying message format.</a:t>
            </a:r>
            <a:endParaRPr lang="en-GB" sz="1600" dirty="0"/>
          </a:p>
        </p:txBody>
      </p:sp>
      <p:sp>
        <p:nvSpPr>
          <p:cNvPr id="4" name="Slide Number Placeholder 3">
            <a:extLst>
              <a:ext uri="{FF2B5EF4-FFF2-40B4-BE49-F238E27FC236}">
                <a16:creationId xmlns:a16="http://schemas.microsoft.com/office/drawing/2014/main" id="{EB5CE484-7F73-0B63-BC01-D3213B599E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04159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77FBF-AC04-D08A-33BA-F8D7E2B84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56F6D-A323-DDB2-BD50-81F3128F0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4202E-3FD8-4A11-4010-9B0374966F53}"/>
              </a:ext>
            </a:extLst>
          </p:cNvPr>
          <p:cNvSpPr>
            <a:spLocks noGrp="1"/>
          </p:cNvSpPr>
          <p:nvPr>
            <p:ph type="body" idx="1"/>
          </p:nvPr>
        </p:nvSpPr>
        <p:spPr/>
        <p:txBody>
          <a:bodyPr>
            <a:normAutofit fontScale="25000" lnSpcReduction="20000"/>
          </a:bodyPr>
          <a:lstStyle/>
          <a:p>
            <a:r>
              <a:rPr lang="en-GB" sz="1600" dirty="0"/>
              <a:t>A running server. This could be just an additional API endpoint in your existing service. You don’t have to create another web service just for this.</a:t>
            </a:r>
          </a:p>
        </p:txBody>
      </p:sp>
      <p:sp>
        <p:nvSpPr>
          <p:cNvPr id="4" name="Slide Number Placeholder 3">
            <a:extLst>
              <a:ext uri="{FF2B5EF4-FFF2-40B4-BE49-F238E27FC236}">
                <a16:creationId xmlns:a16="http://schemas.microsoft.com/office/drawing/2014/main" id="{4644BA26-3AE3-E1CC-FC24-AC3E1AC8424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3818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Anthropic published MCP in late 2024. It now sits under the Agentic AI Foundation, and this July they shipped the fifth spec.</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017620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32A17-EB2F-D446-1D5C-13DD9CE04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3A3E0-7044-44BF-B9C4-4D37BA829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80A1C-1C65-E358-C8CD-84D6290727F3}"/>
              </a:ext>
            </a:extLst>
          </p:cNvPr>
          <p:cNvSpPr>
            <a:spLocks noGrp="1"/>
          </p:cNvSpPr>
          <p:nvPr>
            <p:ph type="body" idx="1"/>
          </p:nvPr>
        </p:nvSpPr>
        <p:spPr/>
        <p:txBody>
          <a:bodyPr>
            <a:normAutofit fontScale="25000" lnSpcReduction="20000"/>
          </a:bodyPr>
          <a:lstStyle/>
          <a:p>
            <a:r>
              <a:rPr lang="en-GB" sz="1600" dirty="0" err="1"/>
              <a:t>mcp</a:t>
            </a:r>
            <a:r>
              <a:rPr lang="en-GB" sz="1600" dirty="0"/>
              <a:t> in vs code</a:t>
            </a:r>
          </a:p>
        </p:txBody>
      </p:sp>
      <p:sp>
        <p:nvSpPr>
          <p:cNvPr id="4" name="Slide Number Placeholder 3">
            <a:extLst>
              <a:ext uri="{FF2B5EF4-FFF2-40B4-BE49-F238E27FC236}">
                <a16:creationId xmlns:a16="http://schemas.microsoft.com/office/drawing/2014/main" id="{6D270142-FBEB-F9C6-6617-E7469E70352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068542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July twenty-eighth this year. Spec 2026-07-28. </a:t>
            </a:r>
          </a:p>
          <a:p>
            <a:r>
              <a:rPr lang="en-GB" sz="1600" dirty="0"/>
              <a:t>They dropped the required handshake.</a:t>
            </a:r>
          </a:p>
          <a:p>
            <a:r>
              <a:rPr lang="en-GB" sz="1600" dirty="0"/>
              <a:t>They dropped the session id. Every request now travels on its own.</a:t>
            </a:r>
          </a:p>
          <a:p>
            <a:r>
              <a:rPr lang="en-GB" sz="1600" dirty="0"/>
              <a:t>They also made the catalog cacheable.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4</a:t>
            </a:r>
            <a:r>
              <a:rPr lang="en-GB" sz="1600" baseline="30000" dirty="0"/>
              <a:t>th</a:t>
            </a:r>
            <a:r>
              <a:rPr lang="en-GB" sz="1600" dirty="0"/>
              <a:t> term: A2A. Agent to agent.</a:t>
            </a:r>
          </a:p>
          <a:p>
            <a:endParaRPr lang="en-GB"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A2A is how an agent reaches another agent. One that a different team, in a different language, on a different stack, built without ever talking to you.</a:t>
            </a:r>
          </a:p>
          <a:p>
            <a:endParaRPr lang="en-GB"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99.99% you are not going to use this, unless you are building a platform with integrations to Azure AI Foundry, Copilot Studio, Amazon Bedrock, </a:t>
            </a:r>
            <a:r>
              <a:rPr lang="en-US" sz="1600" dirty="0" err="1"/>
              <a:t>AgentCore</a:t>
            </a:r>
            <a:r>
              <a:rPr lang="en-US" sz="1600" dirty="0"/>
              <a:t> Runtime, Vertex AI</a:t>
            </a:r>
            <a:r>
              <a:rPr lang="en-GB" sz="1600"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It is an open protocol and has specifications so every software company can expect their agents can easily talk to another software company’s agent in a secured way without extra custom implementations.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932295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5</a:t>
            </a:r>
            <a:r>
              <a:rPr lang="en-GB" sz="1600" baseline="30000" dirty="0"/>
              <a:t>th</a:t>
            </a:r>
            <a:r>
              <a:rPr lang="en-GB" sz="1600" dirty="0"/>
              <a:t> term: subagents.</a:t>
            </a:r>
          </a:p>
          <a:p>
            <a:endParaRPr lang="en-GB" sz="1600" dirty="0"/>
          </a:p>
          <a:p>
            <a:r>
              <a:rPr lang="en-GB" sz="1600" dirty="0"/>
              <a:t>This is an architectural design pattern.  The parent orchestrate works to different little agents and </a:t>
            </a:r>
            <a:r>
              <a:rPr lang="en-US" sz="1600" dirty="0"/>
              <a:t>re-billed 40K tokens per turn</a:t>
            </a:r>
            <a:r>
              <a:rPr lang="en-GB" sz="1600" dirty="0"/>
              <a:t>. The latency between the parent and the child when they communicate with each other. You would want this if a context of a work will be too big for one agent so you are basically dividing it and if you want to do parallelism like querying from 5 different vector database at the same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GB" sz="1600" dirty="0"/>
              <a:t>So the checklist.</a:t>
            </a:r>
          </a:p>
          <a:p>
            <a:endParaRPr lang="en-GB" sz="1600" dirty="0"/>
          </a:p>
          <a:p>
            <a:r>
              <a:rPr lang="en-GB" sz="1600" dirty="0"/>
              <a:t>AGENTS.md, when the boundary is project behaviour.</a:t>
            </a:r>
          </a:p>
          <a:p>
            <a:endParaRPr lang="en-GB" sz="1600" dirty="0"/>
          </a:p>
          <a:p>
            <a:r>
              <a:rPr lang="en-GB" sz="1600" dirty="0"/>
              <a:t>Agent skills, when the boundary is task expertise.</a:t>
            </a:r>
          </a:p>
          <a:p>
            <a:endParaRPr lang="en-GB" sz="1600" dirty="0"/>
          </a:p>
          <a:p>
            <a:r>
              <a:rPr lang="en-GB" sz="1600" dirty="0"/>
              <a:t>MCP, when the boundary is tools and data.</a:t>
            </a:r>
          </a:p>
          <a:p>
            <a:endParaRPr lang="en-GB" sz="1600" dirty="0"/>
          </a:p>
          <a:p>
            <a:r>
              <a:rPr lang="en-GB" sz="1600" dirty="0"/>
              <a:t>A2A, when the boundary is other agents.</a:t>
            </a:r>
          </a:p>
          <a:p>
            <a:endParaRPr lang="en-GB" sz="1600" dirty="0"/>
          </a:p>
          <a:p>
            <a:r>
              <a:rPr lang="en-GB" sz="1600" dirty="0"/>
              <a:t>Subagents, when the boundary is scale.</a:t>
            </a:r>
          </a:p>
          <a:p>
            <a:endParaRPr lang="en-GB" sz="1600" dirty="0"/>
          </a:p>
          <a:p>
            <a:r>
              <a:rPr lang="en-GB" sz="1600" dirty="0"/>
              <a:t>Three sentences and I am done.</a:t>
            </a:r>
          </a:p>
          <a:p>
            <a:endParaRPr lang="en-GB" sz="1600" dirty="0"/>
          </a:p>
          <a:p>
            <a:r>
              <a:rPr lang="en-GB" sz="1600" dirty="0"/>
              <a:t>Name the boundary before you pick the mechanism. Almost every bad architecture decision in this space is somebody reaching for a protocol when they needed a paragraph of markdown.</a:t>
            </a:r>
          </a:p>
          <a:p>
            <a:endParaRPr lang="en-GB" sz="1600" dirty="0"/>
          </a:p>
          <a:p>
            <a:r>
              <a:rPr lang="en-GB" sz="1600" dirty="0"/>
              <a:t>Prefer files before weights. We spent the first ten minutes earning that one. You can change a file this afternoon. A training run you live with, and maintain, for months.</a:t>
            </a:r>
          </a:p>
          <a:p>
            <a:endParaRPr lang="en-GB" sz="1600" dirty="0"/>
          </a:p>
          <a:p>
            <a:r>
              <a:rPr lang="en-GB" sz="1600" dirty="0"/>
              <a:t>And every few model generations, delete whatever no longer earns its tokens.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CC1E8-16A5-2E2A-9E4F-F022B3571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0C760-B5E9-6BB4-2AF5-3BFF475DD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89536-4C22-D4B5-110B-FA4FB90EAE41}"/>
              </a:ext>
            </a:extLst>
          </p:cNvPr>
          <p:cNvSpPr>
            <a:spLocks noGrp="1"/>
          </p:cNvSpPr>
          <p:nvPr>
            <p:ph type="body" idx="1"/>
          </p:nvPr>
        </p:nvSpPr>
        <p:spPr/>
        <p:txBody>
          <a:bodyPr/>
          <a:lstStyle/>
          <a:p>
            <a:r>
              <a:rPr lang="en-GB" dirty="0"/>
              <a:t>Again, a simple key takeaways.</a:t>
            </a:r>
          </a:p>
          <a:p>
            <a:endParaRPr lang="en-GB" dirty="0"/>
          </a:p>
          <a:p>
            <a:r>
              <a:rPr lang="en-US" sz="1200" b="0" i="0" kern="1200" dirty="0">
                <a:solidFill>
                  <a:schemeClr val="tx1"/>
                </a:solidFill>
                <a:effectLst/>
                <a:latin typeface="+mn-lt"/>
                <a:ea typeface="+mn-ea"/>
                <a:cs typeface="+mn-cs"/>
              </a:rPr>
              <a:t>An </a:t>
            </a:r>
            <a:r>
              <a:rPr lang="en-US" sz="1200" b="0" i="1" kern="1200" dirty="0">
                <a:solidFill>
                  <a:schemeClr val="tx1"/>
                </a:solidFill>
                <a:effectLst/>
                <a:latin typeface="+mn-lt"/>
                <a:ea typeface="+mn-ea"/>
                <a:cs typeface="+mn-cs"/>
              </a:rPr>
              <a:t>agent harness</a:t>
            </a:r>
            <a:r>
              <a:rPr lang="en-US" sz="1200" b="0" i="0" kern="1200" dirty="0">
                <a:solidFill>
                  <a:schemeClr val="tx1"/>
                </a:solidFill>
                <a:effectLst/>
                <a:latin typeface="+mn-lt"/>
                <a:ea typeface="+mn-ea"/>
                <a:cs typeface="+mn-cs"/>
              </a:rPr>
              <a:t> is the runtime scaffolding that turns a language model into an agent that can perform work. It drives model and tool calls, manages conversation state and context, applies approval policies, and can keep the agent progressing through a multi-step task.</a:t>
            </a:r>
            <a:endParaRPr lang="en-GB" dirty="0"/>
          </a:p>
        </p:txBody>
      </p:sp>
      <p:sp>
        <p:nvSpPr>
          <p:cNvPr id="4" name="Slide Number Placeholder 3">
            <a:extLst>
              <a:ext uri="{FF2B5EF4-FFF2-40B4-BE49-F238E27FC236}">
                <a16:creationId xmlns:a16="http://schemas.microsoft.com/office/drawing/2014/main" id="{28E9BA3B-430E-94CA-EF01-7073E90A994D}"/>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74440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4C149-155A-E9C4-57AB-3FE1C10D7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D0FDA-5D3D-09B2-0650-61D7D62A1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D896A-2E19-C59B-2A05-F3E50EEFEF3C}"/>
              </a:ext>
            </a:extLst>
          </p:cNvPr>
          <p:cNvSpPr>
            <a:spLocks noGrp="1"/>
          </p:cNvSpPr>
          <p:nvPr>
            <p:ph type="body" idx="1"/>
          </p:nvPr>
        </p:nvSpPr>
        <p:spPr/>
        <p:txBody>
          <a:bodyPr>
            <a:normAutofit fontScale="25000" lnSpcReduction="20000"/>
          </a:bodyPr>
          <a:lstStyle/>
          <a:p>
            <a:endParaRPr lang="en-GB" sz="1600" dirty="0"/>
          </a:p>
        </p:txBody>
      </p:sp>
      <p:sp>
        <p:nvSpPr>
          <p:cNvPr id="4" name="Slide Number Placeholder 3">
            <a:extLst>
              <a:ext uri="{FF2B5EF4-FFF2-40B4-BE49-F238E27FC236}">
                <a16:creationId xmlns:a16="http://schemas.microsoft.com/office/drawing/2014/main" id="{28BF0507-9B40-A25F-206A-466746E0B2B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721720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91741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splits an AI agent into its two constituent parts: the model and the harness wrapped around it. </a:t>
            </a:r>
          </a:p>
          <a:p>
            <a:endParaRPr lang="en-US" dirty="0"/>
          </a:p>
          <a:p>
            <a:r>
              <a:rPr lang="en-US" dirty="0"/>
              <a:t>The model is just the neural network — capable, but unable to open a file, execute code, or reach the web by itself, which is the brain-in-a-jar framing. </a:t>
            </a:r>
          </a:p>
          <a:p>
            <a:endParaRPr lang="en-US" dirty="0"/>
          </a:p>
          <a:p>
            <a:r>
              <a:rPr lang="en-US" dirty="0"/>
              <a:t>The harness supplies three things: </a:t>
            </a:r>
          </a:p>
          <a:p>
            <a:endParaRPr lang="en-US" dirty="0"/>
          </a:p>
          <a:p>
            <a:r>
              <a:rPr lang="en-US" dirty="0"/>
              <a:t>tools (file access, code execution in a sandbox, browsing, computer use, and MCP for services that don't live on the machine), </a:t>
            </a:r>
          </a:p>
          <a:p>
            <a:endParaRPr lang="en-US" dirty="0"/>
          </a:p>
          <a:p>
            <a:r>
              <a:rPr lang="en-US" dirty="0"/>
              <a:t>memory (instruction files like AGENTS.md, context compaction as the window fills, and search so only relevant code gets pulled in), </a:t>
            </a:r>
          </a:p>
          <a:p>
            <a:endParaRPr lang="en-US" dirty="0"/>
          </a:p>
          <a:p>
            <a:r>
              <a:rPr lang="en-US" dirty="0"/>
              <a:t>and the agentic loop where the model plans, the harness acts, results come back, and the cycle repeats for seconds or hours. Verification runs throughout that loop rather than at the end — tests as it goes, screenshots, sometimes a separate model acting as reviewer — which is what lets a run go long without drifting off course. The reason this distinction matters is in the caption: benchmark gaps between the top labs have narrowed to a few points, so when one product clearly outperforms another on the same model, the harness is usually the explanation. </a:t>
            </a:r>
          </a:p>
          <a:p>
            <a:endParaRPr lang="en-US" dirty="0"/>
          </a:p>
          <a:p>
            <a:r>
              <a:rPr lang="en-US" dirty="0"/>
              <a:t>The boundary is also fluid, since long-horizon planning and self-verification are increasingly trained into the models themselves, while consistency across a long task is increasingly shaped by harness conventions and project files.</a:t>
            </a:r>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377300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FA9EC-F1C4-8475-4C34-982AA7BE6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8C641-A123-4973-51FA-0665B2813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824122-D8E6-13A2-EF59-883AC6891774}"/>
              </a:ext>
            </a:extLst>
          </p:cNvPr>
          <p:cNvSpPr>
            <a:spLocks noGrp="1"/>
          </p:cNvSpPr>
          <p:nvPr>
            <p:ph type="body" idx="1"/>
          </p:nvPr>
        </p:nvSpPr>
        <p:spPr/>
        <p:txBody>
          <a:bodyPr/>
          <a:lstStyle/>
          <a:p>
            <a:r>
              <a:rPr lang="en-US" dirty="0"/>
              <a:t>Knowledge atrophy, or cognitive atrophy, is the gradual decline of memory, critical thinking, and problem-solving skills caused by overreliance on AI tools like LLMs for mental work. </a:t>
            </a:r>
            <a:br>
              <a:rPr lang="en-US" dirty="0"/>
            </a:br>
            <a:br>
              <a:rPr lang="en-US" dirty="0"/>
            </a:br>
            <a:r>
              <a:rPr lang="en-US" dirty="0"/>
              <a:t>Keep learning the technical details of things that you are building. This will help you in the future in guiding agents to the right directions. It will save money because of lesser prompting. And lastly it will improve your skills</a:t>
            </a:r>
          </a:p>
        </p:txBody>
      </p:sp>
      <p:sp>
        <p:nvSpPr>
          <p:cNvPr id="4" name="Slide Number Placeholder 3">
            <a:extLst>
              <a:ext uri="{FF2B5EF4-FFF2-40B4-BE49-F238E27FC236}">
                <a16:creationId xmlns:a16="http://schemas.microsoft.com/office/drawing/2014/main" id="{876E6526-0A27-7059-0E06-088E9428FC92}"/>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4862307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06813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4077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73C98F-763D-129E-817F-DC764A81D199}"/>
              </a:ext>
            </a:extLst>
          </p:cNvPr>
          <p:cNvSpPr txBox="1"/>
          <p:nvPr userDrawn="1">
            <p:extLst>
              <p:ext uri="{1162E1C5-73C7-4A58-AE30-91384D911F3F}">
                <p184:classification xmlns:p184="http://schemas.microsoft.com/office/powerpoint/2018/4/main" val="ftr"/>
              </p:ext>
            </p:extLst>
          </p:nvPr>
        </p:nvSpPr>
        <p:spPr>
          <a:xfrm>
            <a:off x="63500" y="6642100"/>
            <a:ext cx="7302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2"/>
          <p:cNvSpPr txBox="1"/>
          <p:nvPr/>
        </p:nvSpPr>
        <p:spPr>
          <a:xfrm>
            <a:off x="400050" y="700000"/>
            <a:ext cx="10001250" cy="2100000"/>
          </a:xfrm>
          <a:prstGeom prst="rect">
            <a:avLst/>
          </a:prstGeom>
          <a:noFill/>
        </p:spPr>
        <p:txBody>
          <a:bodyPr wrap="square" lIns="0" tIns="0" rIns="0" bIns="0" anchor="t">
            <a:noAutofit/>
          </a:bodyPr>
          <a:lstStyle/>
          <a:p>
            <a:pPr algn="l">
              <a:lnSpc>
                <a:spcPct val="98000"/>
              </a:lnSpc>
              <a:buNone/>
              <a:defRPr sz="5400" b="1">
                <a:solidFill>
                  <a:srgbClr val="000000"/>
                </a:solidFill>
              </a:defRPr>
            </a:pPr>
            <a:r>
              <a:rPr lang="en-GB" sz="5400" b="1" dirty="0">
                <a:solidFill>
                  <a:srgbClr val="000000"/>
                </a:solidFill>
              </a:rPr>
              <a:t>AI Agent Terms You Need to Know</a:t>
            </a:r>
          </a:p>
        </p:txBody>
      </p:sp>
      <p:sp>
        <p:nvSpPr>
          <p:cNvPr id="3" name="TextBox 2">
            <a:extLst>
              <a:ext uri="{FF2B5EF4-FFF2-40B4-BE49-F238E27FC236}">
                <a16:creationId xmlns:a16="http://schemas.microsoft.com/office/drawing/2014/main" id="{FA11D1AB-469B-7553-FAE3-003BC17D1564}"/>
              </a:ext>
            </a:extLst>
          </p:cNvPr>
          <p:cNvSpPr txBox="1"/>
          <p:nvPr/>
        </p:nvSpPr>
        <p:spPr>
          <a:xfrm>
            <a:off x="548640" y="4572000"/>
            <a:ext cx="8778240" cy="974434"/>
          </a:xfrm>
          <a:prstGeom prst="rect">
            <a:avLst/>
          </a:prstGeom>
          <a:noFill/>
        </p:spPr>
        <p:txBody>
          <a:bodyPr wrap="square" lIns="0" tIns="0" rIns="0" bIns="0" anchor="t">
            <a:spAutoFit/>
          </a:bodyPr>
          <a:lstStyle/>
          <a:p>
            <a:pPr algn="l">
              <a:lnSpc>
                <a:spcPct val="140000"/>
              </a:lnSpc>
            </a:pPr>
            <a:r>
              <a:rPr lang="en-US" sz="2400" b="0" i="0" dirty="0">
                <a:solidFill>
                  <a:schemeClr val="tx1">
                    <a:lumMod val="95000"/>
                    <a:lumOff val="5000"/>
                  </a:schemeClr>
                </a:solidFill>
                <a:latin typeface="Helvetica Neue"/>
              </a:rPr>
              <a:t>@DevlinDuldulao</a:t>
            </a:r>
          </a:p>
          <a:p>
            <a:pPr algn="l">
              <a:lnSpc>
                <a:spcPct val="140000"/>
              </a:lnSpc>
            </a:pPr>
            <a:r>
              <a:rPr lang="en-US" sz="2400" dirty="0">
                <a:solidFill>
                  <a:schemeClr val="tx1">
                    <a:lumMod val="95000"/>
                    <a:lumOff val="5000"/>
                  </a:schemeClr>
                </a:solidFill>
                <a:latin typeface="Helvetica Neue"/>
              </a:rPr>
              <a:t>Senior consultant at SoftwareOne Norway</a:t>
            </a:r>
            <a:endParaRPr sz="2400" b="0" i="0" dirty="0">
              <a:solidFill>
                <a:schemeClr val="tx1">
                  <a:lumMod val="95000"/>
                  <a:lumOff val="5000"/>
                </a:schemeClr>
              </a:solidFill>
              <a:latin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B71C00-2A0F-52B9-7571-DF6FB0B264F7}"/>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29975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9A376A-3636-76E5-D24F-AF8C7DF7CA35}"/>
              </a:ext>
            </a:extLst>
          </p:cNvPr>
          <p:cNvPicPr>
            <a:picLocks noChangeAspect="1"/>
          </p:cNvPicPr>
          <p:nvPr/>
        </p:nvPicPr>
        <p:blipFill>
          <a:blip r:embed="rId3"/>
          <a:stretch>
            <a:fillRect/>
          </a:stretch>
        </p:blipFill>
        <p:spPr>
          <a:xfrm>
            <a:off x="49006" y="30186"/>
            <a:ext cx="12093988" cy="6797629"/>
          </a:xfrm>
          <a:prstGeom prst="rect">
            <a:avLst/>
          </a:prstGeom>
        </p:spPr>
      </p:pic>
      <p:pic>
        <p:nvPicPr>
          <p:cNvPr id="5" name="Picture 4">
            <a:extLst>
              <a:ext uri="{FF2B5EF4-FFF2-40B4-BE49-F238E27FC236}">
                <a16:creationId xmlns:a16="http://schemas.microsoft.com/office/drawing/2014/main" id="{538E6DFA-D017-C2D3-DD79-3073AC4B07D2}"/>
              </a:ext>
            </a:extLst>
          </p:cNvPr>
          <p:cNvPicPr>
            <a:picLocks noChangeAspect="1"/>
          </p:cNvPicPr>
          <p:nvPr/>
        </p:nvPicPr>
        <p:blipFill>
          <a:blip r:embed="rId4"/>
          <a:stretch>
            <a:fillRect/>
          </a:stretch>
        </p:blipFill>
        <p:spPr>
          <a:xfrm>
            <a:off x="7432902" y="4198348"/>
            <a:ext cx="4372594" cy="2629466"/>
          </a:xfrm>
          <a:prstGeom prst="rect">
            <a:avLst/>
          </a:prstGeom>
        </p:spPr>
      </p:pic>
    </p:spTree>
    <p:extLst>
      <p:ext uri="{BB962C8B-B14F-4D97-AF65-F5344CB8AC3E}">
        <p14:creationId xmlns:p14="http://schemas.microsoft.com/office/powerpoint/2010/main" val="1070007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E1A153-E74E-EBD0-8363-E390347C20F0}"/>
              </a:ext>
            </a:extLst>
          </p:cNvPr>
          <p:cNvPicPr>
            <a:picLocks noChangeAspect="1"/>
          </p:cNvPicPr>
          <p:nvPr/>
        </p:nvPicPr>
        <p:blipFill>
          <a:blip r:embed="rId3"/>
          <a:stretch>
            <a:fillRect/>
          </a:stretch>
        </p:blipFill>
        <p:spPr>
          <a:xfrm>
            <a:off x="1123519" y="49237"/>
            <a:ext cx="9944962" cy="6759526"/>
          </a:xfrm>
          <a:prstGeom prst="rect">
            <a:avLst/>
          </a:prstGeom>
        </p:spPr>
      </p:pic>
    </p:spTree>
    <p:extLst>
      <p:ext uri="{BB962C8B-B14F-4D97-AF65-F5344CB8AC3E}">
        <p14:creationId xmlns:p14="http://schemas.microsoft.com/office/powerpoint/2010/main" val="856620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E959E2-4E7B-8CAD-F658-0623B087FECD}"/>
              </a:ext>
            </a:extLst>
          </p:cNvPr>
          <p:cNvPicPr>
            <a:picLocks noChangeAspect="1"/>
          </p:cNvPicPr>
          <p:nvPr/>
        </p:nvPicPr>
        <p:blipFill>
          <a:blip r:embed="rId3"/>
          <a:stretch>
            <a:fillRect/>
          </a:stretch>
        </p:blipFill>
        <p:spPr>
          <a:xfrm>
            <a:off x="1442614" y="0"/>
            <a:ext cx="9306772" cy="6858000"/>
          </a:xfrm>
          <a:prstGeom prst="rect">
            <a:avLst/>
          </a:prstGeom>
        </p:spPr>
      </p:pic>
    </p:spTree>
    <p:extLst>
      <p:ext uri="{BB962C8B-B14F-4D97-AF65-F5344CB8AC3E}">
        <p14:creationId xmlns:p14="http://schemas.microsoft.com/office/powerpoint/2010/main" val="2754144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ACED-CD36-0012-D26C-16E9BA423BFA}"/>
            </a:ext>
          </a:extLst>
        </p:cNvPr>
        <p:cNvGrpSpPr/>
        <p:nvPr/>
      </p:nvGrpSpPr>
      <p:grpSpPr>
        <a:xfrm>
          <a:off x="0" y="0"/>
          <a:ext cx="0" cy="0"/>
          <a:chOff x="0" y="0"/>
          <a:chExt cx="0" cy="0"/>
        </a:xfrm>
      </p:grpSpPr>
      <p:sp>
        <p:nvSpPr>
          <p:cNvPr id="103" name="TextBox 104">
            <a:extLst>
              <a:ext uri="{FF2B5EF4-FFF2-40B4-BE49-F238E27FC236}">
                <a16:creationId xmlns:a16="http://schemas.microsoft.com/office/drawing/2014/main" id="{95748A36-7DEB-3992-69BB-283DE2F977E0}"/>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The answer was: train your own.</a:t>
            </a:r>
          </a:p>
        </p:txBody>
      </p:sp>
      <p:sp>
        <p:nvSpPr>
          <p:cNvPr id="109" name="TextBox 110">
            <a:extLst>
              <a:ext uri="{FF2B5EF4-FFF2-40B4-BE49-F238E27FC236}">
                <a16:creationId xmlns:a16="http://schemas.microsoft.com/office/drawing/2014/main" id="{042F8D90-048D-C428-5D97-30D96B462A68}"/>
              </a:ext>
            </a:extLst>
          </p:cNvPr>
          <p:cNvSpPr txBox="1"/>
          <p:nvPr/>
        </p:nvSpPr>
        <p:spPr>
          <a:xfrm>
            <a:off x="400050" y="1850000"/>
            <a:ext cx="7000000" cy="2000000"/>
          </a:xfrm>
          <a:prstGeom prst="rect">
            <a:avLst/>
          </a:prstGeom>
          <a:noFill/>
        </p:spPr>
        <p:txBody>
          <a:bodyPr wrap="square" lIns="0" tIns="0" rIns="0" bIns="0" anchor="t">
            <a:noAutofit/>
          </a:bodyPr>
          <a:lstStyle/>
          <a:p>
            <a:pPr algn="l">
              <a:lnSpc>
                <a:spcPct val="95000"/>
              </a:lnSpc>
              <a:buNone/>
              <a:defRPr sz="12000" b="1">
                <a:solidFill>
                  <a:srgbClr val="000000"/>
                </a:solidFill>
              </a:defRPr>
            </a:pPr>
            <a:r>
              <a:rPr lang="en-GB" sz="12000" b="1" dirty="0">
                <a:solidFill>
                  <a:srgbClr val="000000"/>
                </a:solidFill>
              </a:rPr>
              <a:t>97%</a:t>
            </a:r>
          </a:p>
        </p:txBody>
      </p:sp>
      <p:sp>
        <p:nvSpPr>
          <p:cNvPr id="111" name="Rectangle 112">
            <a:extLst>
              <a:ext uri="{FF2B5EF4-FFF2-40B4-BE49-F238E27FC236}">
                <a16:creationId xmlns:a16="http://schemas.microsoft.com/office/drawing/2014/main" id="{6AF16F51-BE93-798C-E98B-CCA53A6FE12B}"/>
              </a:ext>
            </a:extLst>
          </p:cNvPr>
          <p:cNvSpPr>
            <a:spLocks noGrp="1"/>
          </p:cNvSpPr>
          <p:nvPr/>
        </p:nvSpPr>
        <p:spPr>
          <a:xfrm>
            <a:off x="400050" y="4020000"/>
            <a:ext cx="3600000" cy="76200"/>
          </a:xfrm>
          <a:prstGeom prst="rect">
            <a:avLst/>
          </a:prstGeom>
          <a:solidFill>
            <a:srgbClr val="FF6B35"/>
          </a:solidFill>
          <a:ln w="0">
            <a:noFill/>
            <a:prstDash val="solid"/>
          </a:ln>
        </p:spPr>
        <p:txBody>
          <a:bodyPr/>
          <a:lstStyle/>
          <a:p>
            <a:endParaRPr lang="en-GB"/>
          </a:p>
        </p:txBody>
      </p:sp>
      <p:sp>
        <p:nvSpPr>
          <p:cNvPr id="113" name="TextBox 114">
            <a:extLst>
              <a:ext uri="{FF2B5EF4-FFF2-40B4-BE49-F238E27FC236}">
                <a16:creationId xmlns:a16="http://schemas.microsoft.com/office/drawing/2014/main" id="{0C98D331-DBD2-5A81-4F71-E504F87BA176}"/>
              </a:ext>
            </a:extLst>
          </p:cNvPr>
          <p:cNvSpPr txBox="1"/>
          <p:nvPr/>
        </p:nvSpPr>
        <p:spPr>
          <a:xfrm>
            <a:off x="400050" y="4320000"/>
            <a:ext cx="10200000" cy="1100000"/>
          </a:xfrm>
          <a:prstGeom prst="rect">
            <a:avLst/>
          </a:prstGeom>
          <a:noFill/>
        </p:spPr>
        <p:txBody>
          <a:bodyPr wrap="square" lIns="0" tIns="0" rIns="0" bIns="0" anchor="t">
            <a:noAutofit/>
          </a:bodyPr>
          <a:lstStyle/>
          <a:p>
            <a:pPr algn="l">
              <a:lnSpc>
                <a:spcPct val="104000"/>
              </a:lnSpc>
              <a:buNone/>
              <a:defRPr sz="3200" b="0">
                <a:solidFill>
                  <a:srgbClr val="222222"/>
                </a:solidFill>
              </a:defRPr>
            </a:pPr>
            <a:r>
              <a:rPr lang="en-GB" sz="3200" b="0" dirty="0">
                <a:solidFill>
                  <a:srgbClr val="222222"/>
                </a:solidFill>
              </a:rPr>
              <a:t>of blind comparisons preferred a fine-tuned legal model over GPT-4</a:t>
            </a:r>
          </a:p>
        </p:txBody>
      </p:sp>
    </p:spTree>
    <p:extLst>
      <p:ext uri="{BB962C8B-B14F-4D97-AF65-F5344CB8AC3E}">
        <p14:creationId xmlns:p14="http://schemas.microsoft.com/office/powerpoint/2010/main" val="2696010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4"/>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Two years later, seven models beat it.</a:t>
            </a:r>
          </a:p>
        </p:txBody>
      </p:sp>
      <p:sp>
        <p:nvSpPr>
          <p:cNvPr id="109" name="TextBox 110"/>
          <p:cNvSpPr txBox="1"/>
          <p:nvPr/>
        </p:nvSpPr>
        <p:spPr>
          <a:xfrm>
            <a:off x="400050" y="1850000"/>
            <a:ext cx="7000000" cy="2000000"/>
          </a:xfrm>
          <a:prstGeom prst="rect">
            <a:avLst/>
          </a:prstGeom>
          <a:noFill/>
        </p:spPr>
        <p:txBody>
          <a:bodyPr wrap="square" lIns="0" tIns="0" rIns="0" bIns="0" anchor="t">
            <a:noAutofit/>
          </a:bodyPr>
          <a:lstStyle/>
          <a:p>
            <a:pPr algn="l">
              <a:lnSpc>
                <a:spcPct val="95000"/>
              </a:lnSpc>
              <a:buNone/>
              <a:defRPr sz="12000" b="1">
                <a:solidFill>
                  <a:srgbClr val="000000"/>
                </a:solidFill>
              </a:defRPr>
            </a:pPr>
            <a:r>
              <a:rPr lang="en-GB" sz="12000" b="1" dirty="0">
                <a:solidFill>
                  <a:srgbClr val="000000"/>
                </a:solidFill>
              </a:rPr>
              <a:t>7</a:t>
            </a:r>
          </a:p>
        </p:txBody>
      </p:sp>
      <p:sp>
        <p:nvSpPr>
          <p:cNvPr id="111" name="Rectangle 112"/>
          <p:cNvSpPr>
            <a:spLocks noGrp="1"/>
          </p:cNvSpPr>
          <p:nvPr/>
        </p:nvSpPr>
        <p:spPr>
          <a:xfrm>
            <a:off x="400050" y="4020000"/>
            <a:ext cx="3600000" cy="76200"/>
          </a:xfrm>
          <a:prstGeom prst="rect">
            <a:avLst/>
          </a:prstGeom>
          <a:solidFill>
            <a:srgbClr val="FF6B35"/>
          </a:solidFill>
          <a:ln w="0">
            <a:noFill/>
            <a:prstDash val="solid"/>
          </a:ln>
        </p:spPr>
        <p:txBody>
          <a:bodyPr/>
          <a:lstStyle/>
          <a:p>
            <a:endParaRPr lang="en-GB"/>
          </a:p>
        </p:txBody>
      </p:sp>
      <p:sp>
        <p:nvSpPr>
          <p:cNvPr id="113" name="TextBox 114"/>
          <p:cNvSpPr txBox="1"/>
          <p:nvPr/>
        </p:nvSpPr>
        <p:spPr>
          <a:xfrm>
            <a:off x="400050" y="4320000"/>
            <a:ext cx="10200000" cy="1100000"/>
          </a:xfrm>
          <a:prstGeom prst="rect">
            <a:avLst/>
          </a:prstGeom>
          <a:noFill/>
        </p:spPr>
        <p:txBody>
          <a:bodyPr wrap="square" lIns="0" tIns="0" rIns="0" bIns="0" anchor="t">
            <a:noAutofit/>
          </a:bodyPr>
          <a:lstStyle/>
          <a:p>
            <a:pPr>
              <a:lnSpc>
                <a:spcPct val="104000"/>
              </a:lnSpc>
              <a:defRPr sz="3200" b="0">
                <a:solidFill>
                  <a:srgbClr val="222222"/>
                </a:solidFill>
              </a:defRPr>
            </a:pPr>
            <a:r>
              <a:rPr lang="en-GB" sz="3200" b="0" dirty="0">
                <a:solidFill>
                  <a:srgbClr val="222222"/>
                </a:solidFill>
              </a:rPr>
              <a:t>none of </a:t>
            </a:r>
            <a:r>
              <a:rPr lang="en-GB" sz="3200" dirty="0">
                <a:solidFill>
                  <a:srgbClr val="222222"/>
                </a:solidFill>
              </a:rPr>
              <a:t>the general-purpose models were</a:t>
            </a:r>
            <a:r>
              <a:rPr lang="en-GB" sz="3200" b="0" dirty="0">
                <a:solidFill>
                  <a:srgbClr val="222222"/>
                </a:solidFill>
              </a:rPr>
              <a:t> trained on a single contract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1B2F3E-CB1E-19FA-4843-0D3699294F02}"/>
              </a:ext>
            </a:extLst>
          </p:cNvPr>
          <p:cNvPicPr>
            <a:picLocks noChangeAspect="1"/>
          </p:cNvPicPr>
          <p:nvPr/>
        </p:nvPicPr>
        <p:blipFill>
          <a:blip r:embed="rId3"/>
          <a:stretch>
            <a:fillRect/>
          </a:stretch>
        </p:blipFill>
        <p:spPr>
          <a:xfrm>
            <a:off x="1452338" y="0"/>
            <a:ext cx="9287323" cy="6858000"/>
          </a:xfrm>
          <a:prstGeom prst="rect">
            <a:avLst/>
          </a:prstGeom>
        </p:spPr>
      </p:pic>
    </p:spTree>
    <p:extLst>
      <p:ext uri="{BB962C8B-B14F-4D97-AF65-F5344CB8AC3E}">
        <p14:creationId xmlns:p14="http://schemas.microsoft.com/office/powerpoint/2010/main" val="2620035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302E5-2992-1478-7763-07F52C3A8181}"/>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10D25052-6AA9-11ED-29FF-5E7AF225C1EC}"/>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849D3DA9-A5B3-1BC5-02E3-C523E254CD79}"/>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27C9C381-3759-FF4D-13E7-22AF8F1ED35B}"/>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7E7BD0F2-F7EE-FCF6-7990-7E81E3463EDE}"/>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Tree>
    <p:extLst>
      <p:ext uri="{BB962C8B-B14F-4D97-AF65-F5344CB8AC3E}">
        <p14:creationId xmlns:p14="http://schemas.microsoft.com/office/powerpoint/2010/main" val="202685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49643-59DD-8F06-4F40-11437E881583}"/>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66CEA25A-5581-75CB-47B5-191A7910358D}"/>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ACFE8352-29E6-E6CC-55D3-A24196EC6FBB}"/>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CA321685-AAF8-06D6-31A2-FC61BF0C4A10}"/>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9348BF28-283B-4C6A-D81E-F4C0ACF90A3A}"/>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
        <p:nvSpPr>
          <p:cNvPr id="115" name="Rectangle 116">
            <a:extLst>
              <a:ext uri="{FF2B5EF4-FFF2-40B4-BE49-F238E27FC236}">
                <a16:creationId xmlns:a16="http://schemas.microsoft.com/office/drawing/2014/main" id="{AF05AA10-3C0B-A3C8-C7C6-7F5DE66EA6AA}"/>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7B0C2E19-1A49-7302-0A4D-10AB83D75117}"/>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F20C0D0A-30B7-9B8B-0595-B77E5DB1F1FC}"/>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REASONING</a:t>
            </a:r>
          </a:p>
        </p:txBody>
      </p:sp>
      <p:sp>
        <p:nvSpPr>
          <p:cNvPr id="121" name="TextBox 122">
            <a:extLst>
              <a:ext uri="{FF2B5EF4-FFF2-40B4-BE49-F238E27FC236}">
                <a16:creationId xmlns:a16="http://schemas.microsoft.com/office/drawing/2014/main" id="{E7AC3411-3D73-652B-E645-AEC5B4625B0C}"/>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At question time</a:t>
            </a:r>
          </a:p>
        </p:txBody>
      </p:sp>
      <p:sp>
        <p:nvSpPr>
          <p:cNvPr id="123" name="TextBox 124">
            <a:extLst>
              <a:ext uri="{FF2B5EF4-FFF2-40B4-BE49-F238E27FC236}">
                <a16:creationId xmlns:a16="http://schemas.microsoft.com/office/drawing/2014/main" id="{5F3B5078-251F-3A44-EE85-345928D55407}"/>
              </a:ext>
            </a:extLst>
          </p:cNvPr>
          <p:cNvSpPr txBox="1"/>
          <p:nvPr/>
        </p:nvSpPr>
        <p:spPr>
          <a:xfrm>
            <a:off x="4552950" y="3695750"/>
            <a:ext cx="3086100" cy="768500"/>
          </a:xfrm>
          <a:prstGeom prst="rect">
            <a:avLst/>
          </a:prstGeom>
          <a:noFill/>
        </p:spPr>
        <p:txBody>
          <a:bodyPr wrap="square" lIns="0" tIns="0" rIns="0" bIns="0" anchor="t">
            <a:noAutofit/>
          </a:bodyPr>
          <a:lstStyle/>
          <a:p>
            <a:pPr>
              <a:lnSpc>
                <a:spcPct val="105000"/>
              </a:lnSpc>
              <a:defRPr sz="2200" b="0">
                <a:solidFill>
                  <a:srgbClr val="555555"/>
                </a:solidFill>
              </a:defRPr>
            </a:pPr>
            <a:r>
              <a:rPr lang="en-GB" sz="2200" dirty="0">
                <a:solidFill>
                  <a:srgbClr val="555555"/>
                </a:solidFill>
              </a:rPr>
              <a:t>extended thinking</a:t>
            </a:r>
          </a:p>
        </p:txBody>
      </p:sp>
    </p:spTree>
    <p:extLst>
      <p:ext uri="{BB962C8B-B14F-4D97-AF65-F5344CB8AC3E}">
        <p14:creationId xmlns:p14="http://schemas.microsoft.com/office/powerpoint/2010/main" val="3274339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2A9EC-42AD-2772-0861-665136D927D2}"/>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B184684A-49FE-F00D-B951-153DFE41DE01}"/>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2A10C804-5567-3B64-9DD4-E5E167AE1F7C}"/>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C041DE6D-7ED0-D5E3-18E6-9CEF6F155829}"/>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F784A724-7629-F643-1A80-E5C39498EA6F}"/>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
        <p:nvSpPr>
          <p:cNvPr id="115" name="Rectangle 116">
            <a:extLst>
              <a:ext uri="{FF2B5EF4-FFF2-40B4-BE49-F238E27FC236}">
                <a16:creationId xmlns:a16="http://schemas.microsoft.com/office/drawing/2014/main" id="{93C5A71F-3B77-4F67-9B52-972D2CC10CEC}"/>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EA0D0149-79D3-DA4D-BFFF-2B36C93DEB75}"/>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ED825D50-70D9-9DFE-9E05-8AF7213D2E17}"/>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REASONING</a:t>
            </a:r>
          </a:p>
        </p:txBody>
      </p:sp>
      <p:sp>
        <p:nvSpPr>
          <p:cNvPr id="121" name="TextBox 122">
            <a:extLst>
              <a:ext uri="{FF2B5EF4-FFF2-40B4-BE49-F238E27FC236}">
                <a16:creationId xmlns:a16="http://schemas.microsoft.com/office/drawing/2014/main" id="{C023F20F-0938-2D6E-A666-0F368BA7C0AB}"/>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At question time</a:t>
            </a:r>
          </a:p>
        </p:txBody>
      </p:sp>
      <p:sp>
        <p:nvSpPr>
          <p:cNvPr id="123" name="TextBox 124">
            <a:extLst>
              <a:ext uri="{FF2B5EF4-FFF2-40B4-BE49-F238E27FC236}">
                <a16:creationId xmlns:a16="http://schemas.microsoft.com/office/drawing/2014/main" id="{09855E0B-6CBC-12A9-C5CE-538BFE6E5543}"/>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dirty="0">
                <a:solidFill>
                  <a:srgbClr val="555555"/>
                </a:solidFill>
              </a:rPr>
              <a:t>e</a:t>
            </a:r>
            <a:r>
              <a:rPr lang="en-GB" sz="2200" b="0" dirty="0">
                <a:solidFill>
                  <a:srgbClr val="555555"/>
                </a:solidFill>
              </a:rPr>
              <a:t>xtended thinking</a:t>
            </a:r>
          </a:p>
        </p:txBody>
      </p:sp>
      <p:sp>
        <p:nvSpPr>
          <p:cNvPr id="125" name="Rectangle 126">
            <a:extLst>
              <a:ext uri="{FF2B5EF4-FFF2-40B4-BE49-F238E27FC236}">
                <a16:creationId xmlns:a16="http://schemas.microsoft.com/office/drawing/2014/main" id="{11E07C0F-8D4E-20AB-43BF-9E3EEAB171BC}"/>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A1DC1C44-AC03-655D-D4F6-14D100AFCF54}"/>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FBF83A2B-7AF5-5419-AAEA-D3D6F29D22D3}"/>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COST</a:t>
            </a:r>
          </a:p>
        </p:txBody>
      </p:sp>
      <p:sp>
        <p:nvSpPr>
          <p:cNvPr id="131" name="TextBox 132">
            <a:extLst>
              <a:ext uri="{FF2B5EF4-FFF2-40B4-BE49-F238E27FC236}">
                <a16:creationId xmlns:a16="http://schemas.microsoft.com/office/drawing/2014/main" id="{31C6D949-3C5B-0563-3645-531EB52F9159}"/>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Falls every quarter</a:t>
            </a:r>
          </a:p>
        </p:txBody>
      </p:sp>
      <p:sp>
        <p:nvSpPr>
          <p:cNvPr id="133" name="TextBox 134">
            <a:extLst>
              <a:ext uri="{FF2B5EF4-FFF2-40B4-BE49-F238E27FC236}">
                <a16:creationId xmlns:a16="http://schemas.microsoft.com/office/drawing/2014/main" id="{757393B0-7AA7-8FAE-7696-F08073F5C540}"/>
              </a:ext>
            </a:extLst>
          </p:cNvPr>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dirty="0">
                <a:solidFill>
                  <a:srgbClr val="555555"/>
                </a:solidFill>
              </a:rPr>
              <a:t>g</a:t>
            </a:r>
            <a:r>
              <a:rPr lang="en-GB" sz="2200" b="0" dirty="0">
                <a:solidFill>
                  <a:srgbClr val="555555"/>
                </a:solidFill>
              </a:rPr>
              <a:t>etting efficient and smarter</a:t>
            </a:r>
          </a:p>
        </p:txBody>
      </p:sp>
    </p:spTree>
    <p:extLst>
      <p:ext uri="{BB962C8B-B14F-4D97-AF65-F5344CB8AC3E}">
        <p14:creationId xmlns:p14="http://schemas.microsoft.com/office/powerpoint/2010/main" val="1188141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9BCFD-ECF7-CB93-BCC4-7D5561FB7E33}"/>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90DDFEA7-A71E-CE9F-CDFD-703A303DC76B}"/>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BF69634C-975E-EF7A-E82E-0ACC72C9223E}"/>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50CAA9CF-0477-2481-99B4-A5C823B9EC0D}"/>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5B93DCFF-07A4-936A-362F-B263482F0A7B}"/>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
        <p:nvSpPr>
          <p:cNvPr id="115" name="Rectangle 116">
            <a:extLst>
              <a:ext uri="{FF2B5EF4-FFF2-40B4-BE49-F238E27FC236}">
                <a16:creationId xmlns:a16="http://schemas.microsoft.com/office/drawing/2014/main" id="{8FDE0081-9C12-154D-2AB4-32A9C91A2465}"/>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3858A8FD-B6E0-6B0C-9A00-3184D43A079B}"/>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172D807B-ADA7-DD77-DF2C-1CB2A054D1E3}"/>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REASONING</a:t>
            </a:r>
          </a:p>
        </p:txBody>
      </p:sp>
      <p:sp>
        <p:nvSpPr>
          <p:cNvPr id="121" name="TextBox 122">
            <a:extLst>
              <a:ext uri="{FF2B5EF4-FFF2-40B4-BE49-F238E27FC236}">
                <a16:creationId xmlns:a16="http://schemas.microsoft.com/office/drawing/2014/main" id="{C1C5096F-6850-9C4E-87F4-69863BDB87AB}"/>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At question time</a:t>
            </a:r>
          </a:p>
        </p:txBody>
      </p:sp>
      <p:sp>
        <p:nvSpPr>
          <p:cNvPr id="123" name="TextBox 124">
            <a:extLst>
              <a:ext uri="{FF2B5EF4-FFF2-40B4-BE49-F238E27FC236}">
                <a16:creationId xmlns:a16="http://schemas.microsoft.com/office/drawing/2014/main" id="{4FE2A2B5-DC6E-79BE-4C38-4619CB8BDB17}"/>
              </a:ext>
            </a:extLst>
          </p:cNvPr>
          <p:cNvSpPr txBox="1"/>
          <p:nvPr/>
        </p:nvSpPr>
        <p:spPr>
          <a:xfrm>
            <a:off x="4552950" y="3695750"/>
            <a:ext cx="3086100" cy="768500"/>
          </a:xfrm>
          <a:prstGeom prst="rect">
            <a:avLst/>
          </a:prstGeom>
          <a:noFill/>
        </p:spPr>
        <p:txBody>
          <a:bodyPr wrap="square" lIns="0" tIns="0" rIns="0" bIns="0" anchor="t">
            <a:noAutofit/>
          </a:bodyPr>
          <a:lstStyle/>
          <a:p>
            <a:pPr>
              <a:lnSpc>
                <a:spcPct val="105000"/>
              </a:lnSpc>
              <a:defRPr sz="2200" b="0">
                <a:solidFill>
                  <a:srgbClr val="555555"/>
                </a:solidFill>
              </a:defRPr>
            </a:pPr>
            <a:r>
              <a:rPr lang="en-GB" sz="2200" dirty="0">
                <a:solidFill>
                  <a:srgbClr val="555555"/>
                </a:solidFill>
              </a:rPr>
              <a:t>extended thinking</a:t>
            </a:r>
          </a:p>
        </p:txBody>
      </p:sp>
      <p:sp>
        <p:nvSpPr>
          <p:cNvPr id="125" name="Rectangle 126">
            <a:extLst>
              <a:ext uri="{FF2B5EF4-FFF2-40B4-BE49-F238E27FC236}">
                <a16:creationId xmlns:a16="http://schemas.microsoft.com/office/drawing/2014/main" id="{CE8899AE-B0CD-670B-7775-F9BB557E399F}"/>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3BB3CE5C-6075-9088-5B18-7C4B0761E9FA}"/>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F9D6B946-0893-0ABF-EA7C-81176E76EDAB}"/>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COST</a:t>
            </a:r>
          </a:p>
        </p:txBody>
      </p:sp>
      <p:sp>
        <p:nvSpPr>
          <p:cNvPr id="131" name="TextBox 132">
            <a:extLst>
              <a:ext uri="{FF2B5EF4-FFF2-40B4-BE49-F238E27FC236}">
                <a16:creationId xmlns:a16="http://schemas.microsoft.com/office/drawing/2014/main" id="{42498E08-60B8-1D4F-7D72-3112CFA1A824}"/>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Falls every quarter</a:t>
            </a:r>
          </a:p>
        </p:txBody>
      </p:sp>
      <p:sp>
        <p:nvSpPr>
          <p:cNvPr id="133" name="TextBox 134">
            <a:extLst>
              <a:ext uri="{FF2B5EF4-FFF2-40B4-BE49-F238E27FC236}">
                <a16:creationId xmlns:a16="http://schemas.microsoft.com/office/drawing/2014/main" id="{0B61A6EE-4A7C-5496-0A76-B85E289287B1}"/>
              </a:ext>
            </a:extLst>
          </p:cNvPr>
          <p:cNvSpPr txBox="1"/>
          <p:nvPr/>
        </p:nvSpPr>
        <p:spPr>
          <a:xfrm>
            <a:off x="8420100" y="3695750"/>
            <a:ext cx="3086100" cy="768500"/>
          </a:xfrm>
          <a:prstGeom prst="rect">
            <a:avLst/>
          </a:prstGeom>
          <a:noFill/>
        </p:spPr>
        <p:txBody>
          <a:bodyPr wrap="square" lIns="0" tIns="0" rIns="0" bIns="0" anchor="t">
            <a:noAutofit/>
          </a:bodyPr>
          <a:lstStyle/>
          <a:p>
            <a:pPr>
              <a:lnSpc>
                <a:spcPct val="105000"/>
              </a:lnSpc>
              <a:defRPr sz="2200" b="0">
                <a:solidFill>
                  <a:srgbClr val="555555"/>
                </a:solidFill>
              </a:defRPr>
            </a:pPr>
            <a:r>
              <a:rPr lang="en-GB" sz="2200" dirty="0">
                <a:solidFill>
                  <a:srgbClr val="555555"/>
                </a:solidFill>
              </a:rPr>
              <a:t>getting efficient and smarter</a:t>
            </a:r>
          </a:p>
        </p:txBody>
      </p:sp>
      <p:sp>
        <p:nvSpPr>
          <p:cNvPr id="135" name="TextBox 136">
            <a:extLst>
              <a:ext uri="{FF2B5EF4-FFF2-40B4-BE49-F238E27FC236}">
                <a16:creationId xmlns:a16="http://schemas.microsoft.com/office/drawing/2014/main" id="{4E4E916F-586A-9BE2-507F-DE3BFF3E9FE0}"/>
              </a:ext>
            </a:extLst>
          </p:cNvPr>
          <p:cNvSpPr txBox="1"/>
          <p:nvPr/>
        </p:nvSpPr>
        <p:spPr>
          <a:xfrm>
            <a:off x="400050" y="5050000"/>
            <a:ext cx="113919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 fine-tune is a snapshot. The frontier is a video.</a:t>
            </a:r>
          </a:p>
        </p:txBody>
      </p:sp>
    </p:spTree>
    <p:extLst>
      <p:ext uri="{BB962C8B-B14F-4D97-AF65-F5344CB8AC3E}">
        <p14:creationId xmlns:p14="http://schemas.microsoft.com/office/powerpoint/2010/main" val="326317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Customization moved off the weights.</a:t>
            </a:r>
          </a:p>
        </p:txBody>
      </p:sp>
      <p:sp>
        <p:nvSpPr>
          <p:cNvPr id="103" name="TextBox 104"/>
          <p:cNvSpPr txBox="1"/>
          <p:nvPr/>
        </p:nvSpPr>
        <p:spPr>
          <a:xfrm>
            <a:off x="400050" y="6320000"/>
            <a:ext cx="5000000" cy="320000"/>
          </a:xfrm>
          <a:prstGeom prst="rect">
            <a:avLst/>
          </a:prstGeom>
          <a:noFill/>
        </p:spPr>
        <p:txBody>
          <a:bodyPr wrap="square" lIns="0" tIns="0" rIns="0" bIns="0" anchor="t">
            <a:noAutofit/>
          </a:bodyPr>
          <a:lstStyle/>
          <a:p>
            <a:pPr algn="l">
              <a:buNone/>
              <a:defRPr sz="1400" b="0">
                <a:solidFill>
                  <a:srgbClr val="555555"/>
                </a:solidFill>
              </a:defRPr>
            </a:pPr>
            <a:r>
              <a:rPr lang="en-GB" sz="1400" b="0" dirty="0">
                <a:solidFill>
                  <a:srgbClr val="555555"/>
                </a:solidFill>
              </a:rPr>
              <a:t>how we got 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E9A8-2DF3-350E-26C0-B2645DFD6686}"/>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24B8B0BF-6721-7E2C-4F71-9E9EF8505203}"/>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7E6163D1-EC7B-A08F-5946-E8C89108A10E}"/>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CCE59785-16A7-7649-E2E3-01124A7A6034}"/>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5C2CC6D6-7BA5-E5F7-FDA4-1F2A790E4C9C}"/>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Tree>
    <p:extLst>
      <p:ext uri="{BB962C8B-B14F-4D97-AF65-F5344CB8AC3E}">
        <p14:creationId xmlns:p14="http://schemas.microsoft.com/office/powerpoint/2010/main" val="66892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6346F-C02A-8D6B-73C4-BC883D39293D}"/>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FDDA18E2-E6CE-F843-135B-39273C6BFBE0}"/>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36AB7AEA-001B-1400-5F71-06126C4110B6}"/>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8FA12DC6-6213-8DFE-61CD-381DC20C9B14}"/>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96845DE4-32AA-CD1E-5E84-96EE531AC6F4}"/>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
        <p:nvSpPr>
          <p:cNvPr id="115" name="Rectangle 116">
            <a:extLst>
              <a:ext uri="{FF2B5EF4-FFF2-40B4-BE49-F238E27FC236}">
                <a16:creationId xmlns:a16="http://schemas.microsoft.com/office/drawing/2014/main" id="{14660E83-C211-EA09-7A09-A6C3B45B67C4}"/>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5D48A328-6B3B-EE29-6CA1-F8E54D1C13F9}"/>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FE49F1E5-E6B7-EFBF-C625-7C5C08D42941}"/>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FRAMING</a:t>
            </a:r>
          </a:p>
        </p:txBody>
      </p:sp>
      <p:sp>
        <p:nvSpPr>
          <p:cNvPr id="121" name="TextBox 122">
            <a:extLst>
              <a:ext uri="{FF2B5EF4-FFF2-40B4-BE49-F238E27FC236}">
                <a16:creationId xmlns:a16="http://schemas.microsoft.com/office/drawing/2014/main" id="{E3753D05-A134-BA23-1BCE-26AFA82AB1DE}"/>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Context</a:t>
            </a:r>
          </a:p>
        </p:txBody>
      </p:sp>
      <p:sp>
        <p:nvSpPr>
          <p:cNvPr id="123" name="TextBox 124">
            <a:extLst>
              <a:ext uri="{FF2B5EF4-FFF2-40B4-BE49-F238E27FC236}">
                <a16:creationId xmlns:a16="http://schemas.microsoft.com/office/drawing/2014/main" id="{AD18C8FE-1416-10B9-58AD-5EDA237E1F32}"/>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assembled in code, not typed</a:t>
            </a:r>
          </a:p>
        </p:txBody>
      </p:sp>
    </p:spTree>
    <p:extLst>
      <p:ext uri="{BB962C8B-B14F-4D97-AF65-F5344CB8AC3E}">
        <p14:creationId xmlns:p14="http://schemas.microsoft.com/office/powerpoint/2010/main" val="417366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CD8A-ED35-F36B-71DF-772FF7D13C7E}"/>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BBABD3FC-ADE6-7D80-25B8-23052F219192}"/>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904451F4-E944-DC0C-F246-FB4FD5C0B588}"/>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48566E0B-7575-7EA9-A8C9-66D796B3FE45}"/>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294F4629-51CC-FFAC-E342-B5C476ECCEA8}"/>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
        <p:nvSpPr>
          <p:cNvPr id="115" name="Rectangle 116">
            <a:extLst>
              <a:ext uri="{FF2B5EF4-FFF2-40B4-BE49-F238E27FC236}">
                <a16:creationId xmlns:a16="http://schemas.microsoft.com/office/drawing/2014/main" id="{9A614B96-FCD9-1925-0FBF-50C9F0F5CD76}"/>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10AC0B12-96C3-1F8B-B355-1465D8A03B74}"/>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50B3C4B3-7A38-8F6F-225A-E38A6789EC8F}"/>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FRAMING</a:t>
            </a:r>
          </a:p>
        </p:txBody>
      </p:sp>
      <p:sp>
        <p:nvSpPr>
          <p:cNvPr id="121" name="TextBox 122">
            <a:extLst>
              <a:ext uri="{FF2B5EF4-FFF2-40B4-BE49-F238E27FC236}">
                <a16:creationId xmlns:a16="http://schemas.microsoft.com/office/drawing/2014/main" id="{1DD0680C-1100-1B96-B310-C4C53A9B2102}"/>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Context</a:t>
            </a:r>
          </a:p>
        </p:txBody>
      </p:sp>
      <p:sp>
        <p:nvSpPr>
          <p:cNvPr id="123" name="TextBox 124">
            <a:extLst>
              <a:ext uri="{FF2B5EF4-FFF2-40B4-BE49-F238E27FC236}">
                <a16:creationId xmlns:a16="http://schemas.microsoft.com/office/drawing/2014/main" id="{7812C7D0-4081-00D8-0501-C72BF9D46D63}"/>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assembled in code, not typed</a:t>
            </a:r>
          </a:p>
        </p:txBody>
      </p:sp>
      <p:sp>
        <p:nvSpPr>
          <p:cNvPr id="125" name="Rectangle 126">
            <a:extLst>
              <a:ext uri="{FF2B5EF4-FFF2-40B4-BE49-F238E27FC236}">
                <a16:creationId xmlns:a16="http://schemas.microsoft.com/office/drawing/2014/main" id="{CA4F5F82-16B3-FF61-695F-3E560CE562B8}"/>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B075053C-A9AE-14B3-4315-0A94AD251EED}"/>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717D60B5-EC24-2A4F-2646-1B1A11568D4C}"/>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KNOW-HOW</a:t>
            </a:r>
          </a:p>
        </p:txBody>
      </p:sp>
      <p:sp>
        <p:nvSpPr>
          <p:cNvPr id="131" name="TextBox 132">
            <a:extLst>
              <a:ext uri="{FF2B5EF4-FFF2-40B4-BE49-F238E27FC236}">
                <a16:creationId xmlns:a16="http://schemas.microsoft.com/office/drawing/2014/main" id="{3456BDBF-9B94-A7E8-0391-19ED515B640E}"/>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Skills</a:t>
            </a:r>
          </a:p>
        </p:txBody>
      </p:sp>
      <p:sp>
        <p:nvSpPr>
          <p:cNvPr id="133" name="TextBox 134">
            <a:extLst>
              <a:ext uri="{FF2B5EF4-FFF2-40B4-BE49-F238E27FC236}">
                <a16:creationId xmlns:a16="http://schemas.microsoft.com/office/drawing/2014/main" id="{4EFFE126-A287-C70C-CED3-3C4ACC02E5FD}"/>
              </a:ext>
            </a:extLst>
          </p:cNvPr>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written in plain English</a:t>
            </a:r>
          </a:p>
        </p:txBody>
      </p:sp>
    </p:spTree>
    <p:extLst>
      <p:ext uri="{BB962C8B-B14F-4D97-AF65-F5344CB8AC3E}">
        <p14:creationId xmlns:p14="http://schemas.microsoft.com/office/powerpoint/2010/main" val="3729783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67424-7A3F-8D2A-53C5-586FF70F39BD}"/>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69FFE2E2-8910-8C6D-B871-DCF0160111EB}"/>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FE5C31ED-A6A2-6C9C-B7AD-7A58946C30E0}"/>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63D7C596-4917-3461-F7B1-09AC4EC8A74C}"/>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F04A26A8-CEAE-BD66-D0A4-5DD85548253E}"/>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
        <p:nvSpPr>
          <p:cNvPr id="115" name="Rectangle 116">
            <a:extLst>
              <a:ext uri="{FF2B5EF4-FFF2-40B4-BE49-F238E27FC236}">
                <a16:creationId xmlns:a16="http://schemas.microsoft.com/office/drawing/2014/main" id="{732D7293-650B-412D-F421-D50A6ED74632}"/>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3EDCDEB1-BCD1-547E-C44A-31B277B1BB9B}"/>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DD2C43B0-49CD-ECCE-90EF-E2460A2F826F}"/>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FRAMING</a:t>
            </a:r>
          </a:p>
        </p:txBody>
      </p:sp>
      <p:sp>
        <p:nvSpPr>
          <p:cNvPr id="121" name="TextBox 122">
            <a:extLst>
              <a:ext uri="{FF2B5EF4-FFF2-40B4-BE49-F238E27FC236}">
                <a16:creationId xmlns:a16="http://schemas.microsoft.com/office/drawing/2014/main" id="{127D9C04-5F63-774F-747C-2D92EF78F070}"/>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Context</a:t>
            </a:r>
          </a:p>
        </p:txBody>
      </p:sp>
      <p:sp>
        <p:nvSpPr>
          <p:cNvPr id="123" name="TextBox 124">
            <a:extLst>
              <a:ext uri="{FF2B5EF4-FFF2-40B4-BE49-F238E27FC236}">
                <a16:creationId xmlns:a16="http://schemas.microsoft.com/office/drawing/2014/main" id="{87C334D2-FB74-B7CE-F5B3-795C6548155D}"/>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assembled in code, not typed</a:t>
            </a:r>
          </a:p>
        </p:txBody>
      </p:sp>
      <p:sp>
        <p:nvSpPr>
          <p:cNvPr id="125" name="Rectangle 126">
            <a:extLst>
              <a:ext uri="{FF2B5EF4-FFF2-40B4-BE49-F238E27FC236}">
                <a16:creationId xmlns:a16="http://schemas.microsoft.com/office/drawing/2014/main" id="{B3869540-87D4-4766-06D2-4340EA751C5C}"/>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AC536927-8D9B-AFCC-4EF2-69A3270D66D2}"/>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60CDD4E7-1FA6-E5AB-AC46-2AD6C9CC6845}"/>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KNOW-HOW</a:t>
            </a:r>
          </a:p>
        </p:txBody>
      </p:sp>
      <p:sp>
        <p:nvSpPr>
          <p:cNvPr id="131" name="TextBox 132">
            <a:extLst>
              <a:ext uri="{FF2B5EF4-FFF2-40B4-BE49-F238E27FC236}">
                <a16:creationId xmlns:a16="http://schemas.microsoft.com/office/drawing/2014/main" id="{AE107E95-9AEF-649B-F29B-8966333D7533}"/>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Skills</a:t>
            </a:r>
          </a:p>
        </p:txBody>
      </p:sp>
      <p:sp>
        <p:nvSpPr>
          <p:cNvPr id="133" name="TextBox 134">
            <a:extLst>
              <a:ext uri="{FF2B5EF4-FFF2-40B4-BE49-F238E27FC236}">
                <a16:creationId xmlns:a16="http://schemas.microsoft.com/office/drawing/2014/main" id="{1D10FF82-D99A-4127-1057-078B34CD48FA}"/>
              </a:ext>
            </a:extLst>
          </p:cNvPr>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written in plain English</a:t>
            </a:r>
          </a:p>
        </p:txBody>
      </p:sp>
      <p:sp>
        <p:nvSpPr>
          <p:cNvPr id="135" name="TextBox 136">
            <a:extLst>
              <a:ext uri="{FF2B5EF4-FFF2-40B4-BE49-F238E27FC236}">
                <a16:creationId xmlns:a16="http://schemas.microsoft.com/office/drawing/2014/main" id="{9ABBDCE3-A8E3-0226-0CDB-5554E75219F5}"/>
              </a:ext>
            </a:extLst>
          </p:cNvPr>
          <p:cNvSpPr txBox="1"/>
          <p:nvPr/>
        </p:nvSpPr>
        <p:spPr>
          <a:xfrm>
            <a:off x="400050" y="5050000"/>
            <a:ext cx="113919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These problems don’t need training.</a:t>
            </a:r>
          </a:p>
        </p:txBody>
      </p:sp>
    </p:spTree>
    <p:extLst>
      <p:ext uri="{BB962C8B-B14F-4D97-AF65-F5344CB8AC3E}">
        <p14:creationId xmlns:p14="http://schemas.microsoft.com/office/powerpoint/2010/main" val="202101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9C246B-1E76-9194-108C-14FBD40564F8}"/>
              </a:ext>
            </a:extLst>
          </p:cNvPr>
          <p:cNvSpPr txBox="1"/>
          <p:nvPr/>
        </p:nvSpPr>
        <p:spPr>
          <a:xfrm>
            <a:off x="3048000" y="2522277"/>
            <a:ext cx="6096000" cy="906723"/>
          </a:xfrm>
          <a:prstGeom prst="rect">
            <a:avLst/>
          </a:prstGeom>
          <a:noFill/>
        </p:spPr>
        <p:txBody>
          <a:bodyPr wrap="square">
            <a:spAutoFit/>
          </a:bodyPr>
          <a:lstStyle/>
          <a:p>
            <a:pPr algn="ctr">
              <a:lnSpc>
                <a:spcPct val="98000"/>
              </a:lnSpc>
              <a:buNone/>
              <a:defRPr sz="5400" b="1">
                <a:solidFill>
                  <a:srgbClr val="000000"/>
                </a:solidFill>
              </a:defRPr>
            </a:pPr>
            <a:r>
              <a:rPr lang="en-GB" sz="5400" b="1" dirty="0">
                <a:solidFill>
                  <a:srgbClr val="000000"/>
                </a:solidFill>
              </a:rPr>
              <a:t>AI Agent Terms</a:t>
            </a:r>
          </a:p>
        </p:txBody>
      </p:sp>
    </p:spTree>
    <p:extLst>
      <p:ext uri="{BB962C8B-B14F-4D97-AF65-F5344CB8AC3E}">
        <p14:creationId xmlns:p14="http://schemas.microsoft.com/office/powerpoint/2010/main" val="254060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427775-09B3-215E-15F8-D4CC1B0124EA}"/>
              </a:ext>
            </a:extLst>
          </p:cNvPr>
          <p:cNvSpPr txBox="1"/>
          <p:nvPr/>
        </p:nvSpPr>
        <p:spPr>
          <a:xfrm>
            <a:off x="606552" y="507751"/>
            <a:ext cx="11234928" cy="5262979"/>
          </a:xfrm>
          <a:prstGeom prst="rect">
            <a:avLst/>
          </a:prstGeom>
          <a:noFill/>
        </p:spPr>
        <p:txBody>
          <a:bodyPr wrap="square">
            <a:spAutoFit/>
          </a:bodyPr>
          <a:lstStyle/>
          <a:p>
            <a:pPr marL="457200" indent="-457200">
              <a:buFont typeface="Arial" panose="020B0604020202020204" pitchFamily="34" charset="0"/>
              <a:buChar char="•"/>
            </a:pPr>
            <a:r>
              <a:rPr lang="en-US" sz="2800" b="1" i="0" dirty="0">
                <a:solidFill>
                  <a:srgbClr val="0B0B0B"/>
                </a:solidFill>
                <a:effectLst/>
                <a:latin typeface="anthropic-sans"/>
              </a:rPr>
              <a:t>MCP</a:t>
            </a:r>
            <a:r>
              <a:rPr lang="en-US" sz="2800" b="0" i="0" dirty="0">
                <a:solidFill>
                  <a:srgbClr val="0B0B0B"/>
                </a:solidFill>
                <a:effectLst/>
                <a:latin typeface="anthropic-sans"/>
              </a:rPr>
              <a:t> and </a:t>
            </a:r>
            <a:r>
              <a:rPr lang="en-US" sz="2800" b="1" i="0" dirty="0">
                <a:solidFill>
                  <a:srgbClr val="0B0B0B"/>
                </a:solidFill>
                <a:effectLst/>
                <a:latin typeface="anthropic-sans"/>
              </a:rPr>
              <a:t>A2A</a:t>
            </a:r>
            <a:r>
              <a:rPr lang="en-US" sz="2800" b="0" i="0" dirty="0">
                <a:solidFill>
                  <a:srgbClr val="0B0B0B"/>
                </a:solidFill>
                <a:effectLst/>
                <a:latin typeface="anthropic-sans"/>
              </a:rPr>
              <a:t> are </a:t>
            </a:r>
            <a:r>
              <a:rPr lang="en-US" sz="2800" b="0" i="0" u="sng" dirty="0">
                <a:solidFill>
                  <a:srgbClr val="0B0B0B"/>
                </a:solidFill>
                <a:effectLst/>
                <a:latin typeface="anthropic-sans"/>
              </a:rPr>
              <a:t>open protocols and specifications</a:t>
            </a:r>
            <a:r>
              <a:rPr lang="en-US" sz="2800" b="0" i="0" dirty="0">
                <a:solidFill>
                  <a:srgbClr val="0B0B0B"/>
                </a:solidFill>
                <a:effectLst/>
                <a:latin typeface="anthropic-sans"/>
              </a:rPr>
              <a:t>. </a:t>
            </a:r>
            <a:endParaRPr lang="en-US" sz="2800" dirty="0">
              <a:solidFill>
                <a:srgbClr val="0B0B0B"/>
              </a:solidFill>
              <a:latin typeface="anthropic-sans"/>
            </a:endParaRPr>
          </a:p>
          <a:p>
            <a:pPr marL="914400" lvl="1" indent="-457200">
              <a:buFont typeface="Courier New" panose="02070309020205020404" pitchFamily="49" charset="0"/>
              <a:buChar char="o"/>
            </a:pPr>
            <a:r>
              <a:rPr lang="en-US" sz="2800" b="0" i="0" dirty="0">
                <a:solidFill>
                  <a:srgbClr val="0B0B0B"/>
                </a:solidFill>
                <a:effectLst/>
                <a:latin typeface="anthropic-sans"/>
              </a:rPr>
              <a:t>MCP is agent to tool, A2A is agent to agent </a:t>
            </a:r>
          </a:p>
          <a:p>
            <a:pPr marL="457200" indent="-457200">
              <a:buFont typeface="Arial" panose="020B0604020202020204" pitchFamily="34" charset="0"/>
              <a:buChar char="•"/>
            </a:pPr>
            <a:endParaRPr lang="en-US" sz="2800" b="0" i="0" dirty="0">
              <a:solidFill>
                <a:srgbClr val="0B0B0B"/>
              </a:solidFill>
              <a:effectLst/>
              <a:latin typeface="anthropic-sans"/>
            </a:endParaRPr>
          </a:p>
          <a:p>
            <a:pPr marL="457200" indent="-457200">
              <a:buFont typeface="Arial" panose="020B0604020202020204" pitchFamily="34" charset="0"/>
              <a:buChar char="•"/>
            </a:pPr>
            <a:r>
              <a:rPr lang="en-US" sz="2800" b="1" i="0" dirty="0" err="1">
                <a:solidFill>
                  <a:srgbClr val="0B0B0B"/>
                </a:solidFill>
                <a:effectLst/>
                <a:latin typeface="anthropic-sans"/>
              </a:rPr>
              <a:t>AGENTS.md</a:t>
            </a:r>
            <a:r>
              <a:rPr lang="en-US" sz="2800" b="0" i="0" dirty="0">
                <a:solidFill>
                  <a:srgbClr val="0B0B0B"/>
                </a:solidFill>
                <a:effectLst/>
                <a:latin typeface="anthropic-sans"/>
              </a:rPr>
              <a:t> is a </a:t>
            </a:r>
            <a:r>
              <a:rPr lang="en-US" sz="2800" b="0" i="0" u="sng" dirty="0">
                <a:solidFill>
                  <a:srgbClr val="0B0B0B"/>
                </a:solidFill>
                <a:effectLst/>
                <a:latin typeface="anthropic-sans"/>
              </a:rPr>
              <a:t>config file</a:t>
            </a:r>
            <a:r>
              <a:rPr lang="en-US" sz="2800" b="0" i="0" dirty="0">
                <a:solidFill>
                  <a:srgbClr val="0B0B0B"/>
                </a:solidFill>
                <a:effectLst/>
                <a:latin typeface="anthropic-sans"/>
              </a:rPr>
              <a:t>. Always loaded, so keep it short </a:t>
            </a:r>
          </a:p>
          <a:p>
            <a:pPr marL="457200" indent="-457200">
              <a:buFont typeface="Arial" panose="020B0604020202020204" pitchFamily="34" charset="0"/>
              <a:buChar char="•"/>
            </a:pPr>
            <a:endParaRPr lang="en-US" sz="2800" b="0" i="0" dirty="0">
              <a:solidFill>
                <a:srgbClr val="0B0B0B"/>
              </a:solidFill>
              <a:effectLst/>
              <a:latin typeface="anthropic-sans"/>
            </a:endParaRPr>
          </a:p>
          <a:p>
            <a:pPr marL="457200" indent="-457200">
              <a:buFont typeface="Arial" panose="020B0604020202020204" pitchFamily="34" charset="0"/>
              <a:buChar char="•"/>
            </a:pPr>
            <a:r>
              <a:rPr lang="en-US" sz="2800" b="1" i="0" dirty="0" err="1">
                <a:solidFill>
                  <a:srgbClr val="0B0B0B"/>
                </a:solidFill>
                <a:effectLst/>
                <a:latin typeface="anthropic-sans"/>
              </a:rPr>
              <a:t>SKILL.md</a:t>
            </a:r>
            <a:r>
              <a:rPr lang="en-US" sz="2800" b="0" i="0" dirty="0">
                <a:solidFill>
                  <a:srgbClr val="0B0B0B"/>
                </a:solidFill>
                <a:effectLst/>
                <a:latin typeface="anthropic-sans"/>
              </a:rPr>
              <a:t> is a plugin format file. Schema plus folder, loaded on demand </a:t>
            </a:r>
          </a:p>
          <a:p>
            <a:pPr marL="457200" indent="-457200">
              <a:buFont typeface="Arial" panose="020B0604020202020204" pitchFamily="34" charset="0"/>
              <a:buChar char="•"/>
            </a:pPr>
            <a:endParaRPr lang="en-US" sz="2800" b="0" i="0" dirty="0">
              <a:solidFill>
                <a:srgbClr val="0B0B0B"/>
              </a:solidFill>
              <a:effectLst/>
              <a:latin typeface="anthropic-sans"/>
            </a:endParaRPr>
          </a:p>
          <a:p>
            <a:pPr marL="457200" indent="-457200">
              <a:buFont typeface="Arial" panose="020B0604020202020204" pitchFamily="34" charset="0"/>
              <a:buChar char="•"/>
            </a:pPr>
            <a:r>
              <a:rPr lang="en-US" sz="2800" b="1" i="0" dirty="0">
                <a:solidFill>
                  <a:srgbClr val="0B0B0B"/>
                </a:solidFill>
                <a:effectLst/>
                <a:latin typeface="anthropic-sans"/>
              </a:rPr>
              <a:t>Subagents</a:t>
            </a:r>
            <a:r>
              <a:rPr lang="en-US" sz="2800" b="0" i="0" dirty="0">
                <a:solidFill>
                  <a:srgbClr val="0B0B0B"/>
                </a:solidFill>
                <a:effectLst/>
                <a:latin typeface="anthropic-sans"/>
              </a:rPr>
              <a:t> </a:t>
            </a:r>
            <a:r>
              <a:rPr lang="en-US" sz="2800" dirty="0">
                <a:solidFill>
                  <a:srgbClr val="0B0B0B"/>
                </a:solidFill>
                <a:latin typeface="anthropic-sans"/>
              </a:rPr>
              <a:t>is an</a:t>
            </a:r>
            <a:r>
              <a:rPr lang="en-US" sz="2800" b="0" i="0" dirty="0">
                <a:solidFill>
                  <a:srgbClr val="0B0B0B"/>
                </a:solidFill>
                <a:effectLst/>
                <a:latin typeface="anthropic-sans"/>
              </a:rPr>
              <a:t> </a:t>
            </a:r>
            <a:r>
              <a:rPr lang="en-US" sz="2800" b="0" i="0" u="sng" dirty="0">
                <a:solidFill>
                  <a:srgbClr val="0B0B0B"/>
                </a:solidFill>
                <a:effectLst/>
                <a:latin typeface="anthropic-sans"/>
              </a:rPr>
              <a:t>architectural design pattern</a:t>
            </a:r>
            <a:r>
              <a:rPr lang="en-US" sz="2800" b="0" i="0" dirty="0">
                <a:solidFill>
                  <a:srgbClr val="0B0B0B"/>
                </a:solidFill>
                <a:effectLst/>
                <a:latin typeface="anthropic-sans"/>
              </a:rPr>
              <a:t>. No spec, so every vendor does it differently</a:t>
            </a:r>
          </a:p>
          <a:p>
            <a:pPr marL="457200" indent="-457200">
              <a:buFont typeface="Arial" panose="020B0604020202020204" pitchFamily="34" charset="0"/>
              <a:buChar char="•"/>
            </a:pPr>
            <a:endParaRPr lang="en-US" sz="2800" b="0" i="0" dirty="0">
              <a:solidFill>
                <a:srgbClr val="0B0B0B"/>
              </a:solidFill>
              <a:effectLst/>
              <a:latin typeface="anthropic-sans"/>
            </a:endParaRPr>
          </a:p>
          <a:p>
            <a:pPr marL="457200" indent="-457200">
              <a:buFont typeface="Arial" panose="020B0604020202020204" pitchFamily="34" charset="0"/>
              <a:buChar char="•"/>
            </a:pPr>
            <a:r>
              <a:rPr lang="en-US" sz="2800" b="1" dirty="0">
                <a:solidFill>
                  <a:srgbClr val="0B0B0B"/>
                </a:solidFill>
                <a:latin typeface="anthropic-sans"/>
              </a:rPr>
              <a:t>Agentic harness</a:t>
            </a:r>
            <a:r>
              <a:rPr lang="en-US" sz="2800" dirty="0">
                <a:solidFill>
                  <a:srgbClr val="0B0B0B"/>
                </a:solidFill>
                <a:latin typeface="anthropic-sans"/>
              </a:rPr>
              <a:t> is a runtime control layer for a model. Use an existing framework ideally.</a:t>
            </a:r>
            <a:endParaRPr lang="en-GB" sz="2800" dirty="0"/>
          </a:p>
        </p:txBody>
      </p:sp>
    </p:spTree>
    <p:extLst>
      <p:ext uri="{BB962C8B-B14F-4D97-AF65-F5344CB8AC3E}">
        <p14:creationId xmlns:p14="http://schemas.microsoft.com/office/powerpoint/2010/main" val="2071303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Repo rules the agent always reads</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01</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AGENTS.md</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A markdown file in your repo</a:t>
            </a:r>
          </a:p>
        </p:txBody>
      </p:sp>
      <p:sp>
        <p:nvSpPr>
          <p:cNvPr id="117" name="Rectangle 118"/>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Read every session before any work starts</a:t>
            </a:r>
          </a:p>
        </p:txBody>
      </p:sp>
      <p:sp>
        <p:nvSpPr>
          <p:cNvPr id="121" name="Rectangle 122"/>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p:cNvSpPr txBox="1"/>
          <p:nvPr/>
        </p:nvSpPr>
        <p:spPr>
          <a:xfrm>
            <a:off x="920050" y="51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It can be nested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34BDC-B44E-DD43-3022-6F4C26B688B7}"/>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E085ED43-3776-13BF-7178-09FD3C4B4624}"/>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Demo</a:t>
            </a:r>
          </a:p>
        </p:txBody>
      </p:sp>
      <p:sp>
        <p:nvSpPr>
          <p:cNvPr id="107" name="TextBox 108">
            <a:extLst>
              <a:ext uri="{FF2B5EF4-FFF2-40B4-BE49-F238E27FC236}">
                <a16:creationId xmlns:a16="http://schemas.microsoft.com/office/drawing/2014/main" id="{841216AB-D8F2-786D-A545-FFB44015A5D9}"/>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01</a:t>
            </a:r>
          </a:p>
        </p:txBody>
      </p:sp>
      <p:sp>
        <p:nvSpPr>
          <p:cNvPr id="109" name="TextBox 110">
            <a:extLst>
              <a:ext uri="{FF2B5EF4-FFF2-40B4-BE49-F238E27FC236}">
                <a16:creationId xmlns:a16="http://schemas.microsoft.com/office/drawing/2014/main" id="{B88BB642-2A27-A7C9-60ED-422B2C8B7706}"/>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AGENTS.md</a:t>
            </a:r>
          </a:p>
        </p:txBody>
      </p:sp>
      <p:sp>
        <p:nvSpPr>
          <p:cNvPr id="111" name="Rectangle 112">
            <a:extLst>
              <a:ext uri="{FF2B5EF4-FFF2-40B4-BE49-F238E27FC236}">
                <a16:creationId xmlns:a16="http://schemas.microsoft.com/office/drawing/2014/main" id="{6A321099-8C44-E75D-8F70-6F6CE6AB7C84}"/>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3559178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Skills load expertise on demand</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02</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 skills</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A folder: SKILL.md, plus scripts and template</a:t>
            </a:r>
          </a:p>
        </p:txBody>
      </p:sp>
      <p:sp>
        <p:nvSpPr>
          <p:cNvPr id="117" name="Rectangle 118"/>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Name, trigger (</a:t>
            </a:r>
            <a:r>
              <a:rPr lang="en-GB" sz="3200" b="0" strike="sngStrike" dirty="0">
                <a:solidFill>
                  <a:srgbClr val="222222"/>
                </a:solidFill>
              </a:rPr>
              <a:t>description)</a:t>
            </a:r>
            <a:r>
              <a:rPr lang="en-GB" sz="3200" b="0" dirty="0">
                <a:solidFill>
                  <a:srgbClr val="222222"/>
                </a:solidFill>
              </a:rPr>
              <a:t>, instructions</a:t>
            </a:r>
          </a:p>
        </p:txBody>
      </p:sp>
      <p:sp>
        <p:nvSpPr>
          <p:cNvPr id="121" name="Rectangle 122"/>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p:cNvSpPr txBox="1"/>
          <p:nvPr/>
        </p:nvSpPr>
        <p:spPr>
          <a:xfrm>
            <a:off x="920050" y="51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Procedural knowledge and how we do it here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Your AI agent loads this file in 3 stages</a:t>
            </a:r>
          </a:p>
        </p:txBody>
      </p:sp>
      <p:sp>
        <p:nvSpPr>
          <p:cNvPr id="107" name="Rectangle 108"/>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LEVEL 1</a:t>
            </a:r>
          </a:p>
        </p:txBody>
      </p:sp>
      <p:sp>
        <p:nvSpPr>
          <p:cNvPr id="111" name="TextBox 112"/>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Front matter</a:t>
            </a:r>
          </a:p>
        </p:txBody>
      </p:sp>
      <p:sp>
        <p:nvSpPr>
          <p:cNvPr id="113" name="TextBox 114"/>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name + when to use, always loaded</a:t>
            </a:r>
          </a:p>
        </p:txBody>
      </p:sp>
      <p:sp>
        <p:nvSpPr>
          <p:cNvPr id="115" name="Rectangle 116"/>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LEVEL 2</a:t>
            </a:r>
          </a:p>
        </p:txBody>
      </p:sp>
      <p:sp>
        <p:nvSpPr>
          <p:cNvPr id="121" name="TextBox 122"/>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The body</a:t>
            </a:r>
          </a:p>
        </p:txBody>
      </p:sp>
      <p:sp>
        <p:nvSpPr>
          <p:cNvPr id="123" name="TextBox 124"/>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the instructions, loaded on a match</a:t>
            </a:r>
          </a:p>
        </p:txBody>
      </p:sp>
      <p:sp>
        <p:nvSpPr>
          <p:cNvPr id="125" name="Rectangle 126"/>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LEVEL 3</a:t>
            </a:r>
          </a:p>
        </p:txBody>
      </p:sp>
      <p:sp>
        <p:nvSpPr>
          <p:cNvPr id="131" name="TextBox 132"/>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Linked files</a:t>
            </a:r>
          </a:p>
        </p:txBody>
      </p:sp>
      <p:sp>
        <p:nvSpPr>
          <p:cNvPr id="133" name="TextBox 134"/>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dirty="0">
                <a:solidFill>
                  <a:srgbClr val="555555"/>
                </a:solidFill>
              </a:rPr>
              <a:t>./s</a:t>
            </a:r>
            <a:r>
              <a:rPr lang="en-GB" sz="2200" b="0" dirty="0">
                <a:solidFill>
                  <a:srgbClr val="555555"/>
                </a:solidFill>
              </a:rPr>
              <a:t>cripts, ./references, </a:t>
            </a:r>
            <a:br>
              <a:rPr lang="en-GB" sz="2200" b="0" dirty="0">
                <a:solidFill>
                  <a:srgbClr val="555555"/>
                </a:solidFill>
              </a:rPr>
            </a:br>
            <a:r>
              <a:rPr lang="en-GB" sz="2200" b="0" dirty="0">
                <a:solidFill>
                  <a:srgbClr val="555555"/>
                </a:solidFill>
              </a:rPr>
              <a:t>on demand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The description will trigger your AI agent</a:t>
            </a:r>
          </a:p>
        </p:txBody>
      </p:sp>
      <p:sp>
        <p:nvSpPr>
          <p:cNvPr id="107" name="Rectangle 108"/>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VAGUE</a:t>
            </a:r>
          </a:p>
        </p:txBody>
      </p:sp>
      <p:sp>
        <p:nvSpPr>
          <p:cNvPr id="111" name="TextBox 112"/>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generates reports</a:t>
            </a:r>
          </a:p>
        </p:txBody>
      </p:sp>
      <p:sp>
        <p:nvSpPr>
          <p:cNvPr id="113" name="TextBox 114"/>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the agent will skip it</a:t>
            </a:r>
          </a:p>
        </p:txBody>
      </p:sp>
      <p:sp>
        <p:nvSpPr>
          <p:cNvPr id="115" name="Rectangle 116"/>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SPECIFIC</a:t>
            </a:r>
          </a:p>
        </p:txBody>
      </p:sp>
      <p:sp>
        <p:nvSpPr>
          <p:cNvPr id="121" name="TextBox 122"/>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what + when</a:t>
            </a:r>
          </a:p>
        </p:txBody>
      </p:sp>
      <p:sp>
        <p:nvSpPr>
          <p:cNvPr id="123" name="TextBox 124"/>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the job, and the phrases that mean it</a:t>
            </a:r>
          </a:p>
        </p:txBody>
      </p:sp>
      <p:sp>
        <p:nvSpPr>
          <p:cNvPr id="125" name="Rectangle 126"/>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PUSHY</a:t>
            </a:r>
          </a:p>
        </p:txBody>
      </p:sp>
      <p:sp>
        <p:nvSpPr>
          <p:cNvPr id="131" name="TextBox 132"/>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Oversell and be verbose</a:t>
            </a:r>
          </a:p>
        </p:txBody>
      </p:sp>
      <p:sp>
        <p:nvSpPr>
          <p:cNvPr id="133" name="TextBox 134"/>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models under-trigger</a:t>
            </a:r>
          </a:p>
        </p:txBody>
      </p:sp>
      <p:sp>
        <p:nvSpPr>
          <p:cNvPr id="135" name="TextBox 136"/>
          <p:cNvSpPr txBox="1"/>
          <p:nvPr/>
        </p:nvSpPr>
        <p:spPr>
          <a:xfrm>
            <a:off x="400050" y="5050000"/>
            <a:ext cx="11391900" cy="1000000"/>
          </a:xfrm>
          <a:prstGeom prst="rect">
            <a:avLst/>
          </a:prstGeom>
          <a:noFill/>
        </p:spPr>
        <p:txBody>
          <a:bodyPr wrap="square" lIns="0" tIns="0" rIns="0" bIns="0" anchor="t">
            <a:noAutofit/>
          </a:bodyPr>
          <a:lstStyle/>
          <a:p>
            <a:pPr>
              <a:lnSpc>
                <a:spcPct val="102000"/>
              </a:lnSpc>
              <a:defRPr sz="3200" b="0">
                <a:solidFill>
                  <a:srgbClr val="000000"/>
                </a:solidFill>
              </a:defRPr>
            </a:pPr>
            <a:r>
              <a:rPr lang="en-GB" sz="3200" dirty="0">
                <a:solidFill>
                  <a:srgbClr val="000000"/>
                </a:solidFill>
              </a:rPr>
              <a:t>T</a:t>
            </a:r>
            <a:r>
              <a:rPr lang="en-GB" sz="3200" b="0" dirty="0">
                <a:solidFill>
                  <a:srgbClr val="000000"/>
                </a:solidFill>
              </a:rPr>
              <a:t>he skill will not run</a:t>
            </a:r>
            <a:r>
              <a:rPr lang="en-GB" sz="3200" dirty="0">
                <a:solidFill>
                  <a:srgbClr val="000000"/>
                </a:solidFill>
              </a:rPr>
              <a:t> if the description is vague</a:t>
            </a:r>
            <a:endParaRPr lang="en-GB" sz="3200" b="0" dirty="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EEF14-5A9F-DF7C-90D4-452105D6FC5B}"/>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2EEA6349-B3E1-E016-580A-51F840767996}"/>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Demo</a:t>
            </a:r>
          </a:p>
        </p:txBody>
      </p:sp>
      <p:sp>
        <p:nvSpPr>
          <p:cNvPr id="107" name="TextBox 108">
            <a:extLst>
              <a:ext uri="{FF2B5EF4-FFF2-40B4-BE49-F238E27FC236}">
                <a16:creationId xmlns:a16="http://schemas.microsoft.com/office/drawing/2014/main" id="{26805E1F-9422-24B3-E43E-7E3A12E38448}"/>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02</a:t>
            </a:r>
          </a:p>
        </p:txBody>
      </p:sp>
      <p:sp>
        <p:nvSpPr>
          <p:cNvPr id="109" name="TextBox 110">
            <a:extLst>
              <a:ext uri="{FF2B5EF4-FFF2-40B4-BE49-F238E27FC236}">
                <a16:creationId xmlns:a16="http://schemas.microsoft.com/office/drawing/2014/main" id="{EADF7C6B-A266-C40B-473E-FF302DA8369E}"/>
              </a:ext>
            </a:extLst>
          </p:cNvPr>
          <p:cNvSpPr txBox="1"/>
          <p:nvPr/>
        </p:nvSpPr>
        <p:spPr>
          <a:xfrm>
            <a:off x="2800050" y="1860000"/>
            <a:ext cx="8000000" cy="720000"/>
          </a:xfrm>
          <a:prstGeom prst="rect">
            <a:avLst/>
          </a:prstGeom>
          <a:noFill/>
        </p:spPr>
        <p:txBody>
          <a:bodyPr wrap="square" lIns="0" tIns="0" rIns="0" bIns="0" anchor="t">
            <a:noAutofit/>
          </a:bodyPr>
          <a:lstStyle/>
          <a:p>
            <a:pPr>
              <a:defRPr sz="4000" b="0">
                <a:solidFill>
                  <a:srgbClr val="000000"/>
                </a:solidFill>
              </a:defRPr>
            </a:pPr>
            <a:r>
              <a:rPr lang="en-GB" sz="4000" dirty="0">
                <a:solidFill>
                  <a:srgbClr val="000000"/>
                </a:solidFill>
              </a:rPr>
              <a:t>Agent skills</a:t>
            </a:r>
          </a:p>
        </p:txBody>
      </p:sp>
      <p:sp>
        <p:nvSpPr>
          <p:cNvPr id="111" name="Rectangle 112">
            <a:extLst>
              <a:ext uri="{FF2B5EF4-FFF2-40B4-BE49-F238E27FC236}">
                <a16:creationId xmlns:a16="http://schemas.microsoft.com/office/drawing/2014/main" id="{5AFD8BCB-B06A-C87D-0AEA-18573D8907C5}"/>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2137370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Treat a skill like a dependency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6D89-7A21-192E-685D-565A1D057D07}"/>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73383F50-2008-C099-698E-487168EEE5E7}"/>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Treat a skill like a dependency</a:t>
            </a:r>
          </a:p>
        </p:txBody>
      </p:sp>
      <p:sp>
        <p:nvSpPr>
          <p:cNvPr id="107" name="TextBox 108">
            <a:extLst>
              <a:ext uri="{FF2B5EF4-FFF2-40B4-BE49-F238E27FC236}">
                <a16:creationId xmlns:a16="http://schemas.microsoft.com/office/drawing/2014/main" id="{CE2FDB59-45BE-5EC9-C72E-0300754E0540}"/>
              </a:ext>
            </a:extLst>
          </p:cNvPr>
          <p:cNvSpPr txBox="1"/>
          <p:nvPr/>
        </p:nvSpPr>
        <p:spPr>
          <a:xfrm>
            <a:off x="400050" y="1850000"/>
            <a:ext cx="7000000" cy="2000000"/>
          </a:xfrm>
          <a:prstGeom prst="rect">
            <a:avLst/>
          </a:prstGeom>
          <a:noFill/>
        </p:spPr>
        <p:txBody>
          <a:bodyPr wrap="square" lIns="0" tIns="0" rIns="0" bIns="0" anchor="t">
            <a:noAutofit/>
          </a:bodyPr>
          <a:lstStyle/>
          <a:p>
            <a:pPr algn="l">
              <a:lnSpc>
                <a:spcPct val="95000"/>
              </a:lnSpc>
              <a:buNone/>
              <a:defRPr sz="12000" b="1">
                <a:solidFill>
                  <a:srgbClr val="000000"/>
                </a:solidFill>
              </a:defRPr>
            </a:pPr>
            <a:r>
              <a:rPr lang="en-GB" sz="12000" b="1" dirty="0">
                <a:solidFill>
                  <a:srgbClr val="000000"/>
                </a:solidFill>
              </a:rPr>
              <a:t>35%</a:t>
            </a:r>
          </a:p>
        </p:txBody>
      </p:sp>
      <p:sp>
        <p:nvSpPr>
          <p:cNvPr id="109" name="Rectangle 110">
            <a:extLst>
              <a:ext uri="{FF2B5EF4-FFF2-40B4-BE49-F238E27FC236}">
                <a16:creationId xmlns:a16="http://schemas.microsoft.com/office/drawing/2014/main" id="{E685D3CB-B71D-6392-7C70-FA7C0FCCF99C}"/>
              </a:ext>
            </a:extLst>
          </p:cNvPr>
          <p:cNvSpPr>
            <a:spLocks noGrp="1"/>
          </p:cNvSpPr>
          <p:nvPr/>
        </p:nvSpPr>
        <p:spPr>
          <a:xfrm>
            <a:off x="400050" y="4020000"/>
            <a:ext cx="3600000" cy="76200"/>
          </a:xfrm>
          <a:prstGeom prst="rect">
            <a:avLst/>
          </a:prstGeom>
          <a:solidFill>
            <a:srgbClr val="FF6B35"/>
          </a:solidFill>
          <a:ln w="0">
            <a:noFill/>
            <a:prstDash val="solid"/>
          </a:ln>
        </p:spPr>
        <p:txBody>
          <a:bodyPr/>
          <a:lstStyle/>
          <a:p>
            <a:endParaRPr lang="en-GB"/>
          </a:p>
        </p:txBody>
      </p:sp>
      <p:sp>
        <p:nvSpPr>
          <p:cNvPr id="111" name="TextBox 112">
            <a:extLst>
              <a:ext uri="{FF2B5EF4-FFF2-40B4-BE49-F238E27FC236}">
                <a16:creationId xmlns:a16="http://schemas.microsoft.com/office/drawing/2014/main" id="{E2CF64B1-C7B8-0B5A-BA63-0670C3748759}"/>
              </a:ext>
            </a:extLst>
          </p:cNvPr>
          <p:cNvSpPr txBox="1"/>
          <p:nvPr/>
        </p:nvSpPr>
        <p:spPr>
          <a:xfrm>
            <a:off x="400050" y="4320000"/>
            <a:ext cx="10200000" cy="1100000"/>
          </a:xfrm>
          <a:prstGeom prst="rect">
            <a:avLst/>
          </a:prstGeom>
          <a:noFill/>
        </p:spPr>
        <p:txBody>
          <a:bodyPr wrap="square" lIns="0" tIns="0" rIns="0" bIns="0" anchor="t">
            <a:noAutofit/>
          </a:bodyPr>
          <a:lstStyle/>
          <a:p>
            <a:pPr algn="l">
              <a:lnSpc>
                <a:spcPct val="104000"/>
              </a:lnSpc>
              <a:buNone/>
              <a:defRPr sz="3200" b="0">
                <a:solidFill>
                  <a:srgbClr val="222222"/>
                </a:solidFill>
              </a:defRPr>
            </a:pPr>
            <a:r>
              <a:rPr lang="en-GB" sz="3200" b="0" dirty="0">
                <a:solidFill>
                  <a:srgbClr val="222222"/>
                </a:solidFill>
              </a:rPr>
              <a:t>Less than </a:t>
            </a:r>
            <a:r>
              <a:rPr lang="en-GB" sz="3200" dirty="0">
                <a:solidFill>
                  <a:srgbClr val="222222"/>
                </a:solidFill>
              </a:rPr>
              <a:t>4000 </a:t>
            </a:r>
            <a:r>
              <a:rPr lang="en-GB" sz="3200" b="0" dirty="0">
                <a:solidFill>
                  <a:srgbClr val="222222"/>
                </a:solidFill>
              </a:rPr>
              <a:t>public skills had a security flaw</a:t>
            </a:r>
          </a:p>
        </p:txBody>
      </p:sp>
    </p:spTree>
    <p:extLst>
      <p:ext uri="{BB962C8B-B14F-4D97-AF65-F5344CB8AC3E}">
        <p14:creationId xmlns:p14="http://schemas.microsoft.com/office/powerpoint/2010/main" val="513723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Update AGENTS, Delete some of your skills</a:t>
            </a:r>
          </a:p>
        </p:txBody>
      </p:sp>
      <p:sp>
        <p:nvSpPr>
          <p:cNvPr id="107" name="Rectangle 108"/>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DELETE</a:t>
            </a:r>
          </a:p>
        </p:txBody>
      </p:sp>
      <p:sp>
        <p:nvSpPr>
          <p:cNvPr id="111" name="TextBox 112"/>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Every six months</a:t>
            </a:r>
          </a:p>
        </p:txBody>
      </p:sp>
      <p:sp>
        <p:nvSpPr>
          <p:cNvPr id="113" name="TextBox 114"/>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AGENTS.md and the whole skills folder</a:t>
            </a:r>
          </a:p>
        </p:txBody>
      </p:sp>
      <p:sp>
        <p:nvSpPr>
          <p:cNvPr id="115" name="Rectangle 116"/>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USE</a:t>
            </a:r>
          </a:p>
        </p:txBody>
      </p:sp>
      <p:sp>
        <p:nvSpPr>
          <p:cNvPr id="121" name="TextBox 122"/>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Run it bare</a:t>
            </a:r>
          </a:p>
        </p:txBody>
      </p:sp>
      <p:sp>
        <p:nvSpPr>
          <p:cNvPr id="123" name="TextBox 124"/>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watch where the new model really fails</a:t>
            </a:r>
          </a:p>
        </p:txBody>
      </p:sp>
      <p:sp>
        <p:nvSpPr>
          <p:cNvPr id="125" name="Rectangle 126"/>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RE-ADD</a:t>
            </a:r>
          </a:p>
        </p:txBody>
      </p:sp>
      <p:sp>
        <p:nvSpPr>
          <p:cNvPr id="131" name="TextBox 132"/>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Only proven needs</a:t>
            </a:r>
          </a:p>
        </p:txBody>
      </p:sp>
      <p:sp>
        <p:nvSpPr>
          <p:cNvPr id="133" name="TextBox 134"/>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repeatedly, not once</a:t>
            </a:r>
          </a:p>
        </p:txBody>
      </p:sp>
      <p:sp>
        <p:nvSpPr>
          <p:cNvPr id="135" name="TextBox 136"/>
          <p:cNvSpPr txBox="1"/>
          <p:nvPr/>
        </p:nvSpPr>
        <p:spPr>
          <a:xfrm>
            <a:off x="400050" y="5050000"/>
            <a:ext cx="11391900" cy="1000000"/>
          </a:xfrm>
          <a:prstGeom prst="rect">
            <a:avLst/>
          </a:prstGeom>
          <a:noFill/>
        </p:spPr>
        <p:txBody>
          <a:bodyPr wrap="square" lIns="0" tIns="0" rIns="0" bIns="0" anchor="t">
            <a:noAutofit/>
          </a:bodyPr>
          <a:lstStyle/>
          <a:p>
            <a:r>
              <a:rPr lang="en-GB" sz="2800" i="1" dirty="0">
                <a:solidFill>
                  <a:schemeClr val="bg1">
                    <a:lumMod val="50000"/>
                  </a:schemeClr>
                </a:solidFill>
              </a:rPr>
              <a:t>Boris Cherny, who built Claude Code, said this at YC Startup School and he did not hedge it: delete your skills. 27 Jul 2026</a:t>
            </a:r>
          </a:p>
        </p:txBody>
      </p:sp>
    </p:spTree>
    <p:extLst>
      <p:ext uri="{BB962C8B-B14F-4D97-AF65-F5344CB8AC3E}">
        <p14:creationId xmlns:p14="http://schemas.microsoft.com/office/powerpoint/2010/main" val="995207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D346D9-0B80-A575-95E3-9D83C1CD7DEC}"/>
              </a:ext>
            </a:extLst>
          </p:cNvPr>
          <p:cNvPicPr>
            <a:picLocks noChangeAspect="1"/>
          </p:cNvPicPr>
          <p:nvPr/>
        </p:nvPicPr>
        <p:blipFill>
          <a:blip r:embed="rId3"/>
          <a:stretch>
            <a:fillRect/>
          </a:stretch>
        </p:blipFill>
        <p:spPr>
          <a:xfrm>
            <a:off x="186267" y="0"/>
            <a:ext cx="11819466" cy="6864315"/>
          </a:xfrm>
          <a:prstGeom prst="rect">
            <a:avLst/>
          </a:prstGeom>
        </p:spPr>
      </p:pic>
    </p:spTree>
    <p:extLst>
      <p:ext uri="{BB962C8B-B14F-4D97-AF65-F5344CB8AC3E}">
        <p14:creationId xmlns:p14="http://schemas.microsoft.com/office/powerpoint/2010/main" val="623378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330CB-A6BA-C5D0-CBDA-63A407D51615}"/>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C32E8ACF-328D-2B7E-7948-E512E5F87B83}"/>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0A1F2F4B-B9A6-7E55-E23E-5BBBFC20BCA5}"/>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AADDC240-1D0A-765F-DE3A-7C25ED69000F}"/>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975927C6-F398-4D35-720A-46FC8A18E10F}"/>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373317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70ED7-C88C-ED0A-271A-89F4480A7F7E}"/>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A75937DA-E2C1-C805-AEA1-7AD52BFE77F0}"/>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F739DFAB-8541-FBE8-E8EA-164120A104F9}"/>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159BDD44-45A3-7CF7-E09A-E7C429100873}"/>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A247A11A-0C8D-E082-13D9-3C87DD04D09A}"/>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a:extLst>
              <a:ext uri="{FF2B5EF4-FFF2-40B4-BE49-F238E27FC236}">
                <a16:creationId xmlns:a16="http://schemas.microsoft.com/office/drawing/2014/main" id="{AAB6E7DA-61B9-C9C4-B09E-A3431070774B}"/>
              </a:ext>
            </a:extLst>
          </p:cNvPr>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a:extLst>
              <a:ext uri="{FF2B5EF4-FFF2-40B4-BE49-F238E27FC236}">
                <a16:creationId xmlns:a16="http://schemas.microsoft.com/office/drawing/2014/main" id="{6DBF8DCD-3649-0C4D-E71C-16D3936695D1}"/>
              </a:ext>
            </a:extLst>
          </p:cNvPr>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Client asks what tools exist, before calling one</a:t>
            </a:r>
          </a:p>
        </p:txBody>
      </p:sp>
    </p:spTree>
    <p:extLst>
      <p:ext uri="{BB962C8B-B14F-4D97-AF65-F5344CB8AC3E}">
        <p14:creationId xmlns:p14="http://schemas.microsoft.com/office/powerpoint/2010/main" val="428420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0C3E-11FE-B91D-EEB2-7264BB3C62CC}"/>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68C920E3-6832-A930-ACE0-4F644AD2696B}"/>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2F587D45-56BE-7674-A2C8-387DBE76E3EC}"/>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2B4BADCD-AD6F-D64A-2855-6E0402C4DCFB}"/>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1DBC2C2E-F3DE-ED8F-FEBA-FDAE6EE7E7B2}"/>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a:extLst>
              <a:ext uri="{FF2B5EF4-FFF2-40B4-BE49-F238E27FC236}">
                <a16:creationId xmlns:a16="http://schemas.microsoft.com/office/drawing/2014/main" id="{6EC987E3-3F28-EF5A-D098-B50E5AD33DDE}"/>
              </a:ext>
            </a:extLst>
          </p:cNvPr>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a:extLst>
              <a:ext uri="{FF2B5EF4-FFF2-40B4-BE49-F238E27FC236}">
                <a16:creationId xmlns:a16="http://schemas.microsoft.com/office/drawing/2014/main" id="{3ACBB8AA-D305-60E7-EB5B-48BDE8849C7A}"/>
              </a:ext>
            </a:extLst>
          </p:cNvPr>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Client asks what tools exist</a:t>
            </a:r>
            <a:r>
              <a:rPr lang="en-GB" sz="3200" dirty="0">
                <a:solidFill>
                  <a:srgbClr val="222222"/>
                </a:solidFill>
              </a:rPr>
              <a:t> </a:t>
            </a:r>
            <a:r>
              <a:rPr lang="en-GB" sz="3200" b="0" dirty="0">
                <a:solidFill>
                  <a:srgbClr val="222222"/>
                </a:solidFill>
              </a:rPr>
              <a:t>before sending requests</a:t>
            </a:r>
          </a:p>
        </p:txBody>
      </p:sp>
      <p:sp>
        <p:nvSpPr>
          <p:cNvPr id="117" name="Rectangle 118">
            <a:extLst>
              <a:ext uri="{FF2B5EF4-FFF2-40B4-BE49-F238E27FC236}">
                <a16:creationId xmlns:a16="http://schemas.microsoft.com/office/drawing/2014/main" id="{38DFC030-7F90-5AA0-2CF0-93D00A5189BD}"/>
              </a:ext>
            </a:extLst>
          </p:cNvPr>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F81C9E4B-501F-8F4D-6F1F-015B6EB4B923}"/>
              </a:ext>
            </a:extLst>
          </p:cNvPr>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Protocol is </a:t>
            </a:r>
            <a:r>
              <a:rPr lang="en-GB" sz="3200" dirty="0">
                <a:solidFill>
                  <a:srgbClr val="222222"/>
                </a:solidFill>
              </a:rPr>
              <a:t>JSON-RPC 2.0</a:t>
            </a:r>
            <a:endParaRPr lang="en-GB" sz="3200" b="0" dirty="0">
              <a:solidFill>
                <a:srgbClr val="222222"/>
              </a:solidFill>
            </a:endParaRPr>
          </a:p>
        </p:txBody>
      </p:sp>
    </p:spTree>
    <p:extLst>
      <p:ext uri="{BB962C8B-B14F-4D97-AF65-F5344CB8AC3E}">
        <p14:creationId xmlns:p14="http://schemas.microsoft.com/office/powerpoint/2010/main" val="129580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EC0B4-7E0C-56C8-5BB4-538AF2E8F5ED}"/>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01D1C9F6-1CF2-EF2C-A198-03FC91160043}"/>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82874C93-06D7-D19F-FCF2-4B5E18C6F8D3}"/>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D1AA95F5-82C8-9329-E0FC-F52EE268C523}"/>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35B0C119-CCB0-4B52-E08D-671EED6728D3}"/>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a:extLst>
              <a:ext uri="{FF2B5EF4-FFF2-40B4-BE49-F238E27FC236}">
                <a16:creationId xmlns:a16="http://schemas.microsoft.com/office/drawing/2014/main" id="{45FB918E-D9AF-7EBF-5FFE-F6219C187035}"/>
              </a:ext>
            </a:extLst>
          </p:cNvPr>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a:extLst>
              <a:ext uri="{FF2B5EF4-FFF2-40B4-BE49-F238E27FC236}">
                <a16:creationId xmlns:a16="http://schemas.microsoft.com/office/drawing/2014/main" id="{33816227-EFEE-8542-93A3-6170ABDD8899}"/>
              </a:ext>
            </a:extLst>
          </p:cNvPr>
          <p:cNvSpPr txBox="1"/>
          <p:nvPr/>
        </p:nvSpPr>
        <p:spPr>
          <a:xfrm>
            <a:off x="920050" y="3250000"/>
            <a:ext cx="10871900" cy="830000"/>
          </a:xfrm>
          <a:prstGeom prst="rect">
            <a:avLst/>
          </a:prstGeom>
          <a:noFill/>
        </p:spPr>
        <p:txBody>
          <a:bodyPr wrap="square" lIns="0" tIns="0" rIns="0" bIns="0" anchor="t">
            <a:noAutofit/>
          </a:bodyPr>
          <a:lstStyle/>
          <a:p>
            <a:pPr>
              <a:lnSpc>
                <a:spcPct val="102000"/>
              </a:lnSpc>
              <a:defRPr sz="3200" b="0">
                <a:solidFill>
                  <a:srgbClr val="222222"/>
                </a:solidFill>
              </a:defRPr>
            </a:pPr>
            <a:r>
              <a:rPr lang="en-GB" sz="3200" dirty="0">
                <a:solidFill>
                  <a:srgbClr val="222222"/>
                </a:solidFill>
              </a:rPr>
              <a:t>Client asks what tools exist before sending requests</a:t>
            </a:r>
          </a:p>
        </p:txBody>
      </p:sp>
      <p:sp>
        <p:nvSpPr>
          <p:cNvPr id="117" name="Rectangle 118">
            <a:extLst>
              <a:ext uri="{FF2B5EF4-FFF2-40B4-BE49-F238E27FC236}">
                <a16:creationId xmlns:a16="http://schemas.microsoft.com/office/drawing/2014/main" id="{B9367D4B-9E23-AD2E-AD3A-ABE72582D917}"/>
              </a:ext>
            </a:extLst>
          </p:cNvPr>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7536B2B4-4672-9338-07A4-ECF71B9BD390}"/>
              </a:ext>
            </a:extLst>
          </p:cNvPr>
          <p:cNvSpPr txBox="1"/>
          <p:nvPr/>
        </p:nvSpPr>
        <p:spPr>
          <a:xfrm>
            <a:off x="920050" y="4200000"/>
            <a:ext cx="10871900" cy="830000"/>
          </a:xfrm>
          <a:prstGeom prst="rect">
            <a:avLst/>
          </a:prstGeom>
          <a:noFill/>
        </p:spPr>
        <p:txBody>
          <a:bodyPr wrap="square" lIns="0" tIns="0" rIns="0" bIns="0" anchor="t">
            <a:noAutofit/>
          </a:bodyPr>
          <a:lstStyle/>
          <a:p>
            <a:pPr>
              <a:lnSpc>
                <a:spcPct val="102000"/>
              </a:lnSpc>
              <a:defRPr sz="3200" b="0">
                <a:solidFill>
                  <a:srgbClr val="222222"/>
                </a:solidFill>
              </a:defRPr>
            </a:pPr>
            <a:r>
              <a:rPr lang="en-GB" sz="3200" dirty="0">
                <a:solidFill>
                  <a:srgbClr val="222222"/>
                </a:solidFill>
              </a:rPr>
              <a:t>Protocol is JSON-RPC 2.0</a:t>
            </a:r>
          </a:p>
        </p:txBody>
      </p:sp>
      <p:sp>
        <p:nvSpPr>
          <p:cNvPr id="121" name="Rectangle 122">
            <a:extLst>
              <a:ext uri="{FF2B5EF4-FFF2-40B4-BE49-F238E27FC236}">
                <a16:creationId xmlns:a16="http://schemas.microsoft.com/office/drawing/2014/main" id="{37E033DB-5C34-4327-DB0B-40CEFF837625}"/>
              </a:ext>
            </a:extLst>
          </p:cNvPr>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a:extLst>
              <a:ext uri="{FF2B5EF4-FFF2-40B4-BE49-F238E27FC236}">
                <a16:creationId xmlns:a16="http://schemas.microsoft.com/office/drawing/2014/main" id="{AF129717-8BC0-2A4B-2013-ECB34F67DF43}"/>
              </a:ext>
            </a:extLst>
          </p:cNvPr>
          <p:cNvSpPr txBox="1"/>
          <p:nvPr/>
        </p:nvSpPr>
        <p:spPr>
          <a:xfrm>
            <a:off x="920050" y="5150000"/>
            <a:ext cx="10871900" cy="830000"/>
          </a:xfrm>
          <a:prstGeom prst="rect">
            <a:avLst/>
          </a:prstGeom>
          <a:noFill/>
        </p:spPr>
        <p:txBody>
          <a:bodyPr wrap="square" lIns="0" tIns="0" rIns="0" bIns="0" anchor="t">
            <a:noAutofit/>
          </a:bodyPr>
          <a:lstStyle/>
          <a:p>
            <a:pPr>
              <a:lnSpc>
                <a:spcPct val="102000"/>
              </a:lnSpc>
              <a:defRPr sz="3200" b="0">
                <a:solidFill>
                  <a:srgbClr val="222222"/>
                </a:solidFill>
              </a:defRPr>
            </a:pPr>
            <a:r>
              <a:rPr lang="en-US" sz="3200" dirty="0">
                <a:solidFill>
                  <a:srgbClr val="222222"/>
                </a:solidFill>
              </a:rPr>
              <a:t>Server listens for requests from the client</a:t>
            </a:r>
            <a:endParaRPr lang="en-GB" sz="3200" b="0" dirty="0">
              <a:solidFill>
                <a:srgbClr val="222222"/>
              </a:solidFill>
            </a:endParaRPr>
          </a:p>
        </p:txBody>
      </p:sp>
    </p:spTree>
    <p:extLst>
      <p:ext uri="{BB962C8B-B14F-4D97-AF65-F5344CB8AC3E}">
        <p14:creationId xmlns:p14="http://schemas.microsoft.com/office/powerpoint/2010/main" val="1244367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622C7F-DAFF-5F8A-3CC0-85F3ACD92C12}"/>
              </a:ext>
            </a:extLst>
          </p:cNvPr>
          <p:cNvPicPr>
            <a:picLocks noChangeAspect="1"/>
          </p:cNvPicPr>
          <p:nvPr/>
        </p:nvPicPr>
        <p:blipFill>
          <a:blip r:embed="rId3"/>
          <a:stretch>
            <a:fillRect/>
          </a:stretch>
        </p:blipFill>
        <p:spPr>
          <a:xfrm>
            <a:off x="95249" y="1"/>
            <a:ext cx="12001499" cy="6858000"/>
          </a:xfrm>
          <a:prstGeom prst="rect">
            <a:avLst/>
          </a:prstGeom>
        </p:spPr>
      </p:pic>
    </p:spTree>
    <p:extLst>
      <p:ext uri="{BB962C8B-B14F-4D97-AF65-F5344CB8AC3E}">
        <p14:creationId xmlns:p14="http://schemas.microsoft.com/office/powerpoint/2010/main" val="4168884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22163-6856-8EBF-89BC-945AA8736F19}"/>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184E3D85-0A3F-400D-DB14-12AA93E351F0}"/>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Demo</a:t>
            </a:r>
          </a:p>
        </p:txBody>
      </p:sp>
      <p:sp>
        <p:nvSpPr>
          <p:cNvPr id="107" name="TextBox 108">
            <a:extLst>
              <a:ext uri="{FF2B5EF4-FFF2-40B4-BE49-F238E27FC236}">
                <a16:creationId xmlns:a16="http://schemas.microsoft.com/office/drawing/2014/main" id="{B0BD81CB-F8CD-921A-7731-4B49194D1E2B}"/>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D1DBFDFD-2873-F842-CF43-E8439037EF9A}"/>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0DA2C0BC-885D-5F7B-1C9B-7A8D28E6391D}"/>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2951359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4"/>
          <p:cNvSpPr txBox="1"/>
          <p:nvPr/>
        </p:nvSpPr>
        <p:spPr>
          <a:xfrm>
            <a:off x="400050" y="700000"/>
            <a:ext cx="11391900" cy="760000"/>
          </a:xfrm>
          <a:prstGeom prst="rect">
            <a:avLst/>
          </a:prstGeom>
          <a:noFill/>
        </p:spPr>
        <p:txBody>
          <a:bodyPr wrap="square" lIns="0" tIns="0" rIns="0" bIns="0" anchor="t">
            <a:noAutofit/>
          </a:bodyPr>
          <a:lstStyle/>
          <a:p>
            <a:pPr>
              <a:defRPr sz="4000" b="1">
                <a:solidFill>
                  <a:srgbClr val="000000"/>
                </a:solidFill>
              </a:defRPr>
            </a:pPr>
            <a:r>
              <a:rPr lang="en-GB" sz="4000" b="1" dirty="0">
                <a:solidFill>
                  <a:srgbClr val="000000"/>
                </a:solidFill>
              </a:rPr>
              <a:t>MCP s</a:t>
            </a:r>
            <a:r>
              <a:rPr lang="en-GB" sz="4000" dirty="0"/>
              <a:t>pec 2026-07-28</a:t>
            </a:r>
            <a:endParaRPr lang="en-GB" sz="4000" b="1" dirty="0">
              <a:solidFill>
                <a:srgbClr val="000000"/>
              </a:solidFill>
            </a:endParaRPr>
          </a:p>
        </p:txBody>
      </p:sp>
      <p:sp>
        <p:nvSpPr>
          <p:cNvPr id="109" name="Rectangle 110"/>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13" name="TextBox 114"/>
          <p:cNvSpPr txBox="1"/>
          <p:nvPr/>
        </p:nvSpPr>
        <p:spPr>
          <a:xfrm>
            <a:off x="685800" y="2595750"/>
            <a:ext cx="3086100" cy="1000000"/>
          </a:xfrm>
          <a:prstGeom prst="rect">
            <a:avLst/>
          </a:prstGeom>
          <a:noFill/>
        </p:spPr>
        <p:txBody>
          <a:bodyPr wrap="square" lIns="0" tIns="0" rIns="0" bIns="0" anchor="t">
            <a:noAutofit/>
          </a:bodyPr>
          <a:lstStyle/>
          <a:p>
            <a:pPr>
              <a:lnSpc>
                <a:spcPct val="102000"/>
              </a:lnSpc>
              <a:defRPr sz="3200" b="0">
                <a:solidFill>
                  <a:srgbClr val="000000"/>
                </a:solidFill>
              </a:defRPr>
            </a:pPr>
            <a:r>
              <a:rPr lang="en-GB" sz="3200">
                <a:solidFill>
                  <a:srgbClr val="000000"/>
                </a:solidFill>
              </a:rPr>
              <a:t>Security improvements</a:t>
            </a:r>
            <a:endParaRPr lang="en-GB" sz="3200" b="0" dirty="0">
              <a:solidFill>
                <a:srgbClr val="000000"/>
              </a:solidFill>
            </a:endParaRPr>
          </a:p>
        </p:txBody>
      </p:sp>
      <p:sp>
        <p:nvSpPr>
          <p:cNvPr id="117" name="Rectangle 118"/>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23" name="TextBox 124"/>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Cacheable</a:t>
            </a:r>
          </a:p>
        </p:txBody>
      </p:sp>
      <p:sp>
        <p:nvSpPr>
          <p:cNvPr id="127" name="Rectangle 128"/>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33" name="TextBox 134"/>
          <p:cNvSpPr txBox="1"/>
          <p:nvPr/>
        </p:nvSpPr>
        <p:spPr>
          <a:xfrm>
            <a:off x="8420100" y="2595750"/>
            <a:ext cx="3086100" cy="1000000"/>
          </a:xfrm>
          <a:prstGeom prst="rect">
            <a:avLst/>
          </a:prstGeom>
          <a:noFill/>
        </p:spPr>
        <p:txBody>
          <a:bodyPr wrap="square" lIns="0" tIns="0" rIns="0" bIns="0" anchor="t">
            <a:noAutofit/>
          </a:bodyPr>
          <a:lstStyle/>
          <a:p>
            <a:pPr>
              <a:lnSpc>
                <a:spcPct val="102000"/>
              </a:lnSpc>
              <a:defRPr sz="3200" b="0">
                <a:solidFill>
                  <a:srgbClr val="000000"/>
                </a:solidFill>
              </a:defRPr>
            </a:pPr>
            <a:r>
              <a:rPr lang="en-GB" sz="3200" dirty="0">
                <a:solidFill>
                  <a:srgbClr val="000000"/>
                </a:solidFill>
              </a:rPr>
              <a:t>Stateless</a:t>
            </a:r>
            <a:endParaRPr lang="en-GB" sz="3200" b="0" dirty="0">
              <a:solidFill>
                <a:srgbClr val="0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A2A lets agents discover and delegate</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04</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A2A</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Each agent publishes a card at a well-known URL</a:t>
            </a:r>
          </a:p>
        </p:txBody>
      </p:sp>
      <p:sp>
        <p:nvSpPr>
          <p:cNvPr id="117" name="Rectangle 118"/>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The card says what it does and where to send work</a:t>
            </a:r>
          </a:p>
        </p:txBody>
      </p:sp>
      <p:sp>
        <p:nvSpPr>
          <p:cNvPr id="121" name="Rectangle 122"/>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p:cNvSpPr txBox="1"/>
          <p:nvPr/>
        </p:nvSpPr>
        <p:spPr>
          <a:xfrm>
            <a:off x="920050" y="51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No shared library</a:t>
            </a:r>
            <a:r>
              <a:rPr lang="en-GB" sz="3200" dirty="0">
                <a:solidFill>
                  <a:srgbClr val="222222"/>
                </a:solidFill>
              </a:rPr>
              <a:t> or </a:t>
            </a:r>
            <a:r>
              <a:rPr lang="en-GB" sz="3200" b="0" dirty="0">
                <a:solidFill>
                  <a:srgbClr val="222222"/>
                </a:solidFill>
              </a:rPr>
              <a:t>hard wiring</a:t>
            </a:r>
            <a:r>
              <a:rPr lang="en-GB" sz="3200" dirty="0">
                <a:solidFill>
                  <a:srgbClr val="222222"/>
                </a:solidFill>
              </a:rPr>
              <a:t> or </a:t>
            </a:r>
            <a:r>
              <a:rPr lang="en-GB" sz="3200" b="0" dirty="0">
                <a:solidFill>
                  <a:srgbClr val="222222"/>
                </a:solidFill>
              </a:rPr>
              <a:t>coupling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78F655-EF94-FF47-E381-69693B4388D7}"/>
              </a:ext>
            </a:extLst>
          </p:cNvPr>
          <p:cNvPicPr>
            <a:picLocks noChangeAspect="1"/>
          </p:cNvPicPr>
          <p:nvPr/>
        </p:nvPicPr>
        <p:blipFill>
          <a:blip r:embed="rId3"/>
          <a:stretch>
            <a:fillRect/>
          </a:stretch>
        </p:blipFill>
        <p:spPr>
          <a:xfrm>
            <a:off x="1213832" y="0"/>
            <a:ext cx="9764335" cy="6858000"/>
          </a:xfrm>
          <a:prstGeom prst="rect">
            <a:avLst/>
          </a:prstGeom>
        </p:spPr>
      </p:pic>
    </p:spTree>
    <p:extLst>
      <p:ext uri="{BB962C8B-B14F-4D97-AF65-F5344CB8AC3E}">
        <p14:creationId xmlns:p14="http://schemas.microsoft.com/office/powerpoint/2010/main" val="3631166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Subagents keep the parent clean</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05</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Subagents</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5196000" y="3160000"/>
            <a:ext cx="1800000" cy="8000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5196000" y="3380000"/>
            <a:ext cx="1800000" cy="460000"/>
          </a:xfrm>
          <a:prstGeom prst="rect">
            <a:avLst/>
          </a:prstGeom>
          <a:noFill/>
        </p:spPr>
        <p:txBody>
          <a:bodyPr wrap="square" lIns="0" tIns="0" rIns="0" bIns="0" anchor="t">
            <a:noAutofit/>
          </a:bodyPr>
          <a:lstStyle/>
          <a:p>
            <a:pPr algn="ctr">
              <a:buNone/>
              <a:defRPr sz="2600" b="0">
                <a:solidFill>
                  <a:srgbClr val="FFFFFF"/>
                </a:solidFill>
              </a:defRPr>
            </a:pPr>
            <a:r>
              <a:rPr lang="en-GB" sz="2600" b="0" dirty="0">
                <a:solidFill>
                  <a:srgbClr val="FFFFFF"/>
                </a:solidFill>
              </a:rPr>
              <a:t>parent</a:t>
            </a:r>
          </a:p>
        </p:txBody>
      </p:sp>
      <p:sp>
        <p:nvSpPr>
          <p:cNvPr id="117" name="Rectangle 118"/>
          <p:cNvSpPr>
            <a:spLocks noGrp="1"/>
          </p:cNvSpPr>
          <p:nvPr/>
        </p:nvSpPr>
        <p:spPr>
          <a:xfrm>
            <a:off x="6081712" y="3960000"/>
            <a:ext cx="28575" cy="380000"/>
          </a:xfrm>
          <a:prstGeom prst="rect">
            <a:avLst/>
          </a:prstGeom>
          <a:solidFill>
            <a:srgbClr val="B8BCC4"/>
          </a:solidFill>
          <a:ln w="0">
            <a:noFill/>
            <a:prstDash val="solid"/>
          </a:ln>
        </p:spPr>
        <p:txBody>
          <a:bodyPr/>
          <a:lstStyle/>
          <a:p>
            <a:endParaRPr lang="en-GB"/>
          </a:p>
        </p:txBody>
      </p:sp>
      <p:sp>
        <p:nvSpPr>
          <p:cNvPr id="119" name="Rectangle 120"/>
          <p:cNvSpPr>
            <a:spLocks noGrp="1"/>
          </p:cNvSpPr>
          <p:nvPr/>
        </p:nvSpPr>
        <p:spPr>
          <a:xfrm>
            <a:off x="1600050" y="4340000"/>
            <a:ext cx="8991900" cy="28575"/>
          </a:xfrm>
          <a:prstGeom prst="rect">
            <a:avLst/>
          </a:prstGeom>
          <a:solidFill>
            <a:srgbClr val="B8BCC4"/>
          </a:solidFill>
          <a:ln w="0">
            <a:noFill/>
            <a:prstDash val="solid"/>
          </a:ln>
        </p:spPr>
        <p:txBody>
          <a:bodyPr/>
          <a:lstStyle/>
          <a:p>
            <a:endParaRPr lang="en-GB"/>
          </a:p>
        </p:txBody>
      </p:sp>
      <p:sp>
        <p:nvSpPr>
          <p:cNvPr id="121" name="Rectangle 122"/>
          <p:cNvSpPr>
            <a:spLocks noGrp="1"/>
          </p:cNvSpPr>
          <p:nvPr/>
        </p:nvSpPr>
        <p:spPr>
          <a:xfrm>
            <a:off x="1585763" y="4368575"/>
            <a:ext cx="28575" cy="180000"/>
          </a:xfrm>
          <a:prstGeom prst="rect">
            <a:avLst/>
          </a:prstGeom>
          <a:solidFill>
            <a:srgbClr val="B8BCC4"/>
          </a:solidFill>
          <a:ln w="0">
            <a:noFill/>
            <a:prstDash val="solid"/>
          </a:ln>
        </p:spPr>
        <p:txBody>
          <a:bodyPr/>
          <a:lstStyle/>
          <a:p>
            <a:endParaRPr lang="en-GB"/>
          </a:p>
        </p:txBody>
      </p:sp>
      <p:sp>
        <p:nvSpPr>
          <p:cNvPr id="123" name="Rectangle 124"/>
          <p:cNvSpPr>
            <a:spLocks noGrp="1"/>
          </p:cNvSpPr>
          <p:nvPr/>
        </p:nvSpPr>
        <p:spPr>
          <a:xfrm>
            <a:off x="400050" y="4548575"/>
            <a:ext cx="2400000" cy="800000"/>
          </a:xfrm>
          <a:prstGeom prst="rect">
            <a:avLst/>
          </a:prstGeom>
          <a:solidFill>
            <a:srgbClr val="EDEDED"/>
          </a:solidFill>
          <a:ln w="0">
            <a:noFill/>
            <a:prstDash val="solid"/>
          </a:ln>
        </p:spPr>
        <p:txBody>
          <a:bodyPr/>
          <a:lstStyle/>
          <a:p>
            <a:endParaRPr lang="en-GB"/>
          </a:p>
        </p:txBody>
      </p:sp>
      <p:sp>
        <p:nvSpPr>
          <p:cNvPr id="125" name="TextBox 126"/>
          <p:cNvSpPr txBox="1"/>
          <p:nvPr/>
        </p:nvSpPr>
        <p:spPr>
          <a:xfrm>
            <a:off x="4000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1</a:t>
            </a:r>
          </a:p>
        </p:txBody>
      </p:sp>
      <p:sp>
        <p:nvSpPr>
          <p:cNvPr id="127" name="Rectangle 128"/>
          <p:cNvSpPr>
            <a:spLocks noGrp="1"/>
          </p:cNvSpPr>
          <p:nvPr/>
        </p:nvSpPr>
        <p:spPr>
          <a:xfrm>
            <a:off x="4583063" y="4368575"/>
            <a:ext cx="28575" cy="180000"/>
          </a:xfrm>
          <a:prstGeom prst="rect">
            <a:avLst/>
          </a:prstGeom>
          <a:solidFill>
            <a:srgbClr val="B8BCC4"/>
          </a:solidFill>
          <a:ln w="0">
            <a:noFill/>
            <a:prstDash val="solid"/>
          </a:ln>
        </p:spPr>
        <p:txBody>
          <a:bodyPr/>
          <a:lstStyle/>
          <a:p>
            <a:endParaRPr lang="en-GB"/>
          </a:p>
        </p:txBody>
      </p:sp>
      <p:sp>
        <p:nvSpPr>
          <p:cNvPr id="129" name="Rectangle 130"/>
          <p:cNvSpPr>
            <a:spLocks noGrp="1"/>
          </p:cNvSpPr>
          <p:nvPr/>
        </p:nvSpPr>
        <p:spPr>
          <a:xfrm>
            <a:off x="3397350" y="4548575"/>
            <a:ext cx="2400000" cy="800000"/>
          </a:xfrm>
          <a:prstGeom prst="rect">
            <a:avLst/>
          </a:prstGeom>
          <a:solidFill>
            <a:srgbClr val="EDEDED"/>
          </a:solidFill>
          <a:ln w="0">
            <a:noFill/>
            <a:prstDash val="solid"/>
          </a:ln>
        </p:spPr>
        <p:txBody>
          <a:bodyPr/>
          <a:lstStyle/>
          <a:p>
            <a:endParaRPr lang="en-GB"/>
          </a:p>
        </p:txBody>
      </p:sp>
      <p:sp>
        <p:nvSpPr>
          <p:cNvPr id="131" name="TextBox 132"/>
          <p:cNvSpPr txBox="1"/>
          <p:nvPr/>
        </p:nvSpPr>
        <p:spPr>
          <a:xfrm>
            <a:off x="33973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2</a:t>
            </a:r>
          </a:p>
        </p:txBody>
      </p:sp>
      <p:sp>
        <p:nvSpPr>
          <p:cNvPr id="133" name="Rectangle 134"/>
          <p:cNvSpPr>
            <a:spLocks noGrp="1"/>
          </p:cNvSpPr>
          <p:nvPr/>
        </p:nvSpPr>
        <p:spPr>
          <a:xfrm>
            <a:off x="7580363" y="4368575"/>
            <a:ext cx="28575" cy="180000"/>
          </a:xfrm>
          <a:prstGeom prst="rect">
            <a:avLst/>
          </a:prstGeom>
          <a:solidFill>
            <a:srgbClr val="B8BCC4"/>
          </a:solidFill>
          <a:ln w="0">
            <a:noFill/>
            <a:prstDash val="solid"/>
          </a:ln>
        </p:spPr>
        <p:txBody>
          <a:bodyPr/>
          <a:lstStyle/>
          <a:p>
            <a:endParaRPr lang="en-GB"/>
          </a:p>
        </p:txBody>
      </p:sp>
      <p:sp>
        <p:nvSpPr>
          <p:cNvPr id="135" name="Rectangle 136"/>
          <p:cNvSpPr>
            <a:spLocks noGrp="1"/>
          </p:cNvSpPr>
          <p:nvPr/>
        </p:nvSpPr>
        <p:spPr>
          <a:xfrm>
            <a:off x="6394650" y="4548575"/>
            <a:ext cx="2400000" cy="800000"/>
          </a:xfrm>
          <a:prstGeom prst="rect">
            <a:avLst/>
          </a:prstGeom>
          <a:solidFill>
            <a:srgbClr val="EDEDED"/>
          </a:solidFill>
          <a:ln w="0">
            <a:noFill/>
            <a:prstDash val="solid"/>
          </a:ln>
        </p:spPr>
        <p:txBody>
          <a:bodyPr/>
          <a:lstStyle/>
          <a:p>
            <a:endParaRPr lang="en-GB"/>
          </a:p>
        </p:txBody>
      </p:sp>
      <p:sp>
        <p:nvSpPr>
          <p:cNvPr id="137" name="TextBox 138"/>
          <p:cNvSpPr txBox="1"/>
          <p:nvPr/>
        </p:nvSpPr>
        <p:spPr>
          <a:xfrm>
            <a:off x="63946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3</a:t>
            </a:r>
          </a:p>
        </p:txBody>
      </p:sp>
      <p:sp>
        <p:nvSpPr>
          <p:cNvPr id="139" name="Rectangle 140"/>
          <p:cNvSpPr>
            <a:spLocks noGrp="1"/>
          </p:cNvSpPr>
          <p:nvPr/>
        </p:nvSpPr>
        <p:spPr>
          <a:xfrm>
            <a:off x="10577663" y="4368575"/>
            <a:ext cx="28575" cy="180000"/>
          </a:xfrm>
          <a:prstGeom prst="rect">
            <a:avLst/>
          </a:prstGeom>
          <a:solidFill>
            <a:srgbClr val="B8BCC4"/>
          </a:solidFill>
          <a:ln w="0">
            <a:noFill/>
            <a:prstDash val="solid"/>
          </a:ln>
        </p:spPr>
        <p:txBody>
          <a:bodyPr/>
          <a:lstStyle/>
          <a:p>
            <a:endParaRPr lang="en-GB"/>
          </a:p>
        </p:txBody>
      </p:sp>
      <p:sp>
        <p:nvSpPr>
          <p:cNvPr id="141" name="Rectangle 142"/>
          <p:cNvSpPr>
            <a:spLocks noGrp="1"/>
          </p:cNvSpPr>
          <p:nvPr/>
        </p:nvSpPr>
        <p:spPr>
          <a:xfrm>
            <a:off x="9391950" y="4548575"/>
            <a:ext cx="2400000" cy="800000"/>
          </a:xfrm>
          <a:prstGeom prst="rect">
            <a:avLst/>
          </a:prstGeom>
          <a:solidFill>
            <a:srgbClr val="EDEDED"/>
          </a:solidFill>
          <a:ln w="0">
            <a:noFill/>
            <a:prstDash val="solid"/>
          </a:ln>
        </p:spPr>
        <p:txBody>
          <a:bodyPr/>
          <a:lstStyle/>
          <a:p>
            <a:endParaRPr lang="en-GB"/>
          </a:p>
        </p:txBody>
      </p:sp>
      <p:sp>
        <p:nvSpPr>
          <p:cNvPr id="143" name="TextBox 144"/>
          <p:cNvSpPr txBox="1"/>
          <p:nvPr/>
        </p:nvSpPr>
        <p:spPr>
          <a:xfrm>
            <a:off x="93919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4"/>
          <p:cNvSpPr txBox="1"/>
          <p:nvPr/>
        </p:nvSpPr>
        <p:spPr>
          <a:xfrm>
            <a:off x="400050" y="6320000"/>
            <a:ext cx="5000000" cy="320000"/>
          </a:xfrm>
          <a:prstGeom prst="rect">
            <a:avLst/>
          </a:prstGeom>
          <a:noFill/>
        </p:spPr>
        <p:txBody>
          <a:bodyPr wrap="square" lIns="0" tIns="0" rIns="0" bIns="0" anchor="t">
            <a:noAutofit/>
          </a:bodyPr>
          <a:lstStyle/>
          <a:p>
            <a:pPr algn="l">
              <a:buNone/>
              <a:defRPr sz="1400" b="0">
                <a:solidFill>
                  <a:srgbClr val="555555"/>
                </a:solidFill>
              </a:defRPr>
            </a:pPr>
            <a:endParaRPr/>
          </a:p>
        </p:txBody>
      </p:sp>
      <p:sp>
        <p:nvSpPr>
          <p:cNvPr id="107" name="Rectangle 108"/>
          <p:cNvSpPr>
            <a:spLocks noGrp="1"/>
          </p:cNvSpPr>
          <p:nvPr/>
        </p:nvSpPr>
        <p:spPr>
          <a:xfrm>
            <a:off x="400050" y="890000"/>
            <a:ext cx="11391900" cy="640000"/>
          </a:xfrm>
          <a:prstGeom prst="rect">
            <a:avLst/>
          </a:prstGeom>
          <a:solidFill>
            <a:srgbClr val="F7F7F7"/>
          </a:solidFill>
          <a:ln w="0">
            <a:noFill/>
            <a:prstDash val="solid"/>
          </a:ln>
        </p:spPr>
        <p:txBody>
          <a:bodyPr/>
          <a:lstStyle/>
          <a:p>
            <a:endParaRPr lang="en-GB"/>
          </a:p>
        </p:txBody>
      </p:sp>
      <p:sp>
        <p:nvSpPr>
          <p:cNvPr id="109" name="TextBox 110"/>
          <p:cNvSpPr txBox="1"/>
          <p:nvPr/>
        </p:nvSpPr>
        <p:spPr>
          <a:xfrm>
            <a:off x="628650" y="9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AGENTS.md</a:t>
            </a:r>
          </a:p>
        </p:txBody>
      </p:sp>
      <p:sp>
        <p:nvSpPr>
          <p:cNvPr id="111" name="TextBox 112"/>
          <p:cNvSpPr txBox="1"/>
          <p:nvPr/>
        </p:nvSpPr>
        <p:spPr>
          <a:xfrm>
            <a:off x="5300050" y="9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project behaviour</a:t>
            </a:r>
          </a:p>
        </p:txBody>
      </p:sp>
      <p:sp>
        <p:nvSpPr>
          <p:cNvPr id="113" name="TextBox 114"/>
          <p:cNvSpPr txBox="1"/>
          <p:nvPr/>
        </p:nvSpPr>
        <p:spPr>
          <a:xfrm>
            <a:off x="628650" y="16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Agent skills</a:t>
            </a:r>
          </a:p>
        </p:txBody>
      </p:sp>
      <p:sp>
        <p:nvSpPr>
          <p:cNvPr id="115" name="TextBox 116"/>
          <p:cNvSpPr txBox="1"/>
          <p:nvPr/>
        </p:nvSpPr>
        <p:spPr>
          <a:xfrm>
            <a:off x="5300050" y="16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task expertise</a:t>
            </a:r>
          </a:p>
        </p:txBody>
      </p:sp>
      <p:sp>
        <p:nvSpPr>
          <p:cNvPr id="117" name="Rectangle 118"/>
          <p:cNvSpPr>
            <a:spLocks noGrp="1"/>
          </p:cNvSpPr>
          <p:nvPr/>
        </p:nvSpPr>
        <p:spPr>
          <a:xfrm>
            <a:off x="400050" y="2290000"/>
            <a:ext cx="11391900" cy="640000"/>
          </a:xfrm>
          <a:prstGeom prst="rect">
            <a:avLst/>
          </a:prstGeom>
          <a:solidFill>
            <a:srgbClr val="F7F7F7"/>
          </a:solidFill>
          <a:ln w="0">
            <a:noFill/>
            <a:prstDash val="solid"/>
          </a:ln>
        </p:spPr>
        <p:txBody>
          <a:bodyPr/>
          <a:lstStyle/>
          <a:p>
            <a:endParaRPr lang="en-GB"/>
          </a:p>
        </p:txBody>
      </p:sp>
      <p:sp>
        <p:nvSpPr>
          <p:cNvPr id="119" name="TextBox 120"/>
          <p:cNvSpPr txBox="1"/>
          <p:nvPr/>
        </p:nvSpPr>
        <p:spPr>
          <a:xfrm>
            <a:off x="628650" y="23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MCP</a:t>
            </a:r>
          </a:p>
        </p:txBody>
      </p:sp>
      <p:sp>
        <p:nvSpPr>
          <p:cNvPr id="121" name="TextBox 122"/>
          <p:cNvSpPr txBox="1"/>
          <p:nvPr/>
        </p:nvSpPr>
        <p:spPr>
          <a:xfrm>
            <a:off x="5300050" y="23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tools and data</a:t>
            </a:r>
          </a:p>
        </p:txBody>
      </p:sp>
      <p:sp>
        <p:nvSpPr>
          <p:cNvPr id="123" name="TextBox 124"/>
          <p:cNvSpPr txBox="1"/>
          <p:nvPr/>
        </p:nvSpPr>
        <p:spPr>
          <a:xfrm>
            <a:off x="628650" y="30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A2A</a:t>
            </a:r>
          </a:p>
        </p:txBody>
      </p:sp>
      <p:sp>
        <p:nvSpPr>
          <p:cNvPr id="125" name="TextBox 126"/>
          <p:cNvSpPr txBox="1"/>
          <p:nvPr/>
        </p:nvSpPr>
        <p:spPr>
          <a:xfrm>
            <a:off x="5300050" y="30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peer agents</a:t>
            </a:r>
          </a:p>
        </p:txBody>
      </p:sp>
      <p:sp>
        <p:nvSpPr>
          <p:cNvPr id="127" name="Rectangle 128"/>
          <p:cNvSpPr>
            <a:spLocks noGrp="1"/>
          </p:cNvSpPr>
          <p:nvPr/>
        </p:nvSpPr>
        <p:spPr>
          <a:xfrm>
            <a:off x="400050" y="3690000"/>
            <a:ext cx="11391900" cy="640000"/>
          </a:xfrm>
          <a:prstGeom prst="rect">
            <a:avLst/>
          </a:prstGeom>
          <a:solidFill>
            <a:srgbClr val="F7F7F7"/>
          </a:solidFill>
          <a:ln w="0">
            <a:noFill/>
            <a:prstDash val="solid"/>
          </a:ln>
        </p:spPr>
        <p:txBody>
          <a:bodyPr/>
          <a:lstStyle/>
          <a:p>
            <a:endParaRPr lang="en-GB"/>
          </a:p>
        </p:txBody>
      </p:sp>
      <p:sp>
        <p:nvSpPr>
          <p:cNvPr id="129" name="TextBox 130"/>
          <p:cNvSpPr txBox="1"/>
          <p:nvPr/>
        </p:nvSpPr>
        <p:spPr>
          <a:xfrm>
            <a:off x="628650" y="37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Subagents</a:t>
            </a:r>
          </a:p>
        </p:txBody>
      </p:sp>
      <p:sp>
        <p:nvSpPr>
          <p:cNvPr id="131" name="TextBox 132"/>
          <p:cNvSpPr txBox="1"/>
          <p:nvPr/>
        </p:nvSpPr>
        <p:spPr>
          <a:xfrm>
            <a:off x="5300050" y="37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work scale</a:t>
            </a:r>
          </a:p>
        </p:txBody>
      </p:sp>
      <p:sp>
        <p:nvSpPr>
          <p:cNvPr id="135" name="TextBox 136"/>
          <p:cNvSpPr txBox="1"/>
          <p:nvPr/>
        </p:nvSpPr>
        <p:spPr>
          <a:xfrm>
            <a:off x="400050" y="6060000"/>
            <a:ext cx="10500000" cy="280000"/>
          </a:xfrm>
          <a:prstGeom prst="rect">
            <a:avLst/>
          </a:prstGeom>
          <a:noFill/>
        </p:spPr>
        <p:txBody>
          <a:bodyPr wrap="square" lIns="0" tIns="0" rIns="0" bIns="0" anchor="t">
            <a:noAutofit/>
          </a:bodyPr>
          <a:lstStyle/>
          <a:p>
            <a:pPr algn="l">
              <a:buNone/>
              <a:defRPr sz="1600" b="0">
                <a:solidFill>
                  <a:srgbClr val="555555"/>
                </a:solidFill>
              </a:defRPr>
            </a:pPr>
            <a:r>
              <a:rPr lang="en-GB" sz="1600" b="0" dirty="0">
                <a:solidFill>
                  <a:srgbClr val="555555"/>
                </a:solidFill>
              </a:rPr>
              <a:t>linuxfoundation.org · aaif.io · agentskills.io · modelcontextprotocol.io · a2aproject/A2A</a:t>
            </a:r>
          </a:p>
        </p:txBody>
      </p:sp>
      <p:sp>
        <p:nvSpPr>
          <p:cNvPr id="137" name="TextBox 138"/>
          <p:cNvSpPr txBox="1"/>
          <p:nvPr/>
        </p:nvSpPr>
        <p:spPr>
          <a:xfrm>
            <a:off x="400050" y="6360000"/>
            <a:ext cx="10500000" cy="280000"/>
          </a:xfrm>
          <a:prstGeom prst="rect">
            <a:avLst/>
          </a:prstGeom>
          <a:noFill/>
        </p:spPr>
        <p:txBody>
          <a:bodyPr wrap="square" lIns="0" tIns="0" rIns="0" bIns="0" anchor="t">
            <a:noAutofit/>
          </a:bodyPr>
          <a:lstStyle/>
          <a:p>
            <a:pPr algn="l">
              <a:buNone/>
              <a:defRPr sz="1600" b="0">
                <a:solidFill>
                  <a:srgbClr val="555555"/>
                </a:solidFill>
              </a:defRPr>
            </a:pPr>
            <a:r>
              <a:rPr lang="en-GB" sz="1600" b="0" dirty="0">
                <a:solidFill>
                  <a:srgbClr val="555555"/>
                </a:solidFill>
              </a:rPr>
              <a:t>MCP 2026-07-28 · IBM Technology: fine-tuning + skill practices · ycombinator.com (Boris Cherny)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5DB7F-01A8-DA9E-0F72-DD0A0C0AC4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D13FAF-25B7-5989-9B4D-2F9C5B8E930C}"/>
              </a:ext>
            </a:extLst>
          </p:cNvPr>
          <p:cNvSpPr txBox="1"/>
          <p:nvPr/>
        </p:nvSpPr>
        <p:spPr>
          <a:xfrm>
            <a:off x="606552" y="507751"/>
            <a:ext cx="11234928"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MCP</a:t>
            </a:r>
            <a:r>
              <a:rPr lang="en-US" sz="2800" b="0" i="0" dirty="0">
                <a:solidFill>
                  <a:srgbClr val="0B0B0B"/>
                </a:solidFill>
                <a:effectLst/>
                <a:latin typeface="anthropic-sans"/>
              </a:rPr>
              <a:t> and </a:t>
            </a:r>
            <a:r>
              <a:rPr lang="en-US" sz="2800" b="1" i="0" dirty="0">
                <a:solidFill>
                  <a:srgbClr val="0B0B0B"/>
                </a:solidFill>
                <a:effectLst/>
                <a:latin typeface="anthropic-sans"/>
              </a:rPr>
              <a:t>A2A</a:t>
            </a:r>
            <a:r>
              <a:rPr lang="en-US" sz="2800" b="0" i="0" dirty="0">
                <a:solidFill>
                  <a:srgbClr val="0B0B0B"/>
                </a:solidFill>
                <a:effectLst/>
                <a:latin typeface="anthropic-sans"/>
              </a:rPr>
              <a:t> are </a:t>
            </a:r>
            <a:r>
              <a:rPr lang="en-US" sz="2800" b="0" i="0" u="sng" dirty="0">
                <a:solidFill>
                  <a:srgbClr val="0B0B0B"/>
                </a:solidFill>
                <a:effectLst/>
                <a:latin typeface="anthropic-sans"/>
              </a:rPr>
              <a:t>open protocols and specifications</a:t>
            </a:r>
            <a:r>
              <a:rPr lang="en-US" sz="2800" b="0" i="0" dirty="0">
                <a:solidFill>
                  <a:srgbClr val="0B0B0B"/>
                </a:solidFill>
                <a:effectLst/>
                <a:latin typeface="anthropic-sans"/>
              </a:rPr>
              <a:t>. </a:t>
            </a:r>
            <a:endParaRPr lang="en-US" sz="2800" dirty="0">
              <a:solidFill>
                <a:srgbClr val="0B0B0B"/>
              </a:solidFill>
              <a:latin typeface="anthropic-sans"/>
            </a:endParaRPr>
          </a:p>
          <a:p>
            <a:pPr marL="914400" lvl="1" indent="-457200">
              <a:lnSpc>
                <a:spcPct val="150000"/>
              </a:lnSpc>
              <a:buFont typeface="Courier New" panose="02070309020205020404" pitchFamily="49" charset="0"/>
              <a:buChar char="o"/>
            </a:pPr>
            <a:r>
              <a:rPr lang="en-US" sz="2800" b="0" i="0" dirty="0">
                <a:solidFill>
                  <a:srgbClr val="0B0B0B"/>
                </a:solidFill>
                <a:effectLst/>
                <a:latin typeface="anthropic-sans"/>
              </a:rPr>
              <a:t>MCP is agent to tool, A2A is agent to agent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AGENTS.md</a:t>
            </a:r>
            <a:r>
              <a:rPr lang="en-US" sz="2800" b="0" i="0" dirty="0">
                <a:solidFill>
                  <a:srgbClr val="0B0B0B"/>
                </a:solidFill>
                <a:effectLst/>
                <a:latin typeface="anthropic-sans"/>
              </a:rPr>
              <a:t> is </a:t>
            </a:r>
            <a:r>
              <a:rPr lang="en-US" sz="2800" b="0" i="0" u="sng" dirty="0">
                <a:solidFill>
                  <a:srgbClr val="0B0B0B"/>
                </a:solidFill>
                <a:effectLst/>
                <a:latin typeface="anthropic-sans"/>
              </a:rPr>
              <a:t>config</a:t>
            </a:r>
            <a:r>
              <a:rPr lang="en-US" sz="2800" b="0" i="0" dirty="0">
                <a:solidFill>
                  <a:srgbClr val="0B0B0B"/>
                </a:solidFill>
                <a:effectLst/>
                <a:latin typeface="anthropic-sans"/>
              </a:rPr>
              <a:t>. Always loaded, so keep it short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SKILL.md</a:t>
            </a:r>
            <a:r>
              <a:rPr lang="en-US" sz="2800" b="0" i="0" dirty="0">
                <a:solidFill>
                  <a:srgbClr val="0B0B0B"/>
                </a:solidFill>
                <a:effectLst/>
                <a:latin typeface="anthropic-sans"/>
              </a:rPr>
              <a:t> is a plugin format. Schema plus folder, loaded on demand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Subagents</a:t>
            </a:r>
            <a:r>
              <a:rPr lang="en-US" sz="2800" b="0" i="0" dirty="0">
                <a:solidFill>
                  <a:srgbClr val="0B0B0B"/>
                </a:solidFill>
                <a:effectLst/>
                <a:latin typeface="anthropic-sans"/>
              </a:rPr>
              <a:t> is an </a:t>
            </a:r>
            <a:r>
              <a:rPr lang="en-US" sz="2800" b="0" i="0" u="sng" dirty="0">
                <a:solidFill>
                  <a:srgbClr val="0B0B0B"/>
                </a:solidFill>
                <a:effectLst/>
                <a:latin typeface="anthropic-sans"/>
              </a:rPr>
              <a:t>architectural design pattern</a:t>
            </a:r>
            <a:r>
              <a:rPr lang="en-US" sz="2800" b="0" i="0" dirty="0">
                <a:solidFill>
                  <a:srgbClr val="0B0B0B"/>
                </a:solidFill>
                <a:effectLst/>
                <a:latin typeface="anthropic-sans"/>
              </a:rPr>
              <a:t>. No spec, so every vendor does it differently</a:t>
            </a:r>
            <a:endParaRPr lang="en-GB" sz="2800" dirty="0"/>
          </a:p>
        </p:txBody>
      </p:sp>
    </p:spTree>
    <p:extLst>
      <p:ext uri="{BB962C8B-B14F-4D97-AF65-F5344CB8AC3E}">
        <p14:creationId xmlns:p14="http://schemas.microsoft.com/office/powerpoint/2010/main" val="445324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035C8-7685-4F57-94F1-769886BEC786}"/>
            </a:ext>
          </a:extLst>
        </p:cNvPr>
        <p:cNvGrpSpPr/>
        <p:nvPr/>
      </p:nvGrpSpPr>
      <p:grpSpPr>
        <a:xfrm>
          <a:off x="0" y="0"/>
          <a:ext cx="0" cy="0"/>
          <a:chOff x="0" y="0"/>
          <a:chExt cx="0" cy="0"/>
        </a:xfrm>
      </p:grpSpPr>
      <p:sp>
        <p:nvSpPr>
          <p:cNvPr id="107" name="TextBox 108">
            <a:extLst>
              <a:ext uri="{FF2B5EF4-FFF2-40B4-BE49-F238E27FC236}">
                <a16:creationId xmlns:a16="http://schemas.microsoft.com/office/drawing/2014/main" id="{0369B5AB-11F6-C18A-C0DC-7845E277B9DC}"/>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06</a:t>
            </a:r>
          </a:p>
        </p:txBody>
      </p:sp>
      <p:sp>
        <p:nvSpPr>
          <p:cNvPr id="109" name="TextBox 110">
            <a:extLst>
              <a:ext uri="{FF2B5EF4-FFF2-40B4-BE49-F238E27FC236}">
                <a16:creationId xmlns:a16="http://schemas.microsoft.com/office/drawing/2014/main" id="{07F0D5C1-D2D1-1A6A-9E6D-360EBD4E30CC}"/>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Agentic Harness</a:t>
            </a:r>
          </a:p>
        </p:txBody>
      </p:sp>
    </p:spTree>
    <p:extLst>
      <p:ext uri="{BB962C8B-B14F-4D97-AF65-F5344CB8AC3E}">
        <p14:creationId xmlns:p14="http://schemas.microsoft.com/office/powerpoint/2010/main" val="943842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1DBC24-DF7C-D482-94CD-D646C9C04EB7}"/>
              </a:ext>
            </a:extLst>
          </p:cNvPr>
          <p:cNvSpPr txBox="1"/>
          <p:nvPr/>
        </p:nvSpPr>
        <p:spPr>
          <a:xfrm>
            <a:off x="1024780" y="2274838"/>
            <a:ext cx="10142440" cy="2308324"/>
          </a:xfrm>
          <a:prstGeom prst="rect">
            <a:avLst/>
          </a:prstGeom>
          <a:noFill/>
        </p:spPr>
        <p:txBody>
          <a:bodyPr wrap="square" rtlCol="0">
            <a:spAutoFit/>
          </a:bodyPr>
          <a:lstStyle/>
          <a:p>
            <a:r>
              <a:rPr lang="en-US" sz="3600" dirty="0"/>
              <a:t>An </a:t>
            </a:r>
            <a:r>
              <a:rPr lang="en-US" sz="3600" b="1" u="sng" dirty="0"/>
              <a:t>agentic harness </a:t>
            </a:r>
            <a:r>
              <a:rPr lang="en-US" sz="3600" dirty="0"/>
              <a:t>is the runtime and control layer around an AI model that gives it tools, context, execution, feedback, and guardrails so it can autonomously complete multi-step tasks.</a:t>
            </a:r>
            <a:endParaRPr lang="en-GB" sz="3600" dirty="0"/>
          </a:p>
        </p:txBody>
      </p:sp>
    </p:spTree>
    <p:extLst>
      <p:ext uri="{BB962C8B-B14F-4D97-AF65-F5344CB8AC3E}">
        <p14:creationId xmlns:p14="http://schemas.microsoft.com/office/powerpoint/2010/main" val="28961340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E869F8-FC6A-4356-F580-26768AA9E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8" y="0"/>
            <a:ext cx="12176084" cy="6858000"/>
          </a:xfrm>
          <a:prstGeom prst="rect">
            <a:avLst/>
          </a:prstGeom>
        </p:spPr>
      </p:pic>
    </p:spTree>
    <p:extLst>
      <p:ext uri="{BB962C8B-B14F-4D97-AF65-F5344CB8AC3E}">
        <p14:creationId xmlns:p14="http://schemas.microsoft.com/office/powerpoint/2010/main" val="20952233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24DB5D-07C1-F809-25C7-302056A61825}"/>
              </a:ext>
            </a:extLst>
          </p:cNvPr>
          <p:cNvPicPr>
            <a:picLocks noChangeAspect="1"/>
          </p:cNvPicPr>
          <p:nvPr/>
        </p:nvPicPr>
        <p:blipFill>
          <a:blip r:embed="rId2"/>
          <a:stretch>
            <a:fillRect/>
          </a:stretch>
        </p:blipFill>
        <p:spPr>
          <a:xfrm>
            <a:off x="0" y="140809"/>
            <a:ext cx="12192000" cy="6576381"/>
          </a:xfrm>
          <a:prstGeom prst="rect">
            <a:avLst/>
          </a:prstGeom>
        </p:spPr>
      </p:pic>
    </p:spTree>
    <p:extLst>
      <p:ext uri="{BB962C8B-B14F-4D97-AF65-F5344CB8AC3E}">
        <p14:creationId xmlns:p14="http://schemas.microsoft.com/office/powerpoint/2010/main" val="7016852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E8AA35-2D1C-69B8-AC16-41860642AF1E}"/>
              </a:ext>
            </a:extLst>
          </p:cNvPr>
          <p:cNvPicPr>
            <a:picLocks noChangeAspect="1"/>
          </p:cNvPicPr>
          <p:nvPr/>
        </p:nvPicPr>
        <p:blipFill>
          <a:blip r:embed="rId2"/>
          <a:stretch>
            <a:fillRect/>
          </a:stretch>
        </p:blipFill>
        <p:spPr>
          <a:xfrm>
            <a:off x="0" y="247348"/>
            <a:ext cx="12192000" cy="6363304"/>
          </a:xfrm>
          <a:prstGeom prst="rect">
            <a:avLst/>
          </a:prstGeom>
        </p:spPr>
      </p:pic>
    </p:spTree>
    <p:extLst>
      <p:ext uri="{BB962C8B-B14F-4D97-AF65-F5344CB8AC3E}">
        <p14:creationId xmlns:p14="http://schemas.microsoft.com/office/powerpoint/2010/main" val="27688925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A212-8E57-6816-E45C-C202E54FFB1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FC6324-4D3C-F263-D3FB-B7304428462B}"/>
              </a:ext>
            </a:extLst>
          </p:cNvPr>
          <p:cNvSpPr txBox="1"/>
          <p:nvPr/>
        </p:nvSpPr>
        <p:spPr>
          <a:xfrm>
            <a:off x="1119674" y="2736502"/>
            <a:ext cx="10030408" cy="1384995"/>
          </a:xfrm>
          <a:prstGeom prst="rect">
            <a:avLst/>
          </a:prstGeom>
          <a:noFill/>
        </p:spPr>
        <p:txBody>
          <a:bodyPr wrap="square">
            <a:spAutoFit/>
          </a:bodyPr>
          <a:lstStyle/>
          <a:p>
            <a:r>
              <a:rPr lang="en-GB" sz="2800" b="1" dirty="0">
                <a:solidFill>
                  <a:schemeClr val="tx1">
                    <a:lumMod val="95000"/>
                    <a:lumOff val="5000"/>
                  </a:schemeClr>
                </a:solidFill>
              </a:rPr>
              <a:t>Knowledge atrophy </a:t>
            </a:r>
            <a:r>
              <a:rPr lang="en-GB" sz="2800" dirty="0">
                <a:solidFill>
                  <a:schemeClr val="bg2">
                    <a:lumMod val="25000"/>
                  </a:schemeClr>
                </a:solidFill>
              </a:rPr>
              <a:t>is the gradual weakening of human thinking and problem-solving skills through overreliance on AI to do our mental work.</a:t>
            </a:r>
          </a:p>
        </p:txBody>
      </p:sp>
    </p:spTree>
    <p:extLst>
      <p:ext uri="{BB962C8B-B14F-4D97-AF65-F5344CB8AC3E}">
        <p14:creationId xmlns:p14="http://schemas.microsoft.com/office/powerpoint/2010/main" val="17713808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B4D6A6-A061-9EE8-289A-08D42F3815C3}"/>
              </a:ext>
            </a:extLst>
          </p:cNvPr>
          <p:cNvSpPr txBox="1"/>
          <p:nvPr/>
        </p:nvSpPr>
        <p:spPr>
          <a:xfrm>
            <a:off x="1377244" y="3075057"/>
            <a:ext cx="4616071" cy="1938992"/>
          </a:xfrm>
          <a:prstGeom prst="rect">
            <a:avLst/>
          </a:prstGeom>
          <a:noFill/>
        </p:spPr>
        <p:txBody>
          <a:bodyPr wrap="square" rtlCol="0">
            <a:spAutoFit/>
          </a:bodyPr>
          <a:lstStyle/>
          <a:p>
            <a:pPr algn="ctr"/>
            <a:r>
              <a:rPr lang="en-US" sz="4000" dirty="0">
                <a:solidFill>
                  <a:schemeClr val="tx2">
                    <a:lumMod val="90000"/>
                    <a:lumOff val="10000"/>
                  </a:schemeClr>
                </a:solidFill>
              </a:rPr>
              <a:t>Thank you!</a:t>
            </a:r>
          </a:p>
          <a:p>
            <a:pPr algn="ctr"/>
            <a:endParaRPr lang="en-US" sz="4000" dirty="0">
              <a:solidFill>
                <a:schemeClr val="tx2">
                  <a:lumMod val="90000"/>
                  <a:lumOff val="10000"/>
                </a:schemeClr>
              </a:solidFill>
            </a:endParaRPr>
          </a:p>
          <a:p>
            <a:pPr algn="ctr"/>
            <a:r>
              <a:rPr lang="en-US" sz="4000" dirty="0">
                <a:solidFill>
                  <a:schemeClr val="tx2">
                    <a:lumMod val="90000"/>
                    <a:lumOff val="10000"/>
                  </a:schemeClr>
                </a:solidFill>
              </a:rPr>
              <a:t>@DevlinDuldulao</a:t>
            </a:r>
          </a:p>
        </p:txBody>
      </p:sp>
      <p:sp>
        <p:nvSpPr>
          <p:cNvPr id="4" name="TextBox 3">
            <a:extLst>
              <a:ext uri="{FF2B5EF4-FFF2-40B4-BE49-F238E27FC236}">
                <a16:creationId xmlns:a16="http://schemas.microsoft.com/office/drawing/2014/main" id="{5904F4B3-E994-6BEE-60A6-D12023533FAF}"/>
              </a:ext>
            </a:extLst>
          </p:cNvPr>
          <p:cNvSpPr txBox="1"/>
          <p:nvPr/>
        </p:nvSpPr>
        <p:spPr>
          <a:xfrm>
            <a:off x="8136190" y="5852011"/>
            <a:ext cx="1959428" cy="369332"/>
          </a:xfrm>
          <a:prstGeom prst="rect">
            <a:avLst/>
          </a:prstGeom>
          <a:noFill/>
        </p:spPr>
        <p:txBody>
          <a:bodyPr wrap="square" rtlCol="0">
            <a:spAutoFit/>
          </a:bodyPr>
          <a:lstStyle/>
          <a:p>
            <a:pPr algn="ctr"/>
            <a:r>
              <a:rPr lang="en-US" dirty="0">
                <a:solidFill>
                  <a:schemeClr val="tx2">
                    <a:lumMod val="90000"/>
                    <a:lumOff val="10000"/>
                  </a:schemeClr>
                </a:solidFill>
                <a:latin typeface="Kunstler Script" panose="030304020206070D0D06" pitchFamily="66" charset="0"/>
              </a:rPr>
              <a:t>Social Links</a:t>
            </a:r>
          </a:p>
        </p:txBody>
      </p:sp>
      <p:pic>
        <p:nvPicPr>
          <p:cNvPr id="6" name="Picture 5">
            <a:extLst>
              <a:ext uri="{FF2B5EF4-FFF2-40B4-BE49-F238E27FC236}">
                <a16:creationId xmlns:a16="http://schemas.microsoft.com/office/drawing/2014/main" id="{39B6EB2D-569B-CB31-99FE-EFA1309A3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7809" y="886733"/>
            <a:ext cx="4876190" cy="4876190"/>
          </a:xfrm>
          <a:prstGeom prst="rect">
            <a:avLst/>
          </a:prstGeom>
        </p:spPr>
      </p:pic>
    </p:spTree>
    <p:extLst>
      <p:ext uri="{BB962C8B-B14F-4D97-AF65-F5344CB8AC3E}">
        <p14:creationId xmlns:p14="http://schemas.microsoft.com/office/powerpoint/2010/main" val="218875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3">
                                            <p:txEl>
                                              <p:pRg st="0" end="0"/>
                                            </p:txEl>
                                          </p:spTgt>
                                        </p:tgtEl>
                                        <p:attrNameLst>
                                          <p:attrName>ppt_w</p:attrName>
                                        </p:attrNameLst>
                                      </p:cBhvr>
                                    </p:anim>
                                    <p:anim by="(#ppt_w*0.50)" calcmode="lin" valueType="num">
                                      <p:cBhvr>
                                        <p:cTn id="8" dur="500" decel="50000" autoRev="1" fill="hold">
                                          <p:stCondLst>
                                            <p:cond delay="0"/>
                                          </p:stCondLst>
                                        </p:cTn>
                                        <p:tgtEl>
                                          <p:spTgt spid="3">
                                            <p:txEl>
                                              <p:pRg st="0" end="0"/>
                                            </p:txEl>
                                          </p:spTgt>
                                        </p:tgtEl>
                                        <p:attrNameLst>
                                          <p:attrName>ppt_x</p:attrName>
                                        </p:attrNameLst>
                                      </p:cBhvr>
                                    </p:anim>
                                    <p:anim from="(-#ppt_h/2)" to="(#ppt_y)" calcmode="lin" valueType="num">
                                      <p:cBhvr>
                                        <p:cTn id="9" dur="1000" fill="hold">
                                          <p:stCondLst>
                                            <p:cond delay="0"/>
                                          </p:stCondLst>
                                        </p:cTn>
                                        <p:tgtEl>
                                          <p:spTgt spid="3">
                                            <p:txEl>
                                              <p:pRg st="0" end="0"/>
                                            </p:txEl>
                                          </p:spTgt>
                                        </p:tgtEl>
                                        <p:attrNameLst>
                                          <p:attrName>ppt_y</p:attrName>
                                        </p:attrNameLst>
                                      </p:cBhvr>
                                    </p:anim>
                                    <p:animRot by="21600000">
                                      <p:cBhvr>
                                        <p:cTn id="10" dur="1000" fill="hold">
                                          <p:stCondLst>
                                            <p:cond delay="0"/>
                                          </p:stCondLst>
                                        </p:cTn>
                                        <p:tgtEl>
                                          <p:spTgt spid="3">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nodeType="clickEffect">
                                  <p:stCondLst>
                                    <p:cond delay="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 by="(-#ppt_w*2)" calcmode="lin" valueType="num">
                                      <p:cBhvr rctx="PPT">
                                        <p:cTn id="15" dur="500" autoRev="1" fill="hold">
                                          <p:stCondLst>
                                            <p:cond delay="0"/>
                                          </p:stCondLst>
                                        </p:cTn>
                                        <p:tgtEl>
                                          <p:spTgt spid="3">
                                            <p:txEl>
                                              <p:pRg st="2" end="2"/>
                                            </p:txEl>
                                          </p:spTgt>
                                        </p:tgtEl>
                                        <p:attrNameLst>
                                          <p:attrName>ppt_w</p:attrName>
                                        </p:attrNameLst>
                                      </p:cBhvr>
                                    </p:anim>
                                    <p:anim by="(#ppt_w*0.50)" calcmode="lin" valueType="num">
                                      <p:cBhvr>
                                        <p:cTn id="16" dur="500" decel="50000" autoRev="1" fill="hold">
                                          <p:stCondLst>
                                            <p:cond delay="0"/>
                                          </p:stCondLst>
                                        </p:cTn>
                                        <p:tgtEl>
                                          <p:spTgt spid="3">
                                            <p:txEl>
                                              <p:pRg st="2" end="2"/>
                                            </p:txEl>
                                          </p:spTgt>
                                        </p:tgtEl>
                                        <p:attrNameLst>
                                          <p:attrName>ppt_x</p:attrName>
                                        </p:attrNameLst>
                                      </p:cBhvr>
                                    </p:anim>
                                    <p:anim from="(-#ppt_h/2)" to="(#ppt_y)" calcmode="lin" valueType="num">
                                      <p:cBhvr>
                                        <p:cTn id="17" dur="1000" fill="hold">
                                          <p:stCondLst>
                                            <p:cond delay="0"/>
                                          </p:stCondLst>
                                        </p:cTn>
                                        <p:tgtEl>
                                          <p:spTgt spid="3">
                                            <p:txEl>
                                              <p:pRg st="2" end="2"/>
                                            </p:txEl>
                                          </p:spTgt>
                                        </p:tgtEl>
                                        <p:attrNameLst>
                                          <p:attrName>ppt_y</p:attrName>
                                        </p:attrNameLst>
                                      </p:cBhvr>
                                    </p:anim>
                                    <p:animRot by="21600000">
                                      <p:cBhvr>
                                        <p:cTn id="18" dur="1000" fill="hold">
                                          <p:stCondLst>
                                            <p:cond delay="0"/>
                                          </p:stCondLst>
                                        </p:cTn>
                                        <p:tgtEl>
                                          <p:spTgt spid="3">
                                            <p:txEl>
                                              <p:pRg st="2" end="2"/>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1070</TotalTime>
  <Words>3195</Words>
  <Application>Microsoft Macintosh PowerPoint</Application>
  <DocSecurity>0</DocSecurity>
  <PresentationFormat>Widescreen</PresentationFormat>
  <Paragraphs>346</Paragraphs>
  <Slides>49</Slides>
  <Notes>47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anthropic-sans</vt:lpstr>
      <vt:lpstr>Aptos</vt:lpstr>
      <vt:lpstr>Arial</vt:lpstr>
      <vt:lpstr>Calibri</vt:lpstr>
      <vt:lpstr>Courier New</vt:lpstr>
      <vt:lpstr>Helvetica Neue</vt:lpstr>
      <vt:lpstr>Kunstler Script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AI Agent Terms You Need to Know (45 min)</dc:title>
  <dc:creator>Devlin Duldulao</dc:creator>
  <cp:lastModifiedBy>Devlin Duldulao</cp:lastModifiedBy>
  <cp:revision>194</cp:revision>
  <dcterms:modified xsi:type="dcterms:W3CDTF">2026-10-21T12:19:53Z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nfoFinished">
    <vt:lpwstr>True</vt:lpwstr>
  </property>
  <property fmtid="{D5CDD505-2E9C-101B-9397-08002B2CF9AE}" pid="3" name="MSIP_Label_178c0f71-65dc-41d1-a799-91080a268621_Enabled">
    <vt:lpwstr>true</vt:lpwstr>
  </property>
  <property fmtid="{D5CDD505-2E9C-101B-9397-08002B2CF9AE}" pid="4" name="MSIP_Label_178c0f71-65dc-41d1-a799-91080a268621_SetDate">
    <vt:lpwstr>2026-09-27T12:10:48Z</vt:lpwstr>
  </property>
  <property fmtid="{D5CDD505-2E9C-101B-9397-08002B2CF9AE}" pid="5" name="MSIP_Label_178c0f71-65dc-41d1-a799-91080a268621_Method">
    <vt:lpwstr>Standard</vt:lpwstr>
  </property>
  <property fmtid="{D5CDD505-2E9C-101B-9397-08002B2CF9AE}" pid="6" name="MSIP_Label_178c0f71-65dc-41d1-a799-91080a268621_Name">
    <vt:lpwstr>Internal - Crayon Group Only</vt:lpwstr>
  </property>
  <property fmtid="{D5CDD505-2E9C-101B-9397-08002B2CF9AE}" pid="7" name="MSIP_Label_178c0f71-65dc-41d1-a799-91080a268621_SiteId">
    <vt:lpwstr>8f47ad71-44ca-48bf-afe3-56b9360a4495</vt:lpwstr>
  </property>
  <property fmtid="{D5CDD505-2E9C-101B-9397-08002B2CF9AE}" pid="8" name="MSIP_Label_178c0f71-65dc-41d1-a799-91080a268621_ActionId">
    <vt:lpwstr>c5827ddc-7e60-44ec-87d5-4dd3ff7acc60</vt:lpwstr>
  </property>
  <property fmtid="{D5CDD505-2E9C-101B-9397-08002B2CF9AE}" pid="9" name="MSIP_Label_178c0f71-65dc-41d1-a799-91080a268621_ContentBits">
    <vt:lpwstr>2</vt:lpwstr>
  </property>
  <property fmtid="{D5CDD505-2E9C-101B-9397-08002B2CF9AE}" pid="10" name="MSIP_Label_178c0f71-65dc-41d1-a799-91080a268621_Tag">
    <vt:lpwstr>50, 3, 0, 1</vt:lpwstr>
  </property>
  <property fmtid="{D5CDD505-2E9C-101B-9397-08002B2CF9AE}" pid="11" name="ClassificationContentMarkingFooterLocations">
    <vt:lpwstr>ChatGPT:3</vt:lpwstr>
  </property>
  <property fmtid="{D5CDD505-2E9C-101B-9397-08002B2CF9AE}" pid="12" name="ClassificationContentMarkingFooterText">
    <vt:lpwstr>Internal Only</vt:lpwstr>
  </property>
</Properties>
</file>